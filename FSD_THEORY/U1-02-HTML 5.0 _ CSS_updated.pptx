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Lst>
  <p:sldSz cy="6858000" cx="12192000"/>
  <p:notesSz cx="6858000" cy="9144000"/>
  <p:embeddedFontLst>
    <p:embeddedFont>
      <p:font typeface="Marcellus"/>
      <p:regular r:id="rId108"/>
    </p:embeddedFont>
    <p:embeddedFont>
      <p:font typeface="Arial Narrow"/>
      <p:regular r:id="rId109"/>
      <p:bold r:id="rId110"/>
      <p:italic r:id="rId111"/>
      <p:boldItalic r:id="rId1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113" roundtripDataSignature="AMtx7mhqcWKxLlJGDts5JQFoXYs/YP15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font" Target="fonts/ArialNarrow-regular.fntdata"/><Relationship Id="rId108" Type="http://schemas.openxmlformats.org/officeDocument/2006/relationships/font" Target="fonts/Marcellus-regular.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10" Type="http://schemas.openxmlformats.org/officeDocument/2006/relationships/font" Target="fonts/ArialNarrow-bold.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113" Type="http://customschemas.google.com/relationships/presentationmetadata" Target="metadata"/><Relationship Id="rId112" Type="http://schemas.openxmlformats.org/officeDocument/2006/relationships/font" Target="fonts/ArialNarrow-boldItalic.fntdata"/><Relationship Id="rId111" Type="http://schemas.openxmlformats.org/officeDocument/2006/relationships/font" Target="fonts/ArialNarrow-italic.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82ede32b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f82ede32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 name="Google Shape;20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1" name="Google Shape;26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0" name="Google Shape;28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9" name="Google Shape;289;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0" name="Google Shape;30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1" name="Google Shape;31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1" name="Google Shape;32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9" name="Google Shape;339;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9" name="Google Shape;34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0" name="Google Shape;36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1" name="Google Shape;371;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0" name="Google Shape;380;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4" name="Google Shape;394;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0" name="Google Shape;41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0" name="Google Shape;420;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9" name="Google Shape;429;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8" name="Google Shape;438;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0" name="Google Shape;450;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1" name="Google Shape;461;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1" name="Google Shape;471;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2" name="Google Shape;482;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2" name="Google Shape;492;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1" name="Google Shape;501;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3" name="Google Shape;513;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2" name="Google Shape;522;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2" name="Google Shape;532;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1" name="Google Shape;541;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1" name="Google Shape;551;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2" name="Google Shape;562;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1" name="Google Shape;571;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1" name="Google Shape;581;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0" name="Google Shape;590;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0" name="Google Shape;600;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9" name="Google Shape;609;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0" name="Google Shape;620;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9" name="Google Shape;629;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0" name="Google Shape;640;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9" name="Google Shape;649;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9" name="Google Shape;659;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8" name="Google Shape;668;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8" name="Google Shape;678;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7" name="Google Shape;687;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6" name="Google Shape;696;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6" name="Google Shape;706;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5" name="Google Shape;715;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5" name="Google Shape;725;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6" name="Google Shape;736;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6" name="Google Shape;746;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6" name="Google Shape;756;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6" name="Google Shape;766;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6" name="Google Shape;776;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5" name="Google Shape;785;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5" name="Google Shape;795;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5" name="Google Shape;805;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4" name="Google Shape;814;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3" name="Google Shape;823;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3" name="Google Shape;833;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2" name="Google Shape;842;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3" name="Google Shape;853;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3" name="Google Shape;863;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3" name="Google Shape;873;p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2" name="Google Shape;882;p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1" name="Google Shape;891;p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1" name="Google Shape;901;p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1" name="Google Shape;911;p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5" name="Google Shape;925;p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5" name="Google Shape;935;p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4" name="Google Shape;944;p8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4" name="Google Shape;954;p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4" name="Google Shape;964;p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p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4" name="Google Shape;974;p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3" name="Google Shape;983;p9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2" name="Google Shape;992;p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2" name="Google Shape;1002;p9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1" name="Google Shape;1011;p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p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2" name="Google Shape;1022;p9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1" name="Google Shape;1031;p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p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1" name="Google Shape;1041;p9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0" name="Google Shape;1050;p9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9" name="Google Shape;1059;p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p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0" name="Google Shape;1070;p9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p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2" name="Google Shape;1082;p10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2" name="Google Shape;1092;p10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10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0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10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0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0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10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0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10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0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0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0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0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0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0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0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0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0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0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0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0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0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0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0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0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0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0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0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0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0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0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0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0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0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11"/>
          <p:cNvSpPr/>
          <p:nvPr>
            <p:ph idx="2" type="pic"/>
          </p:nvPr>
        </p:nvSpPr>
        <p:spPr>
          <a:xfrm>
            <a:off x="5183188" y="987425"/>
            <a:ext cx="6172200" cy="4873625"/>
          </a:xfrm>
          <a:prstGeom prst="rect">
            <a:avLst/>
          </a:prstGeom>
          <a:noFill/>
          <a:ln>
            <a:noFill/>
          </a:ln>
        </p:spPr>
      </p:sp>
      <p:sp>
        <p:nvSpPr>
          <p:cNvPr id="64" name="Google Shape;64;p1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0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first1.html" TargetMode="External"/><Relationship Id="rId4" Type="http://schemas.openxmlformats.org/officeDocument/2006/relationships/image" Target="../media/image5.jp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2.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jp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jpg"/><Relationship Id="rId4" Type="http://schemas.openxmlformats.org/officeDocument/2006/relationships/image" Target="../media/image8.png"/><Relationship Id="rId5"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jpg"/><Relationship Id="rId4"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jp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jpg"/><Relationship Id="rId4"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jpg"/><Relationship Id="rId4" Type="http://schemas.openxmlformats.org/officeDocument/2006/relationships/image" Target="../media/image13.png"/><Relationship Id="rId5"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jpg"/><Relationship Id="rId4" Type="http://schemas.openxmlformats.org/officeDocument/2006/relationships/image" Target="../media/image2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jpg"/><Relationship Id="rId4" Type="http://schemas.openxmlformats.org/officeDocument/2006/relationships/image" Target="../media/image1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jpg"/><Relationship Id="rId4" Type="http://schemas.openxmlformats.org/officeDocument/2006/relationships/image" Target="../media/image1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links2.html" TargetMode="External"/><Relationship Id="rId4" Type="http://schemas.openxmlformats.org/officeDocument/2006/relationships/image" Target="../media/image5.jpg"/><Relationship Id="rId5" Type="http://schemas.openxmlformats.org/officeDocument/2006/relationships/image" Target="../media/image21.png"/><Relationship Id="rId6"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jpg"/><Relationship Id="rId4" Type="http://schemas.openxmlformats.org/officeDocument/2006/relationships/image" Target="../media/image1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jpg"/><Relationship Id="rId4" Type="http://schemas.openxmlformats.org/officeDocument/2006/relationships/image" Target="../media/image2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jpg"/><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5.jpg"/><Relationship Id="rId4" Type="http://schemas.openxmlformats.org/officeDocument/2006/relationships/image" Target="../media/image33.png"/><Relationship Id="rId5"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jpg"/><Relationship Id="rId4" Type="http://schemas.openxmlformats.org/officeDocument/2006/relationships/image" Target="../media/image2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5.jpg"/><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jpg"/><Relationship Id="rId4" Type="http://schemas.openxmlformats.org/officeDocument/2006/relationships/image" Target="../media/image18.png"/><Relationship Id="rId5" Type="http://schemas.openxmlformats.org/officeDocument/2006/relationships/image" Target="../media/image4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5.jp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5.jpg"/><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5.jpg"/><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5.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jpg"/><Relationship Id="rId4" Type="http://schemas.openxmlformats.org/officeDocument/2006/relationships/image" Target="../media/image44.jpg"/><Relationship Id="rId5" Type="http://schemas.openxmlformats.org/officeDocument/2006/relationships/image" Target="../media/image5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5.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5.jpg"/><Relationship Id="rId4" Type="http://schemas.openxmlformats.org/officeDocument/2006/relationships/image" Target="../media/image28.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5.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5.jpg"/><Relationship Id="rId4"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5.jpg"/><Relationship Id="rId4" Type="http://schemas.openxmlformats.org/officeDocument/2006/relationships/image" Target="../media/image3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5.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5.jpg"/><Relationship Id="rId4" Type="http://schemas.openxmlformats.org/officeDocument/2006/relationships/image" Target="../media/image3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5.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5.jpg"/><Relationship Id="rId4" Type="http://schemas.openxmlformats.org/officeDocument/2006/relationships/image" Target="../media/image4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5.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5.jpg"/><Relationship Id="rId4" Type="http://schemas.openxmlformats.org/officeDocument/2006/relationships/image" Target="../media/image4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5.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5.jpg"/><Relationship Id="rId4" Type="http://schemas.openxmlformats.org/officeDocument/2006/relationships/image" Target="../media/image39.png"/><Relationship Id="rId5" Type="http://schemas.openxmlformats.org/officeDocument/2006/relationships/image" Target="../media/image4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5.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5.jpg"/><Relationship Id="rId4" Type="http://schemas.openxmlformats.org/officeDocument/2006/relationships/image" Target="../media/image3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5.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5.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5.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5.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5.jpg"/><Relationship Id="rId4" Type="http://schemas.openxmlformats.org/officeDocument/2006/relationships/image" Target="../media/image4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5.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5.jpg"/><Relationship Id="rId4" Type="http://schemas.openxmlformats.org/officeDocument/2006/relationships/image" Target="../media/image3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5.jpg"/><Relationship Id="rId4" Type="http://schemas.openxmlformats.org/officeDocument/2006/relationships/image" Target="../media/image4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5.jpg"/><Relationship Id="rId4" Type="http://schemas.openxmlformats.org/officeDocument/2006/relationships/image" Target="../media/image3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5.jpg"/><Relationship Id="rId4" Type="http://schemas.openxmlformats.org/officeDocument/2006/relationships/image" Target="../media/image4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5.jpg"/><Relationship Id="rId4" Type="http://schemas.openxmlformats.org/officeDocument/2006/relationships/image" Target="../media/image4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5.jpg"/><Relationship Id="rId4" Type="http://schemas.openxmlformats.org/officeDocument/2006/relationships/image" Target="../media/image5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5.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5.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5.jpg"/><Relationship Id="rId4" Type="http://schemas.openxmlformats.org/officeDocument/2006/relationships/image" Target="../media/image5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5.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5.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5.jpg"/><Relationship Id="rId4" Type="http://schemas.openxmlformats.org/officeDocument/2006/relationships/image" Target="../media/image6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5.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5.jpg"/><Relationship Id="rId4" Type="http://schemas.openxmlformats.org/officeDocument/2006/relationships/image" Target="../media/image7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5.jpg"/><Relationship Id="rId4" Type="http://schemas.openxmlformats.org/officeDocument/2006/relationships/image" Target="../media/image6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5.jpg"/><Relationship Id="rId4" Type="http://schemas.openxmlformats.org/officeDocument/2006/relationships/image" Target="../media/image7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5.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5.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5.jpg"/><Relationship Id="rId4" Type="http://schemas.openxmlformats.org/officeDocument/2006/relationships/image" Target="../media/image4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5.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5.jp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5.jpg"/><Relationship Id="rId4" Type="http://schemas.openxmlformats.org/officeDocument/2006/relationships/image" Target="../media/image5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5.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5.jpg"/><Relationship Id="rId4" Type="http://schemas.openxmlformats.org/officeDocument/2006/relationships/image" Target="../media/image6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5.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5.jpg"/><Relationship Id="rId4" Type="http://schemas.openxmlformats.org/officeDocument/2006/relationships/image" Target="../media/image6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5.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5.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5.jpg"/><Relationship Id="rId4" Type="http://schemas.openxmlformats.org/officeDocument/2006/relationships/image" Target="../media/image5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5.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5.jpg"/><Relationship Id="rId4" Type="http://schemas.openxmlformats.org/officeDocument/2006/relationships/image" Target="../media/image6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5.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5.jpg"/><Relationship Id="rId4" Type="http://schemas.openxmlformats.org/officeDocument/2006/relationships/image" Target="../media/image67.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5.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5.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5.jpg"/><Relationship Id="rId4" Type="http://schemas.openxmlformats.org/officeDocument/2006/relationships/image" Target="../media/image64.png"/><Relationship Id="rId5" Type="http://schemas.openxmlformats.org/officeDocument/2006/relationships/image" Target="../media/image7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5.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5.jpg"/><Relationship Id="rId4" Type="http://schemas.openxmlformats.org/officeDocument/2006/relationships/image" Target="../media/image68.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5.jpg"/><Relationship Id="rId4" Type="http://schemas.openxmlformats.org/officeDocument/2006/relationships/image" Target="../media/image63.png"/><Relationship Id="rId5" Type="http://schemas.openxmlformats.org/officeDocument/2006/relationships/image" Target="../media/image66.png"/><Relationship Id="rId6" Type="http://schemas.openxmlformats.org/officeDocument/2006/relationships/hyperlink" Target="https://docs.google.com/presentation/d/1shvgm6WNHKDxSu6zxGrOaCt-4k70OuBa/edit#slide=id.p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C:\Users\GANGA\Desktop\download.jpg" id="84" name="Google Shape;84;p1"/>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85" name="Google Shape;85;p1"/>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 name="Google Shape;86;p1"/>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 name="Google Shape;87;p1"/>
          <p:cNvSpPr txBox="1"/>
          <p:nvPr/>
        </p:nvSpPr>
        <p:spPr>
          <a:xfrm>
            <a:off x="818866" y="357390"/>
            <a:ext cx="11136600" cy="6581100"/>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92500" lnSpcReduction="10000"/>
          </a:bodyPr>
          <a:lstStyle/>
          <a:p>
            <a:pPr indent="0" lvl="0" marL="0" marR="0" rtl="0" algn="ctr">
              <a:lnSpc>
                <a:spcPct val="200000"/>
              </a:lnSpc>
              <a:spcBef>
                <a:spcPts val="0"/>
              </a:spcBef>
              <a:spcAft>
                <a:spcPts val="0"/>
              </a:spcAft>
              <a:buClr>
                <a:srgbClr val="000000"/>
              </a:buClr>
              <a:buSzPct val="100000"/>
              <a:buFont typeface="Arial"/>
              <a:buNone/>
            </a:pPr>
            <a:r>
              <a:t/>
            </a:r>
            <a:endParaRPr b="1" i="0" sz="4800" u="none" cap="none" strike="noStrike">
              <a:solidFill>
                <a:srgbClr val="860000"/>
              </a:solidFill>
              <a:latin typeface="Calibri"/>
              <a:ea typeface="Calibri"/>
              <a:cs typeface="Calibri"/>
              <a:sym typeface="Calibri"/>
            </a:endParaRPr>
          </a:p>
          <a:p>
            <a:pPr indent="0" lvl="0" marL="0" marR="0" rtl="0" algn="ctr">
              <a:lnSpc>
                <a:spcPct val="200000"/>
              </a:lnSpc>
              <a:spcBef>
                <a:spcPts val="0"/>
              </a:spcBef>
              <a:spcAft>
                <a:spcPts val="0"/>
              </a:spcAft>
              <a:buClr>
                <a:srgbClr val="000000"/>
              </a:buClr>
              <a:buSzPct val="100000"/>
              <a:buFont typeface="Arial"/>
              <a:buNone/>
            </a:pPr>
            <a:r>
              <a:rPr b="1" i="0" lang="en-US" sz="4800" u="none" cap="none" strike="noStrike">
                <a:solidFill>
                  <a:srgbClr val="600000"/>
                </a:solidFill>
                <a:latin typeface="Times New Roman"/>
                <a:ea typeface="Times New Roman"/>
                <a:cs typeface="Times New Roman"/>
                <a:sym typeface="Times New Roman"/>
              </a:rPr>
              <a:t>22CAC09</a:t>
            </a:r>
            <a:endParaRPr b="0" i="0" sz="4800" u="none" cap="none" strike="noStrike">
              <a:solidFill>
                <a:srgbClr val="600000"/>
              </a:solidFill>
              <a:latin typeface="Calibri"/>
              <a:ea typeface="Calibri"/>
              <a:cs typeface="Calibri"/>
              <a:sym typeface="Calibri"/>
            </a:endParaRPr>
          </a:p>
          <a:p>
            <a:pPr indent="0" lvl="0" marL="0" marR="0" rtl="0" algn="ctr">
              <a:lnSpc>
                <a:spcPct val="200000"/>
              </a:lnSpc>
              <a:spcBef>
                <a:spcPts val="0"/>
              </a:spcBef>
              <a:spcAft>
                <a:spcPts val="0"/>
              </a:spcAft>
              <a:buClr>
                <a:srgbClr val="000000"/>
              </a:buClr>
              <a:buSzPct val="100000"/>
              <a:buFont typeface="Arial"/>
              <a:buNone/>
            </a:pPr>
            <a:r>
              <a:rPr b="1" i="0" lang="en-US" sz="4800" u="none" cap="none" strike="noStrike">
                <a:solidFill>
                  <a:srgbClr val="071D01"/>
                </a:solidFill>
                <a:latin typeface="Times New Roman"/>
                <a:ea typeface="Times New Roman"/>
                <a:cs typeface="Times New Roman"/>
                <a:sym typeface="Times New Roman"/>
              </a:rPr>
              <a:t>FULL STACK DEVELOPMENT</a:t>
            </a:r>
            <a:endParaRPr b="0" i="0" sz="4800" u="none" cap="none" strike="noStrike">
              <a:solidFill>
                <a:schemeClr val="dk1"/>
              </a:solidFill>
              <a:latin typeface="Calibri"/>
              <a:ea typeface="Calibri"/>
              <a:cs typeface="Calibri"/>
              <a:sym typeface="Calibri"/>
            </a:endParaRPr>
          </a:p>
          <a:p>
            <a:pPr indent="0" lvl="0" marL="0" marR="0" rtl="0" algn="ctr">
              <a:lnSpc>
                <a:spcPct val="200000"/>
              </a:lnSpc>
              <a:spcBef>
                <a:spcPts val="0"/>
              </a:spcBef>
              <a:spcAft>
                <a:spcPts val="0"/>
              </a:spcAft>
              <a:buClr>
                <a:srgbClr val="000000"/>
              </a:buClr>
              <a:buSzPct val="100000"/>
              <a:buFont typeface="Arial"/>
              <a:buNone/>
            </a:pPr>
            <a:r>
              <a:rPr b="1" i="0" lang="en-US" sz="4800" u="none" cap="none" strike="noStrike">
                <a:solidFill>
                  <a:srgbClr val="600000"/>
                </a:solidFill>
                <a:latin typeface="Times New Roman"/>
                <a:ea typeface="Times New Roman"/>
                <a:cs typeface="Times New Roman"/>
                <a:sym typeface="Times New Roman"/>
              </a:rPr>
              <a:t>UNIT-I</a:t>
            </a:r>
            <a:endParaRPr b="0" i="0" sz="4800" u="none" cap="none" strike="noStrike">
              <a:solidFill>
                <a:srgbClr val="600000"/>
              </a:solidFill>
              <a:latin typeface="Calibri"/>
              <a:ea typeface="Calibri"/>
              <a:cs typeface="Calibri"/>
              <a:sym typeface="Calibri"/>
            </a:endParaRPr>
          </a:p>
          <a:p>
            <a:pPr indent="0" lvl="0" marL="0" marR="0" rtl="0" algn="ctr">
              <a:lnSpc>
                <a:spcPct val="200000"/>
              </a:lnSpc>
              <a:spcBef>
                <a:spcPts val="0"/>
              </a:spcBef>
              <a:spcAft>
                <a:spcPts val="0"/>
              </a:spcAft>
              <a:buClr>
                <a:srgbClr val="000000"/>
              </a:buClr>
              <a:buSzPct val="100000"/>
              <a:buFont typeface="Arial"/>
              <a:buNone/>
            </a:pPr>
            <a:r>
              <a:rPr b="1" i="0" lang="en-US" sz="4800" u="none" cap="none" strike="noStrike">
                <a:solidFill>
                  <a:srgbClr val="600000"/>
                </a:solidFill>
                <a:latin typeface="Times New Roman"/>
                <a:ea typeface="Times New Roman"/>
                <a:cs typeface="Times New Roman"/>
                <a:sym typeface="Times New Roman"/>
              </a:rPr>
              <a:t>HTML 5.0</a:t>
            </a:r>
            <a:endParaRPr b="1" i="0" sz="4800" u="none" cap="none" strike="noStrike">
              <a:solidFill>
                <a:srgbClr val="600000"/>
              </a:solidFill>
              <a:latin typeface="Times New Roman"/>
              <a:ea typeface="Times New Roman"/>
              <a:cs typeface="Times New Roman"/>
              <a:sym typeface="Times New Roman"/>
            </a:endParaRPr>
          </a:p>
        </p:txBody>
      </p:sp>
      <p:pic>
        <p:nvPicPr>
          <p:cNvPr id="88" name="Google Shape;88;p1"/>
          <p:cNvPicPr preferRelativeResize="0"/>
          <p:nvPr/>
        </p:nvPicPr>
        <p:blipFill rotWithShape="1">
          <a:blip r:embed="rId4">
            <a:alphaModFix/>
          </a:blip>
          <a:srcRect b="0" l="0" r="0" t="0"/>
          <a:stretch/>
        </p:blipFill>
        <p:spPr>
          <a:xfrm>
            <a:off x="8830682" y="4352599"/>
            <a:ext cx="2136973" cy="2136973"/>
          </a:xfrm>
          <a:prstGeom prst="rect">
            <a:avLst/>
          </a:prstGeom>
          <a:noFill/>
          <a:ln cap="flat" cmpd="sng" w="63500">
            <a:solidFill>
              <a:srgbClr val="600000"/>
            </a:solidFill>
            <a:prstDash val="solid"/>
            <a:round/>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3"/>
          <p:cNvSpPr txBox="1"/>
          <p:nvPr/>
        </p:nvSpPr>
        <p:spPr>
          <a:xfrm>
            <a:off x="163772" y="204716"/>
            <a:ext cx="10781732"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860000"/>
              </a:buClr>
              <a:buSzPct val="100000"/>
              <a:buFont typeface="Marcellus"/>
              <a:buNone/>
            </a:pPr>
            <a:r>
              <a:rPr b="1" i="0" lang="en-US" sz="3600" u="none" cap="none" strike="noStrike">
                <a:solidFill>
                  <a:srgbClr val="860000"/>
                </a:solidFill>
                <a:latin typeface="Marcellus"/>
                <a:ea typeface="Marcellus"/>
                <a:cs typeface="Marcellus"/>
                <a:sym typeface="Marcellus"/>
              </a:rPr>
              <a:t>General Structure of HTML</a:t>
            </a:r>
            <a:endParaRPr b="1" i="0" sz="3600" u="none" cap="none" strike="noStrike">
              <a:solidFill>
                <a:srgbClr val="860000"/>
              </a:solidFill>
              <a:latin typeface="Marcellus"/>
              <a:ea typeface="Marcellus"/>
              <a:cs typeface="Marcellus"/>
              <a:sym typeface="Marcellus"/>
            </a:endParaRPr>
          </a:p>
        </p:txBody>
      </p:sp>
      <p:sp>
        <p:nvSpPr>
          <p:cNvPr id="94" name="Google Shape;94;p3"/>
          <p:cNvSpPr txBox="1"/>
          <p:nvPr/>
        </p:nvSpPr>
        <p:spPr>
          <a:xfrm>
            <a:off x="163772" y="873382"/>
            <a:ext cx="10781700" cy="5679300"/>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just">
              <a:lnSpc>
                <a:spcPct val="15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95" name="Google Shape;95;p3"/>
          <p:cNvSpPr/>
          <p:nvPr/>
        </p:nvSpPr>
        <p:spPr>
          <a:xfrm>
            <a:off x="11191167" y="0"/>
            <a:ext cx="259311" cy="551369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6" name="Google Shape;96;p3"/>
          <p:cNvSpPr/>
          <p:nvPr/>
        </p:nvSpPr>
        <p:spPr>
          <a:xfrm>
            <a:off x="11450472" y="0"/>
            <a:ext cx="741528" cy="5882183"/>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97" name="Google Shape;97;p3"/>
          <p:cNvPicPr preferRelativeResize="0"/>
          <p:nvPr/>
        </p:nvPicPr>
        <p:blipFill rotWithShape="1">
          <a:blip r:embed="rId3">
            <a:alphaModFix/>
          </a:blip>
          <a:srcRect b="0" l="0" r="0" t="0"/>
          <a:stretch/>
        </p:blipFill>
        <p:spPr>
          <a:xfrm>
            <a:off x="11191166" y="5915467"/>
            <a:ext cx="1000833" cy="915237"/>
          </a:xfrm>
          <a:prstGeom prst="rect">
            <a:avLst/>
          </a:prstGeom>
          <a:noFill/>
          <a:ln cap="flat" cmpd="sng" w="9525">
            <a:solidFill>
              <a:srgbClr val="860000"/>
            </a:solidFill>
            <a:prstDash val="solid"/>
            <a:round/>
            <a:headEnd len="sm" w="sm" type="none"/>
            <a:tailEnd len="sm" w="sm" type="none"/>
          </a:ln>
        </p:spPr>
      </p:pic>
      <p:sp>
        <p:nvSpPr>
          <p:cNvPr id="98" name="Google Shape;98;p3"/>
          <p:cNvSpPr/>
          <p:nvPr/>
        </p:nvSpPr>
        <p:spPr>
          <a:xfrm>
            <a:off x="2105891" y="1229586"/>
            <a:ext cx="6321136" cy="5257800"/>
          </a:xfrm>
          <a:prstGeom prst="rect">
            <a:avLst/>
          </a:prstGeom>
          <a:solidFill>
            <a:schemeClr val="lt1"/>
          </a:solidFill>
          <a:ln cap="flat" cmpd="sng" w="38100">
            <a:solidFill>
              <a:srgbClr val="600000">
                <a:alpha val="94902"/>
              </a:srgbClr>
            </a:solidFill>
            <a:prstDash val="solid"/>
            <a:miter lim="8000"/>
            <a:headEnd len="sm" w="sm" type="none"/>
            <a:tailEnd len="sm" w="sm" type="none"/>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chemeClr val="dk1"/>
              </a:buClr>
              <a:buSzPts val="2700"/>
              <a:buFont typeface="Comic Sans MS"/>
              <a:buNone/>
            </a:pPr>
            <a:r>
              <a:rPr b="0" i="0" lang="en-US" sz="2700" u="none" cap="none" strike="noStrike">
                <a:solidFill>
                  <a:schemeClr val="dk1"/>
                </a:solidFill>
                <a:latin typeface="Comic Sans MS"/>
                <a:ea typeface="Comic Sans MS"/>
                <a:cs typeface="Comic Sans MS"/>
                <a:sym typeface="Comic Sans MS"/>
              </a:rPr>
              <a:t>&lt;html&gt;</a:t>
            </a:r>
            <a:endParaRPr b="0" i="0" sz="1400" u="none" cap="none" strike="noStrike">
              <a:solidFill>
                <a:srgbClr val="000000"/>
              </a:solidFill>
              <a:latin typeface="Arial"/>
              <a:ea typeface="Arial"/>
              <a:cs typeface="Arial"/>
              <a:sym typeface="Arial"/>
            </a:endParaRPr>
          </a:p>
          <a:p>
            <a:pPr indent="-255587" lvl="0" marL="365125" marR="0" rtl="0" algn="l">
              <a:lnSpc>
                <a:spcPct val="100000"/>
              </a:lnSpc>
              <a:spcBef>
                <a:spcPts val="640"/>
              </a:spcBef>
              <a:spcAft>
                <a:spcPts val="0"/>
              </a:spcAft>
              <a:buClr>
                <a:schemeClr val="dk1"/>
              </a:buClr>
              <a:buSzPts val="3200"/>
              <a:buFont typeface="Comic Sans MS"/>
              <a:buNone/>
            </a:pPr>
            <a:r>
              <a:rPr b="0" i="0" lang="en-US" sz="3200" u="none" cap="none" strike="noStrike">
                <a:solidFill>
                  <a:schemeClr val="dk1"/>
                </a:solidFill>
                <a:latin typeface="Comic Sans MS"/>
                <a:ea typeface="Comic Sans MS"/>
                <a:cs typeface="Comic Sans MS"/>
                <a:sym typeface="Comic Sans MS"/>
              </a:rPr>
              <a:t>		</a:t>
            </a:r>
            <a:r>
              <a:rPr b="0" i="0" lang="en-US" sz="2000" u="none" cap="none" strike="noStrike">
                <a:solidFill>
                  <a:schemeClr val="dk1"/>
                </a:solidFill>
                <a:latin typeface="Comic Sans MS"/>
                <a:ea typeface="Comic Sans MS"/>
                <a:cs typeface="Comic Sans MS"/>
                <a:sym typeface="Comic Sans MS"/>
              </a:rPr>
              <a:t>&lt;head&gt;</a:t>
            </a:r>
            <a:endParaRPr b="0" i="0" sz="1400" u="none" cap="none" strike="noStrike">
              <a:solidFill>
                <a:srgbClr val="000000"/>
              </a:solidFill>
              <a:latin typeface="Arial"/>
              <a:ea typeface="Arial"/>
              <a:cs typeface="Arial"/>
              <a:sym typeface="Arial"/>
            </a:endParaRPr>
          </a:p>
          <a:p>
            <a:pPr indent="-255587" lvl="0" marL="365125" marR="0" rtl="0" algn="l">
              <a:lnSpc>
                <a:spcPct val="100000"/>
              </a:lnSpc>
              <a:spcBef>
                <a:spcPts val="400"/>
              </a:spcBef>
              <a:spcAft>
                <a:spcPts val="0"/>
              </a:spcAft>
              <a:buClr>
                <a:schemeClr val="dk1"/>
              </a:buClr>
              <a:buSzPts val="2000"/>
              <a:buFont typeface="Comic Sans MS"/>
              <a:buNone/>
            </a:pPr>
            <a:r>
              <a:rPr b="0" i="0" lang="en-US" sz="2000" u="none" cap="none" strike="noStrike">
                <a:solidFill>
                  <a:schemeClr val="dk1"/>
                </a:solidFill>
                <a:latin typeface="Comic Sans MS"/>
                <a:ea typeface="Comic Sans MS"/>
                <a:cs typeface="Comic Sans MS"/>
                <a:sym typeface="Comic Sans MS"/>
              </a:rPr>
              <a:t>		  	&lt;title&gt;</a:t>
            </a:r>
            <a:endParaRPr b="0" i="0" sz="1400" u="none" cap="none" strike="noStrike">
              <a:solidFill>
                <a:srgbClr val="000000"/>
              </a:solidFill>
              <a:latin typeface="Arial"/>
              <a:ea typeface="Arial"/>
              <a:cs typeface="Arial"/>
              <a:sym typeface="Arial"/>
            </a:endParaRPr>
          </a:p>
          <a:p>
            <a:pPr indent="-255587" lvl="0" marL="365125" marR="0" rtl="0" algn="l">
              <a:lnSpc>
                <a:spcPct val="100000"/>
              </a:lnSpc>
              <a:spcBef>
                <a:spcPts val="400"/>
              </a:spcBef>
              <a:spcAft>
                <a:spcPts val="0"/>
              </a:spcAft>
              <a:buClr>
                <a:schemeClr val="dk1"/>
              </a:buClr>
              <a:buSzPts val="2000"/>
              <a:buFont typeface="Comic Sans MS"/>
              <a:buNone/>
            </a:pPr>
            <a:r>
              <a:rPr b="0" i="0" lang="en-US" sz="2000" u="none" cap="none" strike="noStrike">
                <a:solidFill>
                  <a:schemeClr val="dk1"/>
                </a:solidFill>
                <a:latin typeface="Comic Sans MS"/>
                <a:ea typeface="Comic Sans MS"/>
                <a:cs typeface="Comic Sans MS"/>
                <a:sym typeface="Comic Sans MS"/>
              </a:rPr>
              <a:t>				Title of the page</a:t>
            </a:r>
            <a:endParaRPr b="0" i="0" sz="1400" u="none" cap="none" strike="noStrike">
              <a:solidFill>
                <a:srgbClr val="000000"/>
              </a:solidFill>
              <a:latin typeface="Arial"/>
              <a:ea typeface="Arial"/>
              <a:cs typeface="Arial"/>
              <a:sym typeface="Arial"/>
            </a:endParaRPr>
          </a:p>
          <a:p>
            <a:pPr indent="-255587" lvl="0" marL="365125" marR="0" rtl="0" algn="l">
              <a:lnSpc>
                <a:spcPct val="100000"/>
              </a:lnSpc>
              <a:spcBef>
                <a:spcPts val="400"/>
              </a:spcBef>
              <a:spcAft>
                <a:spcPts val="0"/>
              </a:spcAft>
              <a:buClr>
                <a:schemeClr val="dk1"/>
              </a:buClr>
              <a:buSzPts val="2000"/>
              <a:buFont typeface="Comic Sans MS"/>
              <a:buNone/>
            </a:pPr>
            <a:r>
              <a:rPr b="0" i="0" lang="en-US" sz="2000" u="none" cap="none" strike="noStrike">
                <a:solidFill>
                  <a:schemeClr val="dk1"/>
                </a:solidFill>
                <a:latin typeface="Comic Sans MS"/>
                <a:ea typeface="Comic Sans MS"/>
                <a:cs typeface="Comic Sans MS"/>
                <a:sym typeface="Comic Sans MS"/>
              </a:rPr>
              <a:t>			&lt;/title&gt;			</a:t>
            </a:r>
            <a:endParaRPr b="0" i="0" sz="2000" u="none" cap="none" strike="noStrike">
              <a:solidFill>
                <a:schemeClr val="dk1"/>
              </a:solidFill>
              <a:latin typeface="Comic Sans MS"/>
              <a:ea typeface="Comic Sans MS"/>
              <a:cs typeface="Comic Sans MS"/>
              <a:sym typeface="Comic Sans MS"/>
            </a:endParaRPr>
          </a:p>
          <a:p>
            <a:pPr indent="-255587" lvl="0" marL="365125" marR="0" rtl="0" algn="l">
              <a:lnSpc>
                <a:spcPct val="100000"/>
              </a:lnSpc>
              <a:spcBef>
                <a:spcPts val="400"/>
              </a:spcBef>
              <a:spcAft>
                <a:spcPts val="0"/>
              </a:spcAft>
              <a:buClr>
                <a:schemeClr val="dk1"/>
              </a:buClr>
              <a:buSzPts val="2000"/>
              <a:buFont typeface="Comic Sans MS"/>
              <a:buNone/>
            </a:pPr>
            <a:r>
              <a:rPr b="0" i="0" lang="en-US" sz="2000" u="none" cap="none" strike="noStrike">
                <a:solidFill>
                  <a:schemeClr val="dk1"/>
                </a:solidFill>
                <a:latin typeface="Comic Sans MS"/>
                <a:ea typeface="Comic Sans MS"/>
                <a:cs typeface="Comic Sans MS"/>
                <a:sym typeface="Comic Sans MS"/>
              </a:rPr>
              <a:t>    &lt;/head&gt;</a:t>
            </a:r>
            <a:endParaRPr b="0" i="0" sz="1400" u="none" cap="none" strike="noStrike">
              <a:solidFill>
                <a:srgbClr val="000000"/>
              </a:solidFill>
              <a:latin typeface="Arial"/>
              <a:ea typeface="Arial"/>
              <a:cs typeface="Arial"/>
              <a:sym typeface="Arial"/>
            </a:endParaRPr>
          </a:p>
          <a:p>
            <a:pPr indent="-255587" lvl="0" marL="365125" marR="0" rtl="0" algn="l">
              <a:lnSpc>
                <a:spcPct val="100000"/>
              </a:lnSpc>
              <a:spcBef>
                <a:spcPts val="400"/>
              </a:spcBef>
              <a:spcAft>
                <a:spcPts val="0"/>
              </a:spcAft>
              <a:buClr>
                <a:schemeClr val="dk1"/>
              </a:buClr>
              <a:buSzPts val="2000"/>
              <a:buFont typeface="Comic Sans MS"/>
              <a:buNone/>
            </a:pPr>
            <a:r>
              <a:t/>
            </a:r>
            <a:endParaRPr b="0" i="0" sz="2000" u="none" cap="none" strike="noStrike">
              <a:solidFill>
                <a:schemeClr val="dk1"/>
              </a:solidFill>
              <a:latin typeface="Comic Sans MS"/>
              <a:ea typeface="Comic Sans MS"/>
              <a:cs typeface="Comic Sans MS"/>
              <a:sym typeface="Comic Sans MS"/>
            </a:endParaRPr>
          </a:p>
          <a:p>
            <a:pPr indent="-255587" lvl="0" marL="365125" marR="0" rtl="0" algn="l">
              <a:lnSpc>
                <a:spcPct val="100000"/>
              </a:lnSpc>
              <a:spcBef>
                <a:spcPts val="400"/>
              </a:spcBef>
              <a:spcAft>
                <a:spcPts val="0"/>
              </a:spcAft>
              <a:buClr>
                <a:schemeClr val="dk1"/>
              </a:buClr>
              <a:buSzPts val="2000"/>
              <a:buFont typeface="Comic Sans MS"/>
              <a:buNone/>
            </a:pPr>
            <a:r>
              <a:rPr b="0" i="0" lang="en-US" sz="2000" u="none" cap="none" strike="noStrike">
                <a:solidFill>
                  <a:schemeClr val="dk1"/>
                </a:solidFill>
                <a:latin typeface="Comic Sans MS"/>
                <a:ea typeface="Comic Sans MS"/>
                <a:cs typeface="Comic Sans MS"/>
                <a:sym typeface="Comic Sans MS"/>
              </a:rPr>
              <a:t>		&lt;body&gt;</a:t>
            </a:r>
            <a:endParaRPr b="0" i="0" sz="1400" u="none" cap="none" strike="noStrike">
              <a:solidFill>
                <a:srgbClr val="000000"/>
              </a:solidFill>
              <a:latin typeface="Arial"/>
              <a:ea typeface="Arial"/>
              <a:cs typeface="Arial"/>
              <a:sym typeface="Arial"/>
            </a:endParaRPr>
          </a:p>
          <a:p>
            <a:pPr indent="-255587" lvl="0" marL="365125" marR="0" rtl="0" algn="l">
              <a:lnSpc>
                <a:spcPct val="100000"/>
              </a:lnSpc>
              <a:spcBef>
                <a:spcPts val="400"/>
              </a:spcBef>
              <a:spcAft>
                <a:spcPts val="0"/>
              </a:spcAft>
              <a:buClr>
                <a:schemeClr val="dk1"/>
              </a:buClr>
              <a:buSzPts val="2000"/>
              <a:buFont typeface="Comic Sans MS"/>
              <a:buNone/>
            </a:pPr>
            <a:r>
              <a:rPr b="0" i="0" lang="en-US" sz="2000" u="none" cap="none" strike="noStrike">
                <a:solidFill>
                  <a:schemeClr val="dk1"/>
                </a:solidFill>
                <a:latin typeface="Comic Sans MS"/>
                <a:ea typeface="Comic Sans MS"/>
                <a:cs typeface="Comic Sans MS"/>
                <a:sym typeface="Comic Sans MS"/>
              </a:rPr>
              <a:t>			Content of the page</a:t>
            </a:r>
            <a:endParaRPr b="0" i="0" sz="1400" u="none" cap="none" strike="noStrike">
              <a:solidFill>
                <a:srgbClr val="000000"/>
              </a:solidFill>
              <a:latin typeface="Arial"/>
              <a:ea typeface="Arial"/>
              <a:cs typeface="Arial"/>
              <a:sym typeface="Arial"/>
            </a:endParaRPr>
          </a:p>
          <a:p>
            <a:pPr indent="-255587" lvl="0" marL="365125" marR="0" rtl="0" algn="l">
              <a:lnSpc>
                <a:spcPct val="100000"/>
              </a:lnSpc>
              <a:spcBef>
                <a:spcPts val="400"/>
              </a:spcBef>
              <a:spcAft>
                <a:spcPts val="0"/>
              </a:spcAft>
              <a:buClr>
                <a:schemeClr val="dk1"/>
              </a:buClr>
              <a:buSzPts val="2000"/>
              <a:buFont typeface="Comic Sans MS"/>
              <a:buNone/>
            </a:pPr>
            <a:r>
              <a:rPr b="0" i="0" lang="en-US" sz="2000" u="none" cap="none" strike="noStrike">
                <a:solidFill>
                  <a:schemeClr val="dk1"/>
                </a:solidFill>
                <a:latin typeface="Comic Sans MS"/>
                <a:ea typeface="Comic Sans MS"/>
                <a:cs typeface="Comic Sans MS"/>
                <a:sym typeface="Comic Sans MS"/>
              </a:rPr>
              <a:t>		&lt;/body&gt;</a:t>
            </a:r>
            <a:endParaRPr b="0" i="0" sz="1400" u="none" cap="none" strike="noStrike">
              <a:solidFill>
                <a:srgbClr val="000000"/>
              </a:solidFill>
              <a:latin typeface="Arial"/>
              <a:ea typeface="Arial"/>
              <a:cs typeface="Arial"/>
              <a:sym typeface="Arial"/>
            </a:endParaRPr>
          </a:p>
          <a:p>
            <a:pPr indent="-255587" lvl="0" marL="365125" marR="0" rtl="0" algn="l">
              <a:lnSpc>
                <a:spcPct val="100000"/>
              </a:lnSpc>
              <a:spcBef>
                <a:spcPts val="400"/>
              </a:spcBef>
              <a:spcAft>
                <a:spcPts val="0"/>
              </a:spcAft>
              <a:buClr>
                <a:schemeClr val="dk1"/>
              </a:buClr>
              <a:buSzPts val="2000"/>
              <a:buFont typeface="Comic Sans MS"/>
              <a:buNone/>
            </a:pPr>
            <a:r>
              <a:t/>
            </a:r>
            <a:endParaRPr b="0" i="0" sz="2000" u="none" cap="none" strike="noStrike">
              <a:solidFill>
                <a:schemeClr val="dk1"/>
              </a:solidFill>
              <a:latin typeface="Comic Sans MS"/>
              <a:ea typeface="Comic Sans MS"/>
              <a:cs typeface="Comic Sans MS"/>
              <a:sym typeface="Comic Sans MS"/>
            </a:endParaRPr>
          </a:p>
          <a:p>
            <a:pPr indent="-255587" lvl="0" marL="365125" marR="0" rtl="0" algn="l">
              <a:lnSpc>
                <a:spcPct val="100000"/>
              </a:lnSpc>
              <a:spcBef>
                <a:spcPts val="540"/>
              </a:spcBef>
              <a:spcAft>
                <a:spcPts val="0"/>
              </a:spcAft>
              <a:buClr>
                <a:schemeClr val="dk1"/>
              </a:buClr>
              <a:buSzPts val="2700"/>
              <a:buFont typeface="Comic Sans MS"/>
              <a:buNone/>
            </a:pPr>
            <a:r>
              <a:rPr b="0" i="0" lang="en-US" sz="2700" u="none" cap="none" strike="noStrike">
                <a:solidFill>
                  <a:schemeClr val="dk1"/>
                </a:solidFill>
                <a:latin typeface="Comic Sans MS"/>
                <a:ea typeface="Comic Sans MS"/>
                <a:cs typeface="Comic Sans MS"/>
                <a:sym typeface="Comic Sans MS"/>
              </a:rPr>
              <a:t>&lt;/html&gt;</a:t>
            </a:r>
            <a:endParaRPr b="0" i="0" sz="1400" u="none" cap="none" strike="noStrike">
              <a:solidFill>
                <a:srgbClr val="000000"/>
              </a:solidFill>
              <a:latin typeface="Arial"/>
              <a:ea typeface="Arial"/>
              <a:cs typeface="Arial"/>
              <a:sym typeface="Arial"/>
            </a:endParaRPr>
          </a:p>
        </p:txBody>
      </p:sp>
      <p:cxnSp>
        <p:nvCxnSpPr>
          <p:cNvPr id="99" name="Google Shape;99;p3"/>
          <p:cNvCxnSpPr/>
          <p:nvPr/>
        </p:nvCxnSpPr>
        <p:spPr>
          <a:xfrm flipH="1" rot="-5400000">
            <a:off x="245919" y="3713020"/>
            <a:ext cx="4190998" cy="1"/>
          </a:xfrm>
          <a:prstGeom prst="straightConnector1">
            <a:avLst/>
          </a:prstGeom>
          <a:noFill/>
          <a:ln cap="flat" cmpd="sng" w="38100">
            <a:solidFill>
              <a:srgbClr val="FFC000"/>
            </a:solidFill>
            <a:prstDash val="solid"/>
            <a:miter lim="8000"/>
            <a:headEnd len="med" w="med" type="stealth"/>
            <a:tailEnd len="med" w="med" type="stealth"/>
          </a:ln>
        </p:spPr>
      </p:cxnSp>
      <p:cxnSp>
        <p:nvCxnSpPr>
          <p:cNvPr id="100" name="Google Shape;100;p3"/>
          <p:cNvCxnSpPr/>
          <p:nvPr/>
        </p:nvCxnSpPr>
        <p:spPr>
          <a:xfrm flipH="1">
            <a:off x="2836988" y="2215662"/>
            <a:ext cx="9400" cy="1242648"/>
          </a:xfrm>
          <a:prstGeom prst="straightConnector1">
            <a:avLst/>
          </a:prstGeom>
          <a:noFill/>
          <a:ln cap="flat" cmpd="sng" w="38100">
            <a:solidFill>
              <a:srgbClr val="FF0000"/>
            </a:solidFill>
            <a:prstDash val="solid"/>
            <a:miter lim="8000"/>
            <a:headEnd len="med" w="med" type="stealth"/>
            <a:tailEnd len="med" w="med" type="stealth"/>
          </a:ln>
        </p:spPr>
      </p:cxnSp>
      <p:cxnSp>
        <p:nvCxnSpPr>
          <p:cNvPr id="101" name="Google Shape;101;p3"/>
          <p:cNvCxnSpPr/>
          <p:nvPr/>
        </p:nvCxnSpPr>
        <p:spPr>
          <a:xfrm flipH="1">
            <a:off x="2819400" y="4420940"/>
            <a:ext cx="17588" cy="526202"/>
          </a:xfrm>
          <a:prstGeom prst="straightConnector1">
            <a:avLst/>
          </a:prstGeom>
          <a:noFill/>
          <a:ln cap="flat" cmpd="sng" w="38100">
            <a:solidFill>
              <a:srgbClr val="FF0000"/>
            </a:solidFill>
            <a:prstDash val="solid"/>
            <a:miter lim="8000"/>
            <a:headEnd len="med" w="med" type="stealth"/>
            <a:tailEnd len="med" w="med" type="stealth"/>
          </a:ln>
        </p:spPr>
      </p:cxnSp>
      <p:cxnSp>
        <p:nvCxnSpPr>
          <p:cNvPr id="102" name="Google Shape;102;p3"/>
          <p:cNvCxnSpPr/>
          <p:nvPr/>
        </p:nvCxnSpPr>
        <p:spPr>
          <a:xfrm flipH="1">
            <a:off x="3341959" y="2579078"/>
            <a:ext cx="12330" cy="504094"/>
          </a:xfrm>
          <a:prstGeom prst="straightConnector1">
            <a:avLst/>
          </a:prstGeom>
          <a:noFill/>
          <a:ln cap="flat" cmpd="sng" w="38100">
            <a:solidFill>
              <a:srgbClr val="FF0000"/>
            </a:solidFill>
            <a:prstDash val="solid"/>
            <a:miter lim="8000"/>
            <a:headEnd len="med" w="med" type="stealth"/>
            <a:tailEnd len="med" w="med" type="stealth"/>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lang="en-US" sz="3600">
                <a:solidFill>
                  <a:srgbClr val="600000"/>
                </a:solidFill>
                <a:latin typeface="Times New Roman"/>
                <a:ea typeface="Times New Roman"/>
                <a:cs typeface="Times New Roman"/>
                <a:sym typeface="Times New Roman"/>
              </a:rPr>
              <a:t>What is HTML?</a:t>
            </a:r>
            <a:endParaRPr b="1" sz="3600">
              <a:solidFill>
                <a:srgbClr val="600000"/>
              </a:solidFill>
              <a:latin typeface="Times New Roman"/>
              <a:ea typeface="Times New Roman"/>
              <a:cs typeface="Times New Roman"/>
              <a:sym typeface="Times New Roman"/>
            </a:endParaRPr>
          </a:p>
        </p:txBody>
      </p:sp>
      <p:pic>
        <p:nvPicPr>
          <p:cNvPr descr="C:\Users\GANGA\Desktop\download.jpg" id="108" name="Google Shape;108;p2"/>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109" name="Google Shape;109;p2"/>
          <p:cNvSpPr/>
          <p:nvPr/>
        </p:nvSpPr>
        <p:spPr>
          <a:xfrm>
            <a:off x="0" y="0"/>
            <a:ext cx="587700" cy="61947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0" name="Google Shape;110;p2"/>
          <p:cNvSpPr/>
          <p:nvPr/>
        </p:nvSpPr>
        <p:spPr>
          <a:xfrm>
            <a:off x="586853" y="0"/>
            <a:ext cx="183300" cy="5421000"/>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1" name="Google Shape;111;p2"/>
          <p:cNvSpPr txBox="1"/>
          <p:nvPr/>
        </p:nvSpPr>
        <p:spPr>
          <a:xfrm>
            <a:off x="818866" y="914400"/>
            <a:ext cx="11136600" cy="5795400"/>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457200" lvl="0" marL="457200" marR="0" rtl="0" algn="just">
              <a:lnSpc>
                <a:spcPct val="15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New Roman"/>
                <a:ea typeface="Times New Roman"/>
                <a:cs typeface="Times New Roman"/>
                <a:sym typeface="Times New Roman"/>
              </a:rPr>
              <a:t>HTML stands for Hyper Text Markup Language.</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New Roman"/>
                <a:ea typeface="Times New Roman"/>
                <a:cs typeface="Times New Roman"/>
                <a:sym typeface="Times New Roman"/>
              </a:rPr>
              <a:t>HTML is the standard markup language for creating Web pages.</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New Roman"/>
                <a:ea typeface="Times New Roman"/>
                <a:cs typeface="Times New Roman"/>
                <a:sym typeface="Times New Roman"/>
              </a:rPr>
              <a:t>HTML elements are the building blocks of HTML pages.</a:t>
            </a:r>
            <a:endParaRPr b="0" i="0" sz="1400" u="none" cap="none" strike="noStrike">
              <a:solidFill>
                <a:srgbClr val="000000"/>
              </a:solidFill>
              <a:latin typeface="Arial"/>
              <a:ea typeface="Arial"/>
              <a:cs typeface="Arial"/>
              <a:sym typeface="Arial"/>
            </a:endParaRPr>
          </a:p>
          <a:p>
            <a:pPr indent="-457200" lvl="0" marL="457200" marR="0" rtl="0" algn="l">
              <a:lnSpc>
                <a:spcPct val="15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New Roman"/>
                <a:ea typeface="Times New Roman"/>
                <a:cs typeface="Times New Roman"/>
                <a:sym typeface="Times New Roman"/>
              </a:rPr>
              <a:t>The HTML </a:t>
            </a:r>
            <a:r>
              <a:rPr b="1" i="0" lang="en-US" sz="2800" u="none" cap="none" strike="noStrike">
                <a:solidFill>
                  <a:srgbClr val="071D01"/>
                </a:solidFill>
                <a:latin typeface="Times New Roman"/>
                <a:ea typeface="Times New Roman"/>
                <a:cs typeface="Times New Roman"/>
                <a:sym typeface="Times New Roman"/>
              </a:rPr>
              <a:t>element</a:t>
            </a:r>
            <a:r>
              <a:rPr b="0" i="0" lang="en-US" sz="2800" u="none" cap="none" strike="noStrike">
                <a:solidFill>
                  <a:srgbClr val="071D01"/>
                </a:solidFill>
                <a:latin typeface="Times New Roman"/>
                <a:ea typeface="Times New Roman"/>
                <a:cs typeface="Times New Roman"/>
                <a:sym typeface="Times New Roman"/>
              </a:rPr>
              <a:t> is everything from the start tag to the end tag:</a:t>
            </a:r>
            <a:endParaRPr b="0" i="0" sz="1400" u="none" cap="none" strike="noStrike">
              <a:solidFill>
                <a:srgbClr val="000000"/>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2800"/>
              <a:buFont typeface="Arial"/>
              <a:buNone/>
            </a:pPr>
            <a:r>
              <a:rPr b="0" i="0" lang="en-US" sz="2800" u="none" cap="none" strike="noStrike">
                <a:solidFill>
                  <a:srgbClr val="071D01"/>
                </a:solidFill>
                <a:latin typeface="Times New Roman"/>
                <a:ea typeface="Times New Roman"/>
                <a:cs typeface="Times New Roman"/>
                <a:sym typeface="Times New Roman"/>
              </a:rPr>
              <a:t>			</a:t>
            </a:r>
            <a:r>
              <a:rPr b="1" i="0" lang="en-US" sz="2800" u="none" cap="none" strike="noStrike">
                <a:solidFill>
                  <a:srgbClr val="600000"/>
                </a:solidFill>
                <a:latin typeface="Times New Roman"/>
                <a:ea typeface="Times New Roman"/>
                <a:cs typeface="Times New Roman"/>
                <a:sym typeface="Times New Roman"/>
              </a:rPr>
              <a:t>&lt;h1&gt;My First Heading&lt;/h1&gt;</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New Roman"/>
                <a:ea typeface="Times New Roman"/>
                <a:cs typeface="Times New Roman"/>
                <a:sym typeface="Times New Roman"/>
              </a:rPr>
              <a:t>HTML elements are represented by tags.</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New Roman"/>
                <a:ea typeface="Times New Roman"/>
                <a:cs typeface="Times New Roman"/>
                <a:sym typeface="Times New Roman"/>
              </a:rPr>
              <a:t>Browsers do not display the HTML tags, but use them to render the content of the page.</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nvSpPr>
        <p:spPr>
          <a:xfrm>
            <a:off x="163772" y="204716"/>
            <a:ext cx="11136574"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860000"/>
              </a:buClr>
              <a:buSzPct val="100000"/>
              <a:buFont typeface="Times New Roman"/>
              <a:buNone/>
            </a:pPr>
            <a:r>
              <a:rPr b="1" i="0" lang="en-US" sz="3600" u="none" cap="none" strike="noStrike">
                <a:solidFill>
                  <a:srgbClr val="860000"/>
                </a:solidFill>
                <a:latin typeface="Times New Roman"/>
                <a:ea typeface="Times New Roman"/>
                <a:cs typeface="Times New Roman"/>
                <a:sym typeface="Times New Roman"/>
              </a:rPr>
              <a:t>HTML</a:t>
            </a:r>
            <a:endParaRPr b="1" i="0" sz="3600" u="none" cap="none" strike="noStrike">
              <a:solidFill>
                <a:srgbClr val="860000"/>
              </a:solidFill>
              <a:latin typeface="Times New Roman"/>
              <a:ea typeface="Times New Roman"/>
              <a:cs typeface="Times New Roman"/>
              <a:sym typeface="Times New Roman"/>
            </a:endParaRPr>
          </a:p>
        </p:txBody>
      </p:sp>
      <p:sp>
        <p:nvSpPr>
          <p:cNvPr id="117" name="Google Shape;117;p4"/>
          <p:cNvSpPr txBox="1"/>
          <p:nvPr/>
        </p:nvSpPr>
        <p:spPr>
          <a:xfrm>
            <a:off x="316172" y="1017733"/>
            <a:ext cx="11122800" cy="5073900"/>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92500"/>
          </a:bodyPr>
          <a:lstStyle/>
          <a:p>
            <a:pPr indent="-443865" lvl="0" marL="457200" marR="0" rtl="0" algn="just">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&lt;!DOCTYPE html&gt; declaration defines this document to be HTML5.</a:t>
            </a:r>
            <a:endParaRPr b="0" i="0" sz="2800" u="none" cap="none" strike="noStrike">
              <a:solidFill>
                <a:srgbClr val="003300"/>
              </a:solidFill>
              <a:latin typeface="Times New Roman"/>
              <a:ea typeface="Times New Roman"/>
              <a:cs typeface="Times New Roman"/>
              <a:sym typeface="Times New Roman"/>
            </a:endParaRPr>
          </a:p>
          <a:p>
            <a:pPr indent="-443865" lvl="0" marL="457200" marR="0" rtl="0" algn="just">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&lt;html&gt; element is the root element of an HTML page.</a:t>
            </a:r>
            <a:endParaRPr b="0" i="0" sz="2800" u="none" cap="none" strike="noStrike">
              <a:solidFill>
                <a:srgbClr val="003300"/>
              </a:solidFill>
              <a:latin typeface="Times New Roman"/>
              <a:ea typeface="Times New Roman"/>
              <a:cs typeface="Times New Roman"/>
              <a:sym typeface="Times New Roman"/>
            </a:endParaRPr>
          </a:p>
          <a:p>
            <a:pPr indent="-443865" lvl="0" marL="457200" marR="0" rtl="0" algn="just">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&lt;head&gt; element contains meta information about the document.</a:t>
            </a:r>
            <a:endParaRPr b="0" i="0" sz="2800" u="none" cap="none" strike="noStrike">
              <a:solidFill>
                <a:srgbClr val="003300"/>
              </a:solidFill>
              <a:latin typeface="Times New Roman"/>
              <a:ea typeface="Times New Roman"/>
              <a:cs typeface="Times New Roman"/>
              <a:sym typeface="Times New Roman"/>
            </a:endParaRPr>
          </a:p>
          <a:p>
            <a:pPr indent="-443865" lvl="0" marL="457200" marR="0" rtl="0" algn="just">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&lt;title&gt; element specifies a title for the document.</a:t>
            </a:r>
            <a:endParaRPr b="0" i="0" sz="2800" u="none" cap="none" strike="noStrike">
              <a:solidFill>
                <a:srgbClr val="003300"/>
              </a:solidFill>
              <a:latin typeface="Times New Roman"/>
              <a:ea typeface="Times New Roman"/>
              <a:cs typeface="Times New Roman"/>
              <a:sym typeface="Times New Roman"/>
            </a:endParaRPr>
          </a:p>
          <a:p>
            <a:pPr indent="-443865" lvl="0" marL="457200" marR="0" rtl="0" algn="just">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&lt;body&gt; element contains the visible page content.</a:t>
            </a:r>
            <a:endParaRPr b="0" i="0" sz="2800" u="none" cap="none" strike="noStrike">
              <a:solidFill>
                <a:srgbClr val="003300"/>
              </a:solidFill>
              <a:latin typeface="Times New Roman"/>
              <a:ea typeface="Times New Roman"/>
              <a:cs typeface="Times New Roman"/>
              <a:sym typeface="Times New Roman"/>
            </a:endParaRPr>
          </a:p>
          <a:p>
            <a:pPr indent="-443865" lvl="0" marL="457200" marR="0" rtl="0" algn="just">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&lt;h1&gt; element defines a large heading.</a:t>
            </a:r>
            <a:endParaRPr b="0" i="0" sz="2800" u="none" cap="none" strike="noStrike">
              <a:solidFill>
                <a:srgbClr val="003300"/>
              </a:solidFill>
              <a:latin typeface="Times New Roman"/>
              <a:ea typeface="Times New Roman"/>
              <a:cs typeface="Times New Roman"/>
              <a:sym typeface="Times New Roman"/>
            </a:endParaRPr>
          </a:p>
          <a:p>
            <a:pPr indent="-443865" lvl="0" marL="457200" marR="0" rtl="0" algn="just">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&lt;p&gt; element defines a paragraph.					</a:t>
            </a:r>
            <a:r>
              <a:rPr b="1" i="0" lang="en-US" sz="2800" u="none" cap="none" strike="noStrike">
                <a:solidFill>
                  <a:srgbClr val="600000"/>
                </a:solidFill>
                <a:latin typeface="Times New Roman"/>
                <a:ea typeface="Times New Roman"/>
                <a:cs typeface="Times New Roman"/>
                <a:sym typeface="Times New Roman"/>
              </a:rPr>
              <a:t>.html / .htm</a:t>
            </a:r>
            <a:endParaRPr b="1" i="0" sz="2800" u="none" cap="none" strike="noStrike">
              <a:solidFill>
                <a:srgbClr val="600000"/>
              </a:solidFill>
              <a:latin typeface="Times New Roman"/>
              <a:ea typeface="Times New Roman"/>
              <a:cs typeface="Times New Roman"/>
              <a:sym typeface="Times New Roman"/>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18" name="Google Shape;118;p4"/>
          <p:cNvSpPr/>
          <p:nvPr/>
        </p:nvSpPr>
        <p:spPr>
          <a:xfrm>
            <a:off x="11640677" y="21020"/>
            <a:ext cx="714300" cy="68580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119" name="Google Shape;119;p4"/>
          <p:cNvPicPr preferRelativeResize="0"/>
          <p:nvPr/>
        </p:nvPicPr>
        <p:blipFill rotWithShape="1">
          <a:blip r:embed="rId3">
            <a:alphaModFix/>
          </a:blip>
          <a:srcRect b="0" l="0" r="0" t="0"/>
          <a:stretch/>
        </p:blipFill>
        <p:spPr>
          <a:xfrm>
            <a:off x="163772" y="6209730"/>
            <a:ext cx="778199" cy="593679"/>
          </a:xfrm>
          <a:prstGeom prst="rect">
            <a:avLst/>
          </a:prstGeom>
          <a:noFill/>
          <a:ln cap="flat" cmpd="sng" w="9525">
            <a:solidFill>
              <a:srgbClr val="860000"/>
            </a:solidFill>
            <a:prstDash val="solid"/>
            <a:round/>
            <a:headEnd len="sm" w="sm" type="none"/>
            <a:tailEnd len="sm" w="sm" type="none"/>
          </a:ln>
        </p:spPr>
      </p:pic>
      <p:sp>
        <p:nvSpPr>
          <p:cNvPr id="120" name="Google Shape;120;p4"/>
          <p:cNvSpPr/>
          <p:nvPr/>
        </p:nvSpPr>
        <p:spPr>
          <a:xfrm>
            <a:off x="3346973" y="6209731"/>
            <a:ext cx="8144442" cy="648269"/>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 name="Google Shape;121;p4"/>
          <p:cNvSpPr/>
          <p:nvPr/>
        </p:nvSpPr>
        <p:spPr>
          <a:xfrm>
            <a:off x="2646389" y="6209730"/>
            <a:ext cx="700584" cy="64827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5"/>
          <p:cNvSpPr txBox="1"/>
          <p:nvPr/>
        </p:nvSpPr>
        <p:spPr>
          <a:xfrm>
            <a:off x="11" y="68799"/>
            <a:ext cx="11123400" cy="660600"/>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0" i="0" lang="en-US" sz="3600" u="none" cap="none" strike="noStrike">
                <a:solidFill>
                  <a:srgbClr val="600000"/>
                </a:solidFill>
                <a:latin typeface="Times New Roman"/>
                <a:ea typeface="Times New Roman"/>
                <a:cs typeface="Times New Roman"/>
                <a:sym typeface="Times New Roman"/>
              </a:rPr>
              <a:t>HTML Tags</a:t>
            </a:r>
            <a:endParaRPr b="1" i="0" sz="3600" u="none" cap="none" strike="noStrike">
              <a:solidFill>
                <a:srgbClr val="600000"/>
              </a:solidFill>
              <a:latin typeface="Times New Roman"/>
              <a:ea typeface="Times New Roman"/>
              <a:cs typeface="Times New Roman"/>
              <a:sym typeface="Times New Roman"/>
            </a:endParaRPr>
          </a:p>
        </p:txBody>
      </p:sp>
      <p:sp>
        <p:nvSpPr>
          <p:cNvPr id="127" name="Google Shape;127;p5"/>
          <p:cNvSpPr txBox="1"/>
          <p:nvPr/>
        </p:nvSpPr>
        <p:spPr>
          <a:xfrm>
            <a:off x="68236" y="811369"/>
            <a:ext cx="12012147" cy="546660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457200" lvl="0" marL="457200" marR="0" rtl="0" algn="just">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HTML tags are element names surrounded by angle brackets:</a:t>
            </a:r>
            <a:endParaRPr b="0" i="0" sz="1400" u="none" cap="none" strike="noStrike">
              <a:solidFill>
                <a:srgbClr val="000000"/>
              </a:solidFill>
              <a:latin typeface="Arial"/>
              <a:ea typeface="Arial"/>
              <a:cs typeface="Arial"/>
              <a:sym typeface="Arial"/>
            </a:endParaRPr>
          </a:p>
          <a:p>
            <a:pPr indent="-292735" lvl="0" marL="457200" marR="0" rtl="0" algn="just">
              <a:lnSpc>
                <a:spcPct val="150000"/>
              </a:lnSpc>
              <a:spcBef>
                <a:spcPts val="0"/>
              </a:spcBef>
              <a:spcAft>
                <a:spcPts val="0"/>
              </a:spcAft>
              <a:buClr>
                <a:schemeClr val="dk1"/>
              </a:buClr>
              <a:buSzPct val="100000"/>
              <a:buFont typeface="Noto Sans Symbols"/>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a:t>
            </a:r>
            <a:r>
              <a:rPr b="1" i="0" lang="en-US" sz="2800" u="none" cap="none" strike="noStrike">
                <a:solidFill>
                  <a:srgbClr val="600000"/>
                </a:solidFill>
                <a:latin typeface="Times New Roman"/>
                <a:ea typeface="Times New Roman"/>
                <a:cs typeface="Times New Roman"/>
                <a:sym typeface="Times New Roman"/>
              </a:rPr>
              <a:t>&lt;tagname&gt;content goes here...&lt;/tagname&gt;</a:t>
            </a:r>
            <a:endParaRPr b="0" i="0" sz="1400" u="none" cap="none" strike="noStrike">
              <a:solidFill>
                <a:srgbClr val="000000"/>
              </a:solidFill>
              <a:latin typeface="Arial"/>
              <a:ea typeface="Arial"/>
              <a:cs typeface="Arial"/>
              <a:sym typeface="Arial"/>
            </a:endParaRPr>
          </a:p>
          <a:p>
            <a:pPr indent="-292735" lvl="0" marL="457200" marR="0" rtl="0" algn="just">
              <a:lnSpc>
                <a:spcPct val="150000"/>
              </a:lnSpc>
              <a:spcBef>
                <a:spcPts val="0"/>
              </a:spcBef>
              <a:spcAft>
                <a:spcPts val="0"/>
              </a:spcAft>
              <a:buClr>
                <a:schemeClr val="dk1"/>
              </a:buClr>
              <a:buSzPct val="100000"/>
              <a:buFont typeface="Noto Sans Symbols"/>
              <a:buNone/>
            </a:pPr>
            <a:r>
              <a:t/>
            </a:r>
            <a:endParaRPr b="0" i="0" sz="2800" u="none" cap="none" strike="noStrike">
              <a:solidFill>
                <a:srgbClr val="003300"/>
              </a:solidFill>
              <a:latin typeface="Times New Roman"/>
              <a:ea typeface="Times New Roman"/>
              <a:cs typeface="Times New Roman"/>
              <a:sym typeface="Times New Roman"/>
            </a:endParaRPr>
          </a:p>
          <a:p>
            <a:pPr indent="-457200" lvl="0" marL="457200" marR="0" rtl="0" algn="just">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HTML tags normally come </a:t>
            </a:r>
            <a:r>
              <a:rPr b="1" i="0" lang="en-US" sz="2800" u="none" cap="none" strike="noStrike">
                <a:solidFill>
                  <a:srgbClr val="003300"/>
                </a:solidFill>
                <a:latin typeface="Times New Roman"/>
                <a:ea typeface="Times New Roman"/>
                <a:cs typeface="Times New Roman"/>
                <a:sym typeface="Times New Roman"/>
              </a:rPr>
              <a:t>in pairs</a:t>
            </a:r>
            <a:r>
              <a:rPr b="0" i="0" lang="en-US" sz="2800" u="none" cap="none" strike="noStrike">
                <a:solidFill>
                  <a:srgbClr val="003300"/>
                </a:solidFill>
                <a:latin typeface="Times New Roman"/>
                <a:ea typeface="Times New Roman"/>
                <a:cs typeface="Times New Roman"/>
                <a:sym typeface="Times New Roman"/>
              </a:rPr>
              <a:t> like &lt;p&gt; and &lt;/p&gt;</a:t>
            </a:r>
            <a:endParaRPr b="0" i="0" sz="1400" u="none" cap="none" strike="noStrike">
              <a:solidFill>
                <a:srgbClr val="000000"/>
              </a:solidFill>
              <a:latin typeface="Arial"/>
              <a:ea typeface="Arial"/>
              <a:cs typeface="Arial"/>
              <a:sym typeface="Arial"/>
            </a:endParaRPr>
          </a:p>
          <a:p>
            <a:pPr indent="-292735" lvl="0" marL="457200" marR="0" rtl="0" algn="just">
              <a:lnSpc>
                <a:spcPct val="150000"/>
              </a:lnSpc>
              <a:spcBef>
                <a:spcPts val="0"/>
              </a:spcBef>
              <a:spcAft>
                <a:spcPts val="0"/>
              </a:spcAft>
              <a:buClr>
                <a:schemeClr val="dk1"/>
              </a:buClr>
              <a:buSzPct val="100000"/>
              <a:buFont typeface="Noto Sans Symbols"/>
              <a:buNone/>
            </a:pPr>
            <a:r>
              <a:t/>
            </a:r>
            <a:endParaRPr b="0" i="0" sz="2800" u="none" cap="none" strike="noStrike">
              <a:solidFill>
                <a:srgbClr val="003300"/>
              </a:solidFill>
              <a:latin typeface="Times New Roman"/>
              <a:ea typeface="Times New Roman"/>
              <a:cs typeface="Times New Roman"/>
              <a:sym typeface="Times New Roman"/>
            </a:endParaRPr>
          </a:p>
          <a:p>
            <a:pPr indent="-457200" lvl="0" marL="457200" marR="0" rtl="0" algn="just">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first tag in a pair is the </a:t>
            </a:r>
            <a:r>
              <a:rPr b="1" i="0" lang="en-US" sz="2800" u="none" cap="none" strike="noStrike">
                <a:solidFill>
                  <a:srgbClr val="003300"/>
                </a:solidFill>
                <a:latin typeface="Times New Roman"/>
                <a:ea typeface="Times New Roman"/>
                <a:cs typeface="Times New Roman"/>
                <a:sym typeface="Times New Roman"/>
              </a:rPr>
              <a:t>start tag,</a:t>
            </a:r>
            <a:r>
              <a:rPr b="0" i="0" lang="en-US" sz="2800" u="none" cap="none" strike="noStrike">
                <a:solidFill>
                  <a:srgbClr val="003300"/>
                </a:solidFill>
                <a:latin typeface="Times New Roman"/>
                <a:ea typeface="Times New Roman"/>
                <a:cs typeface="Times New Roman"/>
                <a:sym typeface="Times New Roman"/>
              </a:rPr>
              <a:t> the second tag is the </a:t>
            </a:r>
            <a:r>
              <a:rPr b="1" i="0" lang="en-US" sz="2800" u="none" cap="none" strike="noStrike">
                <a:solidFill>
                  <a:srgbClr val="003300"/>
                </a:solidFill>
                <a:latin typeface="Times New Roman"/>
                <a:ea typeface="Times New Roman"/>
                <a:cs typeface="Times New Roman"/>
                <a:sym typeface="Times New Roman"/>
              </a:rPr>
              <a:t>end tag</a:t>
            </a:r>
            <a:endParaRPr b="0" i="0" sz="1400" u="none" cap="none" strike="noStrike">
              <a:solidFill>
                <a:srgbClr val="000000"/>
              </a:solidFill>
              <a:latin typeface="Arial"/>
              <a:ea typeface="Arial"/>
              <a:cs typeface="Arial"/>
              <a:sym typeface="Arial"/>
            </a:endParaRPr>
          </a:p>
          <a:p>
            <a:pPr indent="-292735" lvl="0" marL="457200" marR="0" rtl="0" algn="just">
              <a:lnSpc>
                <a:spcPct val="150000"/>
              </a:lnSpc>
              <a:spcBef>
                <a:spcPts val="0"/>
              </a:spcBef>
              <a:spcAft>
                <a:spcPts val="0"/>
              </a:spcAft>
              <a:buClr>
                <a:schemeClr val="dk1"/>
              </a:buClr>
              <a:buSzPct val="100000"/>
              <a:buFont typeface="Noto Sans Symbols"/>
              <a:buNone/>
            </a:pPr>
            <a:r>
              <a:t/>
            </a:r>
            <a:endParaRPr b="0" i="0" sz="2800" u="none" cap="none" strike="noStrike">
              <a:solidFill>
                <a:srgbClr val="003300"/>
              </a:solidFill>
              <a:latin typeface="Times New Roman"/>
              <a:ea typeface="Times New Roman"/>
              <a:cs typeface="Times New Roman"/>
              <a:sym typeface="Times New Roman"/>
            </a:endParaRPr>
          </a:p>
          <a:p>
            <a:pPr indent="-457200" lvl="0" marL="457200" marR="0" rtl="0" algn="just">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end tag is written like the start tag, but with a </a:t>
            </a:r>
            <a:r>
              <a:rPr b="1" i="0" lang="en-US" sz="2800" u="none" cap="none" strike="noStrike">
                <a:solidFill>
                  <a:srgbClr val="003300"/>
                </a:solidFill>
                <a:latin typeface="Times New Roman"/>
                <a:ea typeface="Times New Roman"/>
                <a:cs typeface="Times New Roman"/>
                <a:sym typeface="Times New Roman"/>
              </a:rPr>
              <a:t>forward slash</a:t>
            </a:r>
            <a:r>
              <a:rPr b="0" i="0" lang="en-US" sz="2800" u="none" cap="none" strike="noStrike">
                <a:solidFill>
                  <a:srgbClr val="003300"/>
                </a:solidFill>
                <a:latin typeface="Times New Roman"/>
                <a:ea typeface="Times New Roman"/>
                <a:cs typeface="Times New Roman"/>
                <a:sym typeface="Times New Roman"/>
              </a:rPr>
              <a:t> inserted before the tag name</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128" name="Google Shape;128;p5"/>
          <p:cNvPicPr preferRelativeResize="0"/>
          <p:nvPr/>
        </p:nvPicPr>
        <p:blipFill rotWithShape="1">
          <a:blip r:embed="rId3">
            <a:alphaModFix/>
          </a:blip>
          <a:srcRect b="0" l="0" r="0" t="0"/>
          <a:stretch/>
        </p:blipFill>
        <p:spPr>
          <a:xfrm>
            <a:off x="11333408" y="68781"/>
            <a:ext cx="746975" cy="660699"/>
          </a:xfrm>
          <a:prstGeom prst="rect">
            <a:avLst/>
          </a:prstGeom>
          <a:noFill/>
          <a:ln cap="flat" cmpd="sng" w="9525">
            <a:solidFill>
              <a:srgbClr val="860000"/>
            </a:solidFill>
            <a:prstDash val="solid"/>
            <a:round/>
            <a:headEnd len="sm" w="sm" type="none"/>
            <a:tailEnd len="sm" w="sm" type="none"/>
          </a:ln>
        </p:spPr>
      </p:pic>
      <p:sp>
        <p:nvSpPr>
          <p:cNvPr id="129" name="Google Shape;129;p5"/>
          <p:cNvSpPr/>
          <p:nvPr/>
        </p:nvSpPr>
        <p:spPr>
          <a:xfrm>
            <a:off x="0" y="6564573"/>
            <a:ext cx="12192000" cy="293427"/>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 name="Google Shape;130;p5"/>
          <p:cNvSpPr/>
          <p:nvPr/>
        </p:nvSpPr>
        <p:spPr>
          <a:xfrm>
            <a:off x="1" y="6359859"/>
            <a:ext cx="10276764" cy="19335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lang="en-US" sz="3600">
                <a:solidFill>
                  <a:srgbClr val="600000"/>
                </a:solidFill>
                <a:latin typeface="Times New Roman"/>
                <a:ea typeface="Times New Roman"/>
                <a:cs typeface="Times New Roman"/>
                <a:sym typeface="Times New Roman"/>
              </a:rPr>
              <a:t>STURUCTURAL TAGS</a:t>
            </a:r>
            <a:endParaRPr b="1" sz="3600">
              <a:solidFill>
                <a:srgbClr val="600000"/>
              </a:solidFill>
              <a:latin typeface="Times New Roman"/>
              <a:ea typeface="Times New Roman"/>
              <a:cs typeface="Times New Roman"/>
              <a:sym typeface="Times New Roman"/>
            </a:endParaRPr>
          </a:p>
        </p:txBody>
      </p:sp>
      <p:pic>
        <p:nvPicPr>
          <p:cNvPr descr="C:\Users\GANGA\Desktop\download.jpg" id="136" name="Google Shape;136;p6"/>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137" name="Google Shape;137;p6"/>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8" name="Google Shape;138;p6"/>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9" name="Google Shape;139;p6"/>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279400" lvl="0" marL="28575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279400" lvl="0" marL="28575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     </a:t>
            </a:r>
            <a:r>
              <a:rPr b="0" i="0" lang="en-US" sz="2800" u="none" cap="none" strike="noStrike">
                <a:solidFill>
                  <a:srgbClr val="600000"/>
                </a:solidFill>
                <a:latin typeface="Times New Roman"/>
                <a:ea typeface="Times New Roman"/>
                <a:cs typeface="Times New Roman"/>
                <a:sym typeface="Times New Roman"/>
              </a:rPr>
              <a:t>These tags enclose the entire Web page document.</a:t>
            </a:r>
            <a:endParaRPr b="0" i="0" sz="1400" u="none" cap="none" strike="noStrike">
              <a:solidFill>
                <a:srgbClr val="000000"/>
              </a:solidFill>
              <a:latin typeface="Arial"/>
              <a:ea typeface="Arial"/>
              <a:cs typeface="Arial"/>
              <a:sym typeface="Arial"/>
            </a:endParaRPr>
          </a:p>
          <a:p>
            <a:pPr indent="-279400" lvl="0" marL="28575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279400" lvl="0" marL="285750" marR="0" rtl="0" algn="l">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Times New Roman"/>
              <a:ea typeface="Times New Roman"/>
              <a:cs typeface="Times New Roman"/>
              <a:sym typeface="Times New Roman"/>
            </a:endParaRPr>
          </a:p>
          <a:p>
            <a:pPr indent="-279400" lvl="0" marL="28575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&lt;HEAD&gt;</a:t>
            </a:r>
            <a:endParaRPr b="0" i="0" sz="1400" u="none" cap="none" strike="noStrike">
              <a:solidFill>
                <a:srgbClr val="000000"/>
              </a:solidFill>
              <a:latin typeface="Arial"/>
              <a:ea typeface="Arial"/>
              <a:cs typeface="Arial"/>
              <a:sym typeface="Arial"/>
            </a:endParaRPr>
          </a:p>
          <a:p>
            <a:pPr indent="-279400" lvl="0" marL="28575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    </a:t>
            </a:r>
            <a:r>
              <a:rPr b="0" i="0" lang="en-US" sz="2800" u="none" cap="none" strike="noStrike">
                <a:solidFill>
                  <a:srgbClr val="600000"/>
                </a:solidFill>
                <a:latin typeface="Times New Roman"/>
                <a:ea typeface="Times New Roman"/>
                <a:cs typeface="Times New Roman"/>
                <a:sym typeface="Times New Roman"/>
              </a:rPr>
              <a:t>These tags enclose the Head part of the document</a:t>
            </a:r>
            <a:endParaRPr b="0" i="0" sz="1400" u="none" cap="none" strike="noStrike">
              <a:solidFill>
                <a:srgbClr val="000000"/>
              </a:solidFill>
              <a:latin typeface="Arial"/>
              <a:ea typeface="Arial"/>
              <a:cs typeface="Arial"/>
              <a:sym typeface="Arial"/>
            </a:endParaRPr>
          </a:p>
          <a:p>
            <a:pPr indent="-279400" lvl="0" marL="28575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&lt;/HEAD&gt;</a:t>
            </a:r>
            <a:endParaRPr b="0" i="0" sz="1400" u="none" cap="none" strike="noStrike">
              <a:solidFill>
                <a:srgbClr val="000000"/>
              </a:solidFill>
              <a:latin typeface="Arial"/>
              <a:ea typeface="Arial"/>
              <a:cs typeface="Arial"/>
              <a:sym typeface="Arial"/>
            </a:endParaRPr>
          </a:p>
          <a:p>
            <a:pPr indent="-279400" lvl="0" marL="285750" marR="0" rtl="0" algn="l">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Times New Roman"/>
              <a:ea typeface="Times New Roman"/>
              <a:cs typeface="Times New Roman"/>
              <a:sym typeface="Times New Roman"/>
            </a:endParaRPr>
          </a:p>
          <a:p>
            <a:pPr indent="-279400" lvl="0" marL="28575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&lt;TITLE&gt;</a:t>
            </a:r>
            <a:br>
              <a:rPr b="0" i="0" lang="en-US" sz="2800" u="none" cap="none" strike="noStrike">
                <a:solidFill>
                  <a:schemeClr val="dk1"/>
                </a:solidFill>
                <a:latin typeface="Times New Roman"/>
                <a:ea typeface="Times New Roman"/>
                <a:cs typeface="Times New Roman"/>
                <a:sym typeface="Times New Roman"/>
              </a:rPr>
            </a:br>
            <a:r>
              <a:rPr b="0" i="0" lang="en-US" sz="2800" u="none" cap="none" strike="noStrike">
                <a:solidFill>
                  <a:srgbClr val="600000"/>
                </a:solidFill>
                <a:latin typeface="Times New Roman"/>
                <a:ea typeface="Times New Roman"/>
                <a:cs typeface="Times New Roman"/>
                <a:sym typeface="Times New Roman"/>
              </a:rPr>
              <a:t>These tags enclose the title of the document.  This text appears in the title bar in the browser and on the bookmark list if someone bookmarks your web page.</a:t>
            </a:r>
            <a:endParaRPr b="0" i="0" sz="1400" u="none" cap="none" strike="noStrike">
              <a:solidFill>
                <a:srgbClr val="000000"/>
              </a:solidFill>
              <a:latin typeface="Arial"/>
              <a:ea typeface="Arial"/>
              <a:cs typeface="Arial"/>
              <a:sym typeface="Arial"/>
            </a:endParaRPr>
          </a:p>
          <a:p>
            <a:pPr indent="-279400" lvl="0" marL="28575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&lt;/TITLE&gt;</a:t>
            </a:r>
            <a:endParaRPr b="0" i="0" sz="2000" u="none" cap="none" strike="noStrike">
              <a:solidFill>
                <a:schemeClr val="dk1"/>
              </a:solidFill>
              <a:latin typeface="Times New Roman"/>
              <a:ea typeface="Times New Roman"/>
              <a:cs typeface="Times New Roman"/>
              <a:sym typeface="Times New Roman"/>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7"/>
          <p:cNvSpPr txBox="1"/>
          <p:nvPr/>
        </p:nvSpPr>
        <p:spPr>
          <a:xfrm>
            <a:off x="163771" y="204716"/>
            <a:ext cx="11778019"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A SIMPLE HTML Document</a:t>
            </a:r>
            <a:endParaRPr b="1" i="0" sz="3600" u="none" cap="none" strike="noStrike">
              <a:solidFill>
                <a:srgbClr val="600000"/>
              </a:solidFill>
              <a:latin typeface="Times New Roman"/>
              <a:ea typeface="Times New Roman"/>
              <a:cs typeface="Times New Roman"/>
              <a:sym typeface="Times New Roman"/>
            </a:endParaRPr>
          </a:p>
        </p:txBody>
      </p:sp>
      <p:sp>
        <p:nvSpPr>
          <p:cNvPr id="145" name="Google Shape;145;p7"/>
          <p:cNvSpPr txBox="1"/>
          <p:nvPr/>
        </p:nvSpPr>
        <p:spPr>
          <a:xfrm>
            <a:off x="163772" y="979096"/>
            <a:ext cx="11764371" cy="5225185"/>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92500" lnSpcReduction="10000"/>
          </a:bodyPr>
          <a:lstStyle/>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&lt;!DOCTYPE html&gt;</a:t>
            </a:r>
            <a:br>
              <a:rPr b="0" i="0" lang="en-US" sz="2800" u="none" cap="none" strike="noStrike">
                <a:solidFill>
                  <a:srgbClr val="003300"/>
                </a:solidFill>
                <a:latin typeface="Times New Roman"/>
                <a:ea typeface="Times New Roman"/>
                <a:cs typeface="Times New Roman"/>
                <a:sym typeface="Times New Roman"/>
              </a:rPr>
            </a:br>
            <a:r>
              <a:rPr b="0" i="0" lang="en-US" sz="2800" u="none" cap="none" strike="noStrike">
                <a:solidFill>
                  <a:srgbClr val="003300"/>
                </a:solidFill>
                <a:latin typeface="Times New Roman"/>
                <a:ea typeface="Times New Roman"/>
                <a:cs typeface="Times New Roman"/>
                <a:sym typeface="Times New Roman"/>
              </a:rPr>
              <a:t>		&lt;html&gt;</a:t>
            </a:r>
            <a:br>
              <a:rPr b="0" i="0" lang="en-US" sz="2800" u="none" cap="none" strike="noStrike">
                <a:solidFill>
                  <a:srgbClr val="003300"/>
                </a:solidFill>
                <a:latin typeface="Times New Roman"/>
                <a:ea typeface="Times New Roman"/>
                <a:cs typeface="Times New Roman"/>
                <a:sym typeface="Times New Roman"/>
              </a:rPr>
            </a:br>
            <a:r>
              <a:rPr b="0" i="0" lang="en-US" sz="2800" u="none" cap="none" strike="noStrike">
                <a:solidFill>
                  <a:srgbClr val="003300"/>
                </a:solidFill>
                <a:latin typeface="Times New Roman"/>
                <a:ea typeface="Times New Roman"/>
                <a:cs typeface="Times New Roman"/>
                <a:sym typeface="Times New Roman"/>
              </a:rPr>
              <a:t>			&lt;head&gt;</a:t>
            </a:r>
            <a:br>
              <a:rPr b="0" i="0" lang="en-US" sz="2800" u="none" cap="none" strike="noStrike">
                <a:solidFill>
                  <a:srgbClr val="003300"/>
                </a:solidFill>
                <a:latin typeface="Times New Roman"/>
                <a:ea typeface="Times New Roman"/>
                <a:cs typeface="Times New Roman"/>
                <a:sym typeface="Times New Roman"/>
              </a:rPr>
            </a:br>
            <a:r>
              <a:rPr b="0" i="0" lang="en-US" sz="2800" u="none" cap="none" strike="noStrike">
                <a:solidFill>
                  <a:srgbClr val="003300"/>
                </a:solidFill>
                <a:latin typeface="Times New Roman"/>
                <a:ea typeface="Times New Roman"/>
                <a:cs typeface="Times New Roman"/>
                <a:sym typeface="Times New Roman"/>
              </a:rPr>
              <a:t>				&lt;title&gt;First Program&lt;/title&gt;</a:t>
            </a:r>
            <a:br>
              <a:rPr b="0" i="0" lang="en-US" sz="2800" u="none" cap="none" strike="noStrike">
                <a:solidFill>
                  <a:srgbClr val="003300"/>
                </a:solidFill>
                <a:latin typeface="Times New Roman"/>
                <a:ea typeface="Times New Roman"/>
                <a:cs typeface="Times New Roman"/>
                <a:sym typeface="Times New Roman"/>
              </a:rPr>
            </a:br>
            <a:r>
              <a:rPr b="0" i="0" lang="en-US" sz="2800" u="none" cap="none" strike="noStrike">
                <a:solidFill>
                  <a:srgbClr val="003300"/>
                </a:solidFill>
                <a:latin typeface="Times New Roman"/>
                <a:ea typeface="Times New Roman"/>
                <a:cs typeface="Times New Roman"/>
                <a:sym typeface="Times New Roman"/>
              </a:rPr>
              <a:t>			&lt;/head&gt;	</a:t>
            </a:r>
            <a:br>
              <a:rPr b="0" i="0" lang="en-US" sz="2800" u="none" cap="none" strike="noStrike">
                <a:solidFill>
                  <a:srgbClr val="003300"/>
                </a:solidFill>
                <a:latin typeface="Times New Roman"/>
                <a:ea typeface="Times New Roman"/>
                <a:cs typeface="Times New Roman"/>
                <a:sym typeface="Times New Roman"/>
              </a:rPr>
            </a:br>
            <a:r>
              <a:rPr b="0" i="0" lang="en-US" sz="2800" u="none" cap="none" strike="noStrike">
                <a:solidFill>
                  <a:srgbClr val="003300"/>
                </a:solidFill>
                <a:latin typeface="Times New Roman"/>
                <a:ea typeface="Times New Roman"/>
                <a:cs typeface="Times New Roman"/>
                <a:sym typeface="Times New Roman"/>
              </a:rPr>
              <a:t>		&lt;body&gt;</a:t>
            </a:r>
            <a:br>
              <a:rPr b="0" i="0" lang="en-US" sz="2800" u="none" cap="none" strike="noStrike">
                <a:solidFill>
                  <a:srgbClr val="003300"/>
                </a:solidFill>
                <a:latin typeface="Times New Roman"/>
                <a:ea typeface="Times New Roman"/>
                <a:cs typeface="Times New Roman"/>
                <a:sym typeface="Times New Roman"/>
              </a:rPr>
            </a:br>
            <a:br>
              <a:rPr b="0" i="0" lang="en-US" sz="2800" u="none" cap="none" strike="noStrike">
                <a:solidFill>
                  <a:srgbClr val="003300"/>
                </a:solidFill>
                <a:latin typeface="Times New Roman"/>
                <a:ea typeface="Times New Roman"/>
                <a:cs typeface="Times New Roman"/>
                <a:sym typeface="Times New Roman"/>
              </a:rPr>
            </a:br>
            <a:r>
              <a:rPr b="0" i="0" lang="en-US" sz="2800" u="none" cap="none" strike="noStrike">
                <a:solidFill>
                  <a:srgbClr val="003300"/>
                </a:solidFill>
                <a:latin typeface="Times New Roman"/>
                <a:ea typeface="Times New Roman"/>
                <a:cs typeface="Times New Roman"/>
                <a:sym typeface="Times New Roman"/>
              </a:rPr>
              <a:t>			&lt;h1&gt;My First Heading&lt;/h1&gt;</a:t>
            </a:r>
            <a:br>
              <a:rPr b="0" i="0" lang="en-US" sz="2800" u="none" cap="none" strike="noStrike">
                <a:solidFill>
                  <a:srgbClr val="003300"/>
                </a:solidFill>
                <a:latin typeface="Times New Roman"/>
                <a:ea typeface="Times New Roman"/>
                <a:cs typeface="Times New Roman"/>
                <a:sym typeface="Times New Roman"/>
              </a:rPr>
            </a:br>
            <a:r>
              <a:rPr b="0" i="0" lang="en-US" sz="2800" u="none" cap="none" strike="noStrike">
                <a:solidFill>
                  <a:srgbClr val="003300"/>
                </a:solidFill>
                <a:latin typeface="Times New Roman"/>
                <a:ea typeface="Times New Roman"/>
                <a:cs typeface="Times New Roman"/>
                <a:sym typeface="Times New Roman"/>
              </a:rPr>
              <a:t>			&lt;p&gt;My first paragraph.&lt;/p&gt;</a:t>
            </a:r>
            <a:br>
              <a:rPr b="0" i="0" lang="en-US" sz="2800" u="none" cap="none" strike="noStrike">
                <a:solidFill>
                  <a:srgbClr val="003300"/>
                </a:solidFill>
                <a:latin typeface="Times New Roman"/>
                <a:ea typeface="Times New Roman"/>
                <a:cs typeface="Times New Roman"/>
                <a:sym typeface="Times New Roman"/>
              </a:rPr>
            </a:br>
            <a:br>
              <a:rPr b="0" i="0" lang="en-US" sz="2800" u="none" cap="none" strike="noStrike">
                <a:solidFill>
                  <a:srgbClr val="003300"/>
                </a:solidFill>
                <a:latin typeface="Times New Roman"/>
                <a:ea typeface="Times New Roman"/>
                <a:cs typeface="Times New Roman"/>
                <a:sym typeface="Times New Roman"/>
              </a:rPr>
            </a:br>
            <a:r>
              <a:rPr b="0" i="0" lang="en-US" sz="2800" u="none" cap="none" strike="noStrike">
                <a:solidFill>
                  <a:srgbClr val="003300"/>
                </a:solidFill>
                <a:latin typeface="Times New Roman"/>
                <a:ea typeface="Times New Roman"/>
                <a:cs typeface="Times New Roman"/>
                <a:sym typeface="Times New Roman"/>
              </a:rPr>
              <a:t>			&lt;/body&gt;</a:t>
            </a:r>
            <a:br>
              <a:rPr b="0" i="0" lang="en-US" sz="2800" u="none" cap="none" strike="noStrike">
                <a:solidFill>
                  <a:srgbClr val="003300"/>
                </a:solidFill>
                <a:latin typeface="Times New Roman"/>
                <a:ea typeface="Times New Roman"/>
                <a:cs typeface="Times New Roman"/>
                <a:sym typeface="Times New Roman"/>
              </a:rPr>
            </a:b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Save it as </a:t>
            </a:r>
            <a:r>
              <a:rPr b="0" i="0" lang="en-US" sz="2800" u="sng" cap="none" strike="noStrike">
                <a:solidFill>
                  <a:srgbClr val="003300"/>
                </a:solidFill>
                <a:latin typeface="Times New Roman"/>
                <a:ea typeface="Times New Roman"/>
                <a:cs typeface="Times New Roman"/>
                <a:sym typeface="Times New Roman"/>
              </a:rPr>
              <a:t>DEMO</a:t>
            </a:r>
            <a:r>
              <a:rPr b="0" i="0" lang="en-US" sz="2800" u="sng" cap="none" strike="noStrike">
                <a:solidFill>
                  <a:srgbClr val="003300"/>
                </a:solidFill>
                <a:latin typeface="Times New Roman"/>
                <a:ea typeface="Times New Roman"/>
                <a:cs typeface="Times New Roman"/>
                <a:sym typeface="Times New Roman"/>
                <a:hlinkClick r:id="rId3">
                  <a:extLst>
                    <a:ext uri="{A12FA001-AC4F-418D-AE19-62706E023703}">
                      <ahyp:hlinkClr val="tx"/>
                    </a:ext>
                  </a:extLst>
                </a:hlinkClick>
              </a:rPr>
              <a:t>.html</a:t>
            </a:r>
            <a:endParaRPr b="0" i="0" sz="2800" u="none" cap="none" strike="noStrike">
              <a:solidFill>
                <a:srgbClr val="003300"/>
              </a:solidFill>
              <a:latin typeface="Times New Roman"/>
              <a:ea typeface="Times New Roman"/>
              <a:cs typeface="Times New Roman"/>
              <a:sym typeface="Times New Roman"/>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146" name="Google Shape;146;p7"/>
          <p:cNvPicPr preferRelativeResize="0"/>
          <p:nvPr/>
        </p:nvPicPr>
        <p:blipFill rotWithShape="1">
          <a:blip r:embed="rId4">
            <a:alphaModFix/>
          </a:blip>
          <a:srcRect b="0" l="0" r="0" t="0"/>
          <a:stretch/>
        </p:blipFill>
        <p:spPr>
          <a:xfrm>
            <a:off x="11305780" y="6242918"/>
            <a:ext cx="622363" cy="615082"/>
          </a:xfrm>
          <a:prstGeom prst="rect">
            <a:avLst/>
          </a:prstGeom>
          <a:noFill/>
          <a:ln cap="flat" cmpd="sng" w="9525">
            <a:solidFill>
              <a:srgbClr val="860000"/>
            </a:solidFill>
            <a:prstDash val="solid"/>
            <a:round/>
            <a:headEnd len="sm" w="sm" type="none"/>
            <a:tailEnd len="sm" w="sm" type="none"/>
          </a:ln>
        </p:spPr>
      </p:pic>
      <p:sp>
        <p:nvSpPr>
          <p:cNvPr id="147" name="Google Shape;147;p7"/>
          <p:cNvSpPr/>
          <p:nvPr/>
        </p:nvSpPr>
        <p:spPr>
          <a:xfrm>
            <a:off x="0" y="6553209"/>
            <a:ext cx="11305780" cy="304791"/>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8" name="Google Shape;148;p7"/>
          <p:cNvSpPr/>
          <p:nvPr/>
        </p:nvSpPr>
        <p:spPr>
          <a:xfrm>
            <a:off x="1" y="6336406"/>
            <a:ext cx="10683416" cy="216803"/>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49" name="Google Shape;149;p7"/>
          <p:cNvPicPr preferRelativeResize="0"/>
          <p:nvPr/>
        </p:nvPicPr>
        <p:blipFill rotWithShape="1">
          <a:blip r:embed="rId5">
            <a:alphaModFix/>
          </a:blip>
          <a:srcRect b="0" l="0" r="0" t="0"/>
          <a:stretch/>
        </p:blipFill>
        <p:spPr>
          <a:xfrm>
            <a:off x="6863255" y="2763838"/>
            <a:ext cx="3820162" cy="197632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8"/>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b="1" lang="en-US" sz="3600">
                <a:solidFill>
                  <a:srgbClr val="600000"/>
                </a:solidFill>
                <a:latin typeface="Times New Roman"/>
                <a:ea typeface="Times New Roman"/>
                <a:cs typeface="Times New Roman"/>
                <a:sym typeface="Times New Roman"/>
              </a:rPr>
              <a:t>HTML Element Syntax</a:t>
            </a:r>
            <a:endParaRPr/>
          </a:p>
        </p:txBody>
      </p:sp>
      <p:pic>
        <p:nvPicPr>
          <p:cNvPr descr="C:\Users\GANGA\Desktop\download.jpg" id="155" name="Google Shape;155;p8"/>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156" name="Google Shape;156;p8"/>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7" name="Google Shape;157;p8"/>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8" name="Google Shape;158;p8"/>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457200" lvl="0" marL="457200" marR="0" rtl="0" algn="just">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HTML Elements represent semantics, or meaning. </a:t>
            </a:r>
            <a:endParaRPr b="0" i="0" sz="2800" u="none" cap="none" strike="noStrike">
              <a:solidFill>
                <a:srgbClr val="003300"/>
              </a:solidFill>
              <a:latin typeface="Times New Roman"/>
              <a:ea typeface="Times New Roman"/>
              <a:cs typeface="Times New Roman"/>
              <a:sym typeface="Times New Roman"/>
            </a:endParaRPr>
          </a:p>
          <a:p>
            <a:pPr indent="-457200" lvl="0" marL="457200" marR="0" rtl="0" algn="just">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For example, The title element represents the title of the document. </a:t>
            </a:r>
            <a:endParaRPr b="0" i="0" sz="2800" u="none" cap="none" strike="noStrike">
              <a:solidFill>
                <a:srgbClr val="003300"/>
              </a:solidFill>
              <a:latin typeface="Times New Roman"/>
              <a:ea typeface="Times New Roman"/>
              <a:cs typeface="Times New Roman"/>
              <a:sym typeface="Times New Roman"/>
            </a:endParaRPr>
          </a:p>
          <a:p>
            <a:pPr indent="-457200" lvl="0" marL="457200" marR="0" rtl="0" algn="just">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Most HTML elements are written with a </a:t>
            </a:r>
            <a:r>
              <a:rPr b="0" i="1" lang="en-US" sz="2800" u="none" cap="none" strike="noStrike">
                <a:solidFill>
                  <a:srgbClr val="003300"/>
                </a:solidFill>
                <a:latin typeface="Times New Roman"/>
                <a:ea typeface="Times New Roman"/>
                <a:cs typeface="Times New Roman"/>
                <a:sym typeface="Times New Roman"/>
              </a:rPr>
              <a:t>start tag</a:t>
            </a:r>
            <a:r>
              <a:rPr b="0" i="0" lang="en-US" sz="2800" u="none" cap="none" strike="noStrike">
                <a:solidFill>
                  <a:srgbClr val="003300"/>
                </a:solidFill>
                <a:latin typeface="Times New Roman"/>
                <a:ea typeface="Times New Roman"/>
                <a:cs typeface="Times New Roman"/>
                <a:sym typeface="Times New Roman"/>
              </a:rPr>
              <a:t> and an </a:t>
            </a:r>
            <a:r>
              <a:rPr b="0" i="1" lang="en-US" sz="2800" u="none" cap="none" strike="noStrike">
                <a:solidFill>
                  <a:srgbClr val="003300"/>
                </a:solidFill>
                <a:latin typeface="Times New Roman"/>
                <a:ea typeface="Times New Roman"/>
                <a:cs typeface="Times New Roman"/>
                <a:sym typeface="Times New Roman"/>
              </a:rPr>
              <a:t>end tag</a:t>
            </a:r>
            <a:r>
              <a:rPr b="0" i="0" lang="en-US" sz="2800" u="none" cap="none" strike="noStrike">
                <a:solidFill>
                  <a:srgbClr val="003300"/>
                </a:solidFill>
                <a:latin typeface="Times New Roman"/>
                <a:ea typeface="Times New Roman"/>
                <a:cs typeface="Times New Roman"/>
                <a:sym typeface="Times New Roman"/>
              </a:rPr>
              <a:t>  with the content in between.</a:t>
            </a:r>
            <a:endParaRPr b="0" i="0" sz="1400" u="none" cap="none" strike="noStrike">
              <a:solidFill>
                <a:srgbClr val="000000"/>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a:t>
            </a:r>
            <a:r>
              <a:rPr b="1" i="0" lang="en-US" sz="2800" u="none" cap="none" strike="noStrike">
                <a:solidFill>
                  <a:srgbClr val="600000"/>
                </a:solidFill>
                <a:latin typeface="Times New Roman"/>
                <a:ea typeface="Times New Roman"/>
                <a:cs typeface="Times New Roman"/>
                <a:sym typeface="Times New Roman"/>
              </a:rPr>
              <a:t>&lt;tagname&gt;Content goes here...&lt;/tagname&gt;</a:t>
            </a:r>
            <a:endParaRPr b="1" i="0" sz="2800" u="none" cap="none" strike="noStrike">
              <a:solidFill>
                <a:srgbClr val="600000"/>
              </a:solidFill>
              <a:latin typeface="Times New Roman"/>
              <a:ea typeface="Times New Roman"/>
              <a:cs typeface="Times New Roman"/>
              <a:sym typeface="Times New Roman"/>
            </a:endParaRPr>
          </a:p>
          <a:p>
            <a:pPr indent="-279400" lvl="0" marL="457200" marR="0" rtl="0" algn="just">
              <a:lnSpc>
                <a:spcPct val="150000"/>
              </a:lnSpc>
              <a:spcBef>
                <a:spcPts val="0"/>
              </a:spcBef>
              <a:spcAft>
                <a:spcPts val="0"/>
              </a:spcAft>
              <a:buClr>
                <a:schemeClr val="dk1"/>
              </a:buClr>
              <a:buSzPts val="2800"/>
              <a:buFont typeface="Noto Sans Symbols"/>
              <a:buNone/>
            </a:pPr>
            <a:r>
              <a:t/>
            </a:r>
            <a:endParaRPr b="0" i="0" sz="2800" u="none" cap="none" strike="noStrike">
              <a:solidFill>
                <a:srgbClr val="003300"/>
              </a:solidFill>
              <a:latin typeface="Times New Roman"/>
              <a:ea typeface="Times New Roman"/>
              <a:cs typeface="Times New Roman"/>
              <a:sym typeface="Times New Roman"/>
            </a:endParaRPr>
          </a:p>
          <a:p>
            <a:pPr indent="-457200" lvl="0" marL="457200" marR="0" rtl="0" algn="just">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Elements can also contain </a:t>
            </a:r>
            <a:r>
              <a:rPr b="1" i="0" lang="en-US" sz="2800" u="none" cap="none" strike="noStrike">
                <a:solidFill>
                  <a:srgbClr val="600000"/>
                </a:solidFill>
                <a:latin typeface="Times New Roman"/>
                <a:ea typeface="Times New Roman"/>
                <a:cs typeface="Times New Roman"/>
                <a:sym typeface="Times New Roman"/>
              </a:rPr>
              <a:t>attributes</a:t>
            </a:r>
            <a:r>
              <a:rPr b="0" i="0" lang="en-US" sz="2800" u="none" cap="none" strike="noStrike">
                <a:solidFill>
                  <a:srgbClr val="003300"/>
                </a:solidFill>
                <a:latin typeface="Times New Roman"/>
                <a:ea typeface="Times New Roman"/>
                <a:cs typeface="Times New Roman"/>
                <a:sym typeface="Times New Roman"/>
              </a:rPr>
              <a:t> that define additional properties of an element</a:t>
            </a:r>
            <a:endParaRPr b="0" i="0" sz="2800" u="none" cap="none" strike="noStrike">
              <a:solidFill>
                <a:srgbClr val="0033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9"/>
          <p:cNvSpPr txBox="1"/>
          <p:nvPr/>
        </p:nvSpPr>
        <p:spPr>
          <a:xfrm>
            <a:off x="163772" y="204716"/>
            <a:ext cx="10781732"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Empty HTML Elements</a:t>
            </a:r>
            <a:endParaRPr b="1" i="0" sz="3600" u="none" cap="none" strike="noStrike">
              <a:solidFill>
                <a:srgbClr val="600000"/>
              </a:solidFill>
              <a:latin typeface="Times New Roman"/>
              <a:ea typeface="Times New Roman"/>
              <a:cs typeface="Times New Roman"/>
              <a:sym typeface="Times New Roman"/>
            </a:endParaRPr>
          </a:p>
        </p:txBody>
      </p:sp>
      <p:sp>
        <p:nvSpPr>
          <p:cNvPr id="164" name="Google Shape;164;p9"/>
          <p:cNvSpPr txBox="1"/>
          <p:nvPr/>
        </p:nvSpPr>
        <p:spPr>
          <a:xfrm>
            <a:off x="163772" y="1017732"/>
            <a:ext cx="10781731" cy="6024199"/>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25000" lnSpcReduction="20000"/>
          </a:bodyPr>
          <a:lstStyle/>
          <a:p>
            <a:pPr indent="-457200" lvl="0" marL="457200" marR="0" rtl="0" algn="just">
              <a:lnSpc>
                <a:spcPct val="150000"/>
              </a:lnSpc>
              <a:spcBef>
                <a:spcPts val="0"/>
              </a:spcBef>
              <a:spcAft>
                <a:spcPts val="0"/>
              </a:spcAft>
              <a:buClr>
                <a:srgbClr val="003300"/>
              </a:buClr>
              <a:buSzPct val="200000"/>
              <a:buFont typeface="Noto Sans Symbols"/>
              <a:buChar char="⮚"/>
            </a:pPr>
            <a:r>
              <a:rPr b="0" i="0" lang="en-US" sz="5600" u="none" cap="none" strike="noStrike">
                <a:solidFill>
                  <a:srgbClr val="003300"/>
                </a:solidFill>
                <a:latin typeface="Times New Roman"/>
                <a:ea typeface="Times New Roman"/>
                <a:cs typeface="Times New Roman"/>
                <a:sym typeface="Times New Roman"/>
              </a:rPr>
              <a:t>Empty elements (also called </a:t>
            </a:r>
            <a:r>
              <a:rPr b="1" i="0" lang="en-US" sz="5600" u="none" cap="none" strike="noStrike">
                <a:solidFill>
                  <a:srgbClr val="600000"/>
                </a:solidFill>
                <a:latin typeface="Times New Roman"/>
                <a:ea typeface="Times New Roman"/>
                <a:cs typeface="Times New Roman"/>
                <a:sym typeface="Times New Roman"/>
              </a:rPr>
              <a:t>self-closing or void elements</a:t>
            </a:r>
            <a:r>
              <a:rPr b="0" i="0" lang="en-US" sz="5600" u="none" cap="none" strike="noStrike">
                <a:solidFill>
                  <a:srgbClr val="003300"/>
                </a:solidFill>
                <a:latin typeface="Times New Roman"/>
                <a:ea typeface="Times New Roman"/>
                <a:cs typeface="Times New Roman"/>
                <a:sym typeface="Times New Roman"/>
              </a:rPr>
              <a:t>) are not container tags — that means, you can not write </a:t>
            </a:r>
            <a:endParaRPr b="0" i="0" sz="5600" u="none" cap="none" strike="noStrike">
              <a:solidFill>
                <a:srgbClr val="000000"/>
              </a:solidFill>
              <a:latin typeface="Arial"/>
              <a:ea typeface="Arial"/>
              <a:cs typeface="Arial"/>
              <a:sym typeface="Arial"/>
            </a:endParaRPr>
          </a:p>
          <a:p>
            <a:pPr indent="0" lvl="0" marL="0" marR="0" rtl="0" algn="ctr">
              <a:lnSpc>
                <a:spcPct val="150000"/>
              </a:lnSpc>
              <a:spcBef>
                <a:spcPts val="0"/>
              </a:spcBef>
              <a:spcAft>
                <a:spcPts val="0"/>
              </a:spcAft>
              <a:buClr>
                <a:srgbClr val="000000"/>
              </a:buClr>
              <a:buSzPct val="100000"/>
              <a:buFont typeface="Arial"/>
              <a:buNone/>
            </a:pPr>
            <a:r>
              <a:rPr b="1" i="0" lang="en-US" sz="5600" u="none" cap="none" strike="noStrike">
                <a:solidFill>
                  <a:srgbClr val="600000"/>
                </a:solidFill>
                <a:latin typeface="Times New Roman"/>
                <a:ea typeface="Times New Roman"/>
                <a:cs typeface="Times New Roman"/>
                <a:sym typeface="Times New Roman"/>
              </a:rPr>
              <a:t>&lt;hr&gt;</a:t>
            </a:r>
            <a:r>
              <a:rPr b="1" i="1" lang="en-US" sz="5600" u="none" cap="none" strike="noStrike">
                <a:solidFill>
                  <a:srgbClr val="600000"/>
                </a:solidFill>
                <a:latin typeface="Times New Roman"/>
                <a:ea typeface="Times New Roman"/>
                <a:cs typeface="Times New Roman"/>
                <a:sym typeface="Times New Roman"/>
              </a:rPr>
              <a:t>some content</a:t>
            </a:r>
            <a:r>
              <a:rPr b="1" i="0" lang="en-US" sz="5600" u="none" cap="none" strike="noStrike">
                <a:solidFill>
                  <a:srgbClr val="600000"/>
                </a:solidFill>
                <a:latin typeface="Times New Roman"/>
                <a:ea typeface="Times New Roman"/>
                <a:cs typeface="Times New Roman"/>
                <a:sym typeface="Times New Roman"/>
              </a:rPr>
              <a:t>&lt;/hr&gt; </a:t>
            </a:r>
            <a:endParaRPr b="1" i="0" sz="5600" u="none" cap="none" strike="noStrike">
              <a:solidFill>
                <a:srgbClr val="600000"/>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rgbClr val="000000"/>
              </a:buClr>
              <a:buSzPct val="100000"/>
              <a:buFont typeface="Arial"/>
              <a:buNone/>
            </a:pPr>
            <a:r>
              <a:rPr b="1" i="0" lang="en-US" sz="5600" u="none" cap="none" strike="noStrike">
                <a:solidFill>
                  <a:srgbClr val="600000"/>
                </a:solidFill>
                <a:latin typeface="Times New Roman"/>
                <a:ea typeface="Times New Roman"/>
                <a:cs typeface="Times New Roman"/>
                <a:sym typeface="Times New Roman"/>
              </a:rPr>
              <a:t>Or   &lt;br&gt;</a:t>
            </a:r>
            <a:r>
              <a:rPr b="1" i="1" lang="en-US" sz="5600" u="none" cap="none" strike="noStrike">
                <a:solidFill>
                  <a:srgbClr val="600000"/>
                </a:solidFill>
                <a:latin typeface="Times New Roman"/>
                <a:ea typeface="Times New Roman"/>
                <a:cs typeface="Times New Roman"/>
                <a:sym typeface="Times New Roman"/>
              </a:rPr>
              <a:t>some content</a:t>
            </a:r>
            <a:r>
              <a:rPr b="1" i="0" lang="en-US" sz="5600" u="none" cap="none" strike="noStrike">
                <a:solidFill>
                  <a:srgbClr val="600000"/>
                </a:solidFill>
                <a:latin typeface="Times New Roman"/>
                <a:ea typeface="Times New Roman"/>
                <a:cs typeface="Times New Roman"/>
                <a:sym typeface="Times New Roman"/>
              </a:rPr>
              <a:t>&lt;/br&gt;.</a:t>
            </a:r>
            <a:endParaRPr b="0" i="0" sz="56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003300"/>
              </a:buClr>
              <a:buSzPct val="200000"/>
              <a:buFont typeface="Noto Sans Symbols"/>
              <a:buChar char="⮚"/>
            </a:pPr>
            <a:r>
              <a:rPr b="0" i="0" lang="en-US" sz="5600" u="none" cap="none" strike="noStrike">
                <a:solidFill>
                  <a:srgbClr val="003300"/>
                </a:solidFill>
                <a:latin typeface="Times New Roman"/>
                <a:ea typeface="Times New Roman"/>
                <a:cs typeface="Times New Roman"/>
                <a:sym typeface="Times New Roman"/>
              </a:rPr>
              <a:t>A typical example of an empty element, is the </a:t>
            </a:r>
            <a:r>
              <a:rPr b="1" i="0" lang="en-US" sz="5600" u="none" cap="none" strike="noStrike">
                <a:solidFill>
                  <a:srgbClr val="600000"/>
                </a:solidFill>
                <a:latin typeface="Times New Roman"/>
                <a:ea typeface="Times New Roman"/>
                <a:cs typeface="Times New Roman"/>
                <a:sym typeface="Times New Roman"/>
              </a:rPr>
              <a:t>&lt;br&gt;</a:t>
            </a:r>
            <a:r>
              <a:rPr b="0" i="0" lang="en-US" sz="5600" u="none" cap="none" strike="noStrike">
                <a:solidFill>
                  <a:srgbClr val="003300"/>
                </a:solidFill>
                <a:latin typeface="Times New Roman"/>
                <a:ea typeface="Times New Roman"/>
                <a:cs typeface="Times New Roman"/>
                <a:sym typeface="Times New Roman"/>
              </a:rPr>
              <a:t> element, which represents a line break.</a:t>
            </a:r>
            <a:endParaRPr b="0" i="0" sz="5600" u="none" cap="none" strike="noStrike">
              <a:solidFill>
                <a:srgbClr val="000000"/>
              </a:solidFill>
              <a:latin typeface="Arial"/>
              <a:ea typeface="Arial"/>
              <a:cs typeface="Arial"/>
              <a:sym typeface="Arial"/>
            </a:endParaRPr>
          </a:p>
          <a:p>
            <a:pPr indent="0" lvl="0" marL="0" marR="0" rtl="0" algn="ctr">
              <a:lnSpc>
                <a:spcPct val="150000"/>
              </a:lnSpc>
              <a:spcBef>
                <a:spcPts val="0"/>
              </a:spcBef>
              <a:spcAft>
                <a:spcPts val="0"/>
              </a:spcAft>
              <a:buNone/>
            </a:pPr>
            <a:r>
              <a:rPr b="1" i="0" lang="en-US" sz="5600" u="none" cap="none" strike="noStrike">
                <a:solidFill>
                  <a:srgbClr val="600000"/>
                </a:solidFill>
                <a:latin typeface="Times New Roman"/>
                <a:ea typeface="Times New Roman"/>
                <a:cs typeface="Times New Roman"/>
                <a:sym typeface="Times New Roman"/>
              </a:rPr>
              <a:t>&lt;p&gt;This paragraph contains &lt;br&gt; a line break.&lt;/p&gt;</a:t>
            </a:r>
            <a:br>
              <a:rPr b="1" i="0" lang="en-US" sz="5600" u="none" cap="none" strike="noStrike">
                <a:solidFill>
                  <a:srgbClr val="600000"/>
                </a:solidFill>
                <a:latin typeface="Times New Roman"/>
                <a:ea typeface="Times New Roman"/>
                <a:cs typeface="Times New Roman"/>
                <a:sym typeface="Times New Roman"/>
              </a:rPr>
            </a:br>
            <a:endParaRPr b="1" i="0" sz="5600" u="none" cap="none" strike="noStrike">
              <a:solidFill>
                <a:srgbClr val="600000"/>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None/>
            </a:pPr>
            <a:r>
              <a:t/>
            </a:r>
            <a:endParaRPr b="1" i="0" sz="5600" u="none" cap="none" strike="noStrike">
              <a:solidFill>
                <a:srgbClr val="600000"/>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None/>
            </a:pPr>
            <a:r>
              <a:t/>
            </a:r>
            <a:endParaRPr b="1" i="0" sz="5600" u="none" cap="none" strike="noStrike">
              <a:solidFill>
                <a:srgbClr val="600000"/>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None/>
            </a:pPr>
            <a:r>
              <a:t/>
            </a:r>
            <a:endParaRPr b="1" i="0" sz="5600" u="none" cap="none" strike="noStrike">
              <a:solidFill>
                <a:srgbClr val="600000"/>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None/>
            </a:pPr>
            <a:r>
              <a:t/>
            </a:r>
            <a:endParaRPr b="1" i="0" sz="5600" u="none" cap="none" strike="noStrike">
              <a:solidFill>
                <a:srgbClr val="600000"/>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None/>
            </a:pPr>
            <a:r>
              <a:rPr b="1" i="0" lang="en-US" sz="4400" u="none" cap="none" strike="noStrike">
                <a:solidFill>
                  <a:srgbClr val="600000"/>
                </a:solidFill>
                <a:latin typeface="Times New Roman"/>
                <a:ea typeface="Times New Roman"/>
                <a:cs typeface="Times New Roman"/>
                <a:sym typeface="Times New Roman"/>
              </a:rPr>
              <a:t>hr stands for horizantal rule ,it is used to give thematic break</a:t>
            </a:r>
            <a:br>
              <a:rPr b="1" i="0" lang="en-US" sz="4400" u="none" cap="none" strike="noStrike">
                <a:solidFill>
                  <a:srgbClr val="600000"/>
                </a:solidFill>
                <a:latin typeface="Times New Roman"/>
                <a:ea typeface="Times New Roman"/>
                <a:cs typeface="Times New Roman"/>
                <a:sym typeface="Times New Roman"/>
              </a:rPr>
            </a:br>
            <a:r>
              <a:rPr b="1" i="0" lang="en-US" sz="4400" u="none" cap="none" strike="noStrike">
                <a:solidFill>
                  <a:srgbClr val="600000"/>
                </a:solidFill>
                <a:latin typeface="Times New Roman"/>
                <a:ea typeface="Times New Roman"/>
                <a:cs typeface="Times New Roman"/>
                <a:sym typeface="Times New Roman"/>
              </a:rPr>
              <a:t>Example</a:t>
            </a:r>
            <a:br>
              <a:rPr b="1" i="0" lang="en-US" sz="4400" u="none" cap="none" strike="noStrike">
                <a:solidFill>
                  <a:srgbClr val="600000"/>
                </a:solidFill>
                <a:latin typeface="Times New Roman"/>
                <a:ea typeface="Times New Roman"/>
                <a:cs typeface="Times New Roman"/>
                <a:sym typeface="Times New Roman"/>
              </a:rPr>
            </a:br>
            <a:r>
              <a:rPr b="1" i="0" lang="en-US" sz="4400" u="none" cap="none" strike="noStrike">
                <a:solidFill>
                  <a:srgbClr val="600000"/>
                </a:solidFill>
                <a:latin typeface="Times New Roman"/>
                <a:ea typeface="Times New Roman"/>
                <a:cs typeface="Times New Roman"/>
                <a:sym typeface="Times New Roman"/>
              </a:rPr>
              <a:t>&lt;!DOCTYPE html&gt;</a:t>
            </a:r>
            <a:endParaRPr/>
          </a:p>
          <a:p>
            <a:pPr indent="0" lvl="0" marL="0" marR="0" rtl="0" algn="ctr">
              <a:lnSpc>
                <a:spcPct val="150000"/>
              </a:lnSpc>
              <a:spcBef>
                <a:spcPts val="0"/>
              </a:spcBef>
              <a:spcAft>
                <a:spcPts val="0"/>
              </a:spcAft>
              <a:buNone/>
            </a:pPr>
            <a:r>
              <a:rPr b="1" i="0" lang="en-US" sz="4400" u="none" cap="none" strike="noStrike">
                <a:solidFill>
                  <a:srgbClr val="600000"/>
                </a:solidFill>
                <a:latin typeface="Times New Roman"/>
                <a:ea typeface="Times New Roman"/>
                <a:cs typeface="Times New Roman"/>
                <a:sym typeface="Times New Roman"/>
              </a:rPr>
              <a:t>&lt;html&gt;</a:t>
            </a:r>
            <a:endParaRPr/>
          </a:p>
          <a:p>
            <a:pPr indent="0" lvl="0" marL="0" marR="0" rtl="0" algn="ctr">
              <a:lnSpc>
                <a:spcPct val="150000"/>
              </a:lnSpc>
              <a:spcBef>
                <a:spcPts val="0"/>
              </a:spcBef>
              <a:spcAft>
                <a:spcPts val="0"/>
              </a:spcAft>
              <a:buNone/>
            </a:pPr>
            <a:r>
              <a:rPr b="1" i="0" lang="en-US" sz="4400" u="none" cap="none" strike="noStrike">
                <a:solidFill>
                  <a:srgbClr val="600000"/>
                </a:solidFill>
                <a:latin typeface="Times New Roman"/>
                <a:ea typeface="Times New Roman"/>
                <a:cs typeface="Times New Roman"/>
                <a:sym typeface="Times New Roman"/>
              </a:rPr>
              <a:t>&lt;body&gt;</a:t>
            </a:r>
            <a:endParaRPr/>
          </a:p>
          <a:p>
            <a:pPr indent="0" lvl="0" marL="0" marR="0" rtl="0" algn="ctr">
              <a:lnSpc>
                <a:spcPct val="150000"/>
              </a:lnSpc>
              <a:spcBef>
                <a:spcPts val="0"/>
              </a:spcBef>
              <a:spcAft>
                <a:spcPts val="0"/>
              </a:spcAft>
              <a:buNone/>
            </a:pPr>
            <a:r>
              <a:t/>
            </a:r>
            <a:endParaRPr b="1" i="0" sz="4400" u="none" cap="none" strike="noStrike">
              <a:solidFill>
                <a:srgbClr val="600000"/>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None/>
            </a:pPr>
            <a:r>
              <a:rPr b="1" i="0" lang="en-US" sz="4400" u="none" cap="none" strike="noStrike">
                <a:solidFill>
                  <a:srgbClr val="600000"/>
                </a:solidFill>
                <a:latin typeface="Times New Roman"/>
                <a:ea typeface="Times New Roman"/>
                <a:cs typeface="Times New Roman"/>
                <a:sym typeface="Times New Roman"/>
              </a:rPr>
              <a:t>&lt;p&gt;This is some text./p&gt;</a:t>
            </a:r>
            <a:endParaRPr/>
          </a:p>
          <a:p>
            <a:pPr indent="0" lvl="0" marL="0" marR="0" rtl="0" algn="ctr">
              <a:lnSpc>
                <a:spcPct val="150000"/>
              </a:lnSpc>
              <a:spcBef>
                <a:spcPts val="0"/>
              </a:spcBef>
              <a:spcAft>
                <a:spcPts val="0"/>
              </a:spcAft>
              <a:buNone/>
            </a:pPr>
            <a:r>
              <a:t/>
            </a:r>
            <a:endParaRPr b="1" i="0" sz="4400" u="none" cap="none" strike="noStrike">
              <a:solidFill>
                <a:srgbClr val="600000"/>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None/>
            </a:pPr>
            <a:r>
              <a:rPr b="1" i="0" lang="en-US" sz="4400" u="none" cap="none" strike="noStrike">
                <a:solidFill>
                  <a:srgbClr val="600000"/>
                </a:solidFill>
                <a:latin typeface="Times New Roman"/>
                <a:ea typeface="Times New Roman"/>
                <a:cs typeface="Times New Roman"/>
                <a:sym typeface="Times New Roman"/>
              </a:rPr>
              <a:t>&lt;hr style="width:50%;text-align:left;margin-left:0"&gt;</a:t>
            </a:r>
            <a:endParaRPr/>
          </a:p>
          <a:p>
            <a:pPr indent="0" lvl="0" marL="0" marR="0" rtl="0" algn="ctr">
              <a:lnSpc>
                <a:spcPct val="150000"/>
              </a:lnSpc>
              <a:spcBef>
                <a:spcPts val="0"/>
              </a:spcBef>
              <a:spcAft>
                <a:spcPts val="0"/>
              </a:spcAft>
              <a:buNone/>
            </a:pPr>
            <a:r>
              <a:t/>
            </a:r>
            <a:endParaRPr b="1" i="0" sz="4400" u="none" cap="none" strike="noStrike">
              <a:solidFill>
                <a:srgbClr val="600000"/>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None/>
            </a:pPr>
            <a:r>
              <a:rPr b="1" i="0" lang="en-US" sz="4400" u="none" cap="none" strike="noStrike">
                <a:solidFill>
                  <a:srgbClr val="600000"/>
                </a:solidFill>
                <a:latin typeface="Times New Roman"/>
                <a:ea typeface="Times New Roman"/>
                <a:cs typeface="Times New Roman"/>
                <a:sym typeface="Times New Roman"/>
              </a:rPr>
              <a:t>&lt;p&gt;This is some other text.&lt;/p&gt;</a:t>
            </a:r>
            <a:endParaRPr/>
          </a:p>
          <a:p>
            <a:pPr indent="0" lvl="0" marL="0" marR="0" rtl="0" algn="ctr">
              <a:lnSpc>
                <a:spcPct val="150000"/>
              </a:lnSpc>
              <a:spcBef>
                <a:spcPts val="0"/>
              </a:spcBef>
              <a:spcAft>
                <a:spcPts val="0"/>
              </a:spcAft>
              <a:buNone/>
            </a:pPr>
            <a:r>
              <a:rPr b="1" i="0" lang="en-US" sz="4400" u="none" cap="none" strike="noStrike">
                <a:solidFill>
                  <a:srgbClr val="600000"/>
                </a:solidFill>
                <a:latin typeface="Times New Roman"/>
                <a:ea typeface="Times New Roman"/>
                <a:cs typeface="Times New Roman"/>
                <a:sym typeface="Times New Roman"/>
              </a:rPr>
              <a:t>&lt;/body&gt;</a:t>
            </a:r>
            <a:endParaRPr/>
          </a:p>
          <a:p>
            <a:pPr indent="0" lvl="0" marL="0" marR="0" rtl="0" algn="ctr">
              <a:lnSpc>
                <a:spcPct val="150000"/>
              </a:lnSpc>
              <a:spcBef>
                <a:spcPts val="0"/>
              </a:spcBef>
              <a:spcAft>
                <a:spcPts val="0"/>
              </a:spcAft>
              <a:buNone/>
            </a:pPr>
            <a:r>
              <a:rPr b="1" i="0" lang="en-US" sz="4400" u="none" cap="none" strike="noStrike">
                <a:solidFill>
                  <a:srgbClr val="600000"/>
                </a:solidFill>
                <a:latin typeface="Times New Roman"/>
                <a:ea typeface="Times New Roman"/>
                <a:cs typeface="Times New Roman"/>
                <a:sym typeface="Times New Roman"/>
              </a:rPr>
              <a:t>&lt;/html&gt;</a:t>
            </a:r>
            <a:endParaRPr/>
          </a:p>
          <a:p>
            <a:pPr indent="0" lvl="0" marL="0" marR="0" rtl="0" algn="ctr">
              <a:lnSpc>
                <a:spcPct val="150000"/>
              </a:lnSpc>
              <a:spcBef>
                <a:spcPts val="0"/>
              </a:spcBef>
              <a:spcAft>
                <a:spcPts val="0"/>
              </a:spcAft>
              <a:buClr>
                <a:srgbClr val="000000"/>
              </a:buClr>
              <a:buSzPct val="1000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65" name="Google Shape;165;p9"/>
          <p:cNvSpPr/>
          <p:nvPr/>
        </p:nvSpPr>
        <p:spPr>
          <a:xfrm>
            <a:off x="11191167" y="0"/>
            <a:ext cx="259311" cy="551369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 name="Google Shape;166;p9"/>
          <p:cNvSpPr/>
          <p:nvPr/>
        </p:nvSpPr>
        <p:spPr>
          <a:xfrm>
            <a:off x="11450472" y="10510"/>
            <a:ext cx="741528" cy="5882183"/>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167" name="Google Shape;167;p9"/>
          <p:cNvPicPr preferRelativeResize="0"/>
          <p:nvPr/>
        </p:nvPicPr>
        <p:blipFill rotWithShape="1">
          <a:blip r:embed="rId3">
            <a:alphaModFix/>
          </a:blip>
          <a:srcRect b="0" l="0" r="0" t="0"/>
          <a:stretch/>
        </p:blipFill>
        <p:spPr>
          <a:xfrm>
            <a:off x="11191166" y="5915467"/>
            <a:ext cx="1000833" cy="915237"/>
          </a:xfrm>
          <a:prstGeom prst="rect">
            <a:avLst/>
          </a:prstGeom>
          <a:noFill/>
          <a:ln cap="flat" cmpd="sng" w="9525">
            <a:solidFill>
              <a:srgbClr val="860000"/>
            </a:solidFill>
            <a:prstDash val="solid"/>
            <a:round/>
            <a:headEnd len="sm" w="sm" type="none"/>
            <a:tailEnd len="sm" w="sm" type="none"/>
          </a:ln>
        </p:spPr>
      </p:pic>
      <p:pic>
        <p:nvPicPr>
          <p:cNvPr id="168" name="Google Shape;168;p9"/>
          <p:cNvPicPr preferRelativeResize="0"/>
          <p:nvPr/>
        </p:nvPicPr>
        <p:blipFill rotWithShape="1">
          <a:blip r:embed="rId4">
            <a:alphaModFix/>
          </a:blip>
          <a:srcRect b="0" l="0" r="0" t="0"/>
          <a:stretch/>
        </p:blipFill>
        <p:spPr>
          <a:xfrm>
            <a:off x="7288924" y="2501463"/>
            <a:ext cx="3478924" cy="1355910"/>
          </a:xfrm>
          <a:prstGeom prst="rect">
            <a:avLst/>
          </a:prstGeom>
          <a:noFill/>
          <a:ln>
            <a:noFill/>
          </a:ln>
        </p:spPr>
      </p:pic>
      <p:pic>
        <p:nvPicPr>
          <p:cNvPr id="169" name="Google Shape;169;p9"/>
          <p:cNvPicPr preferRelativeResize="0"/>
          <p:nvPr/>
        </p:nvPicPr>
        <p:blipFill rotWithShape="1">
          <a:blip r:embed="rId5">
            <a:alphaModFix/>
          </a:blip>
          <a:srcRect b="0" l="0" r="0" t="0"/>
          <a:stretch/>
        </p:blipFill>
        <p:spPr>
          <a:xfrm>
            <a:off x="6839935" y="4531219"/>
            <a:ext cx="3409950" cy="1162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0"/>
          <p:cNvSpPr txBox="1"/>
          <p:nvPr/>
        </p:nvSpPr>
        <p:spPr>
          <a:xfrm>
            <a:off x="163772" y="204716"/>
            <a:ext cx="11136574"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HTML5 Tags</a:t>
            </a:r>
            <a:endParaRPr b="1" i="0" sz="3600" u="none" cap="none" strike="noStrike">
              <a:solidFill>
                <a:srgbClr val="600000"/>
              </a:solidFill>
              <a:latin typeface="Marcellus"/>
              <a:ea typeface="Marcellus"/>
              <a:cs typeface="Marcellus"/>
              <a:sym typeface="Marcellus"/>
            </a:endParaRPr>
          </a:p>
        </p:txBody>
      </p:sp>
      <p:sp>
        <p:nvSpPr>
          <p:cNvPr id="175" name="Google Shape;175;p10"/>
          <p:cNvSpPr txBox="1"/>
          <p:nvPr/>
        </p:nvSpPr>
        <p:spPr>
          <a:xfrm>
            <a:off x="170597" y="1000596"/>
            <a:ext cx="11122800" cy="5073900"/>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85000" lnSpcReduction="20000"/>
          </a:bodyPr>
          <a:lstStyle/>
          <a:p>
            <a:pPr indent="-443865" lvl="0" marL="457200" marR="0" rtl="0" algn="l">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HTML5 tags are not case sensitive: </a:t>
            </a:r>
            <a:endParaRPr b="0" i="0" sz="2800" u="none" cap="none" strike="noStrike">
              <a:solidFill>
                <a:srgbClr val="003300"/>
              </a:solidFill>
              <a:latin typeface="Times New Roman"/>
              <a:ea typeface="Times New Roman"/>
              <a:cs typeface="Times New Roman"/>
              <a:sym typeface="Times New Roman"/>
            </a:endParaRPr>
          </a:p>
          <a:p>
            <a:pPr indent="-443865" lvl="0" marL="457200" marR="0" rtl="0" algn="l">
              <a:lnSpc>
                <a:spcPct val="150000"/>
              </a:lnSpc>
              <a:spcBef>
                <a:spcPts val="0"/>
              </a:spcBef>
              <a:spcAft>
                <a:spcPts val="0"/>
              </a:spcAft>
              <a:buClr>
                <a:srgbClr val="600000"/>
              </a:buClr>
              <a:buSzPct val="100000"/>
              <a:buFont typeface="Noto Sans Symbols"/>
              <a:buChar char="⮚"/>
            </a:pPr>
            <a:r>
              <a:rPr b="1" i="0" lang="en-US" sz="2800" u="none" cap="none" strike="noStrike">
                <a:solidFill>
                  <a:srgbClr val="600000"/>
                </a:solidFill>
                <a:latin typeface="Times New Roman"/>
                <a:ea typeface="Times New Roman"/>
                <a:cs typeface="Times New Roman"/>
                <a:sym typeface="Times New Roman"/>
              </a:rPr>
              <a:t>&lt;P&gt; means the same as &lt;p&gt;.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&lt;!DOCTYPE html&gt;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&lt;title&gt;welcome&lt;/title&gt;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a:t>
            </a:r>
            <a:r>
              <a:rPr b="1" i="0" lang="en-US" sz="2800" u="none" cap="none" strike="noStrike">
                <a:solidFill>
                  <a:srgbClr val="600000"/>
                </a:solidFill>
                <a:latin typeface="Times New Roman"/>
                <a:ea typeface="Times New Roman"/>
                <a:cs typeface="Times New Roman"/>
                <a:sym typeface="Times New Roman"/>
              </a:rPr>
              <a:t>	&lt;p&gt;welcome&lt;/P&gt;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76" name="Google Shape;176;p10"/>
          <p:cNvSpPr/>
          <p:nvPr/>
        </p:nvSpPr>
        <p:spPr>
          <a:xfrm>
            <a:off x="11477767" y="0"/>
            <a:ext cx="714233" cy="68580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177" name="Google Shape;177;p10"/>
          <p:cNvPicPr preferRelativeResize="0"/>
          <p:nvPr/>
        </p:nvPicPr>
        <p:blipFill rotWithShape="1">
          <a:blip r:embed="rId3">
            <a:alphaModFix/>
          </a:blip>
          <a:srcRect b="0" l="0" r="0" t="0"/>
          <a:stretch/>
        </p:blipFill>
        <p:spPr>
          <a:xfrm>
            <a:off x="163772" y="6209730"/>
            <a:ext cx="778199" cy="593679"/>
          </a:xfrm>
          <a:prstGeom prst="rect">
            <a:avLst/>
          </a:prstGeom>
          <a:noFill/>
          <a:ln cap="flat" cmpd="sng" w="9525">
            <a:solidFill>
              <a:srgbClr val="860000"/>
            </a:solidFill>
            <a:prstDash val="solid"/>
            <a:round/>
            <a:headEnd len="sm" w="sm" type="none"/>
            <a:tailEnd len="sm" w="sm" type="none"/>
          </a:ln>
        </p:spPr>
      </p:pic>
      <p:sp>
        <p:nvSpPr>
          <p:cNvPr id="178" name="Google Shape;178;p10"/>
          <p:cNvSpPr/>
          <p:nvPr/>
        </p:nvSpPr>
        <p:spPr>
          <a:xfrm>
            <a:off x="3346973" y="6209731"/>
            <a:ext cx="8144442" cy="648269"/>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9" name="Google Shape;179;p10"/>
          <p:cNvSpPr/>
          <p:nvPr/>
        </p:nvSpPr>
        <p:spPr>
          <a:xfrm>
            <a:off x="2646389" y="6209730"/>
            <a:ext cx="700584" cy="64827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1"/>
          <p:cNvSpPr txBox="1"/>
          <p:nvPr/>
        </p:nvSpPr>
        <p:spPr>
          <a:xfrm>
            <a:off x="163771" y="204716"/>
            <a:ext cx="11778019"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HTML Comment Tags</a:t>
            </a:r>
            <a:endParaRPr b="1" i="0" sz="3600" u="none" cap="none" strike="noStrike">
              <a:solidFill>
                <a:srgbClr val="600000"/>
              </a:solidFill>
              <a:latin typeface="Times New Roman"/>
              <a:ea typeface="Times New Roman"/>
              <a:cs typeface="Times New Roman"/>
              <a:sym typeface="Times New Roman"/>
            </a:endParaRPr>
          </a:p>
        </p:txBody>
      </p:sp>
      <p:sp>
        <p:nvSpPr>
          <p:cNvPr id="185" name="Google Shape;185;p11"/>
          <p:cNvSpPr txBox="1"/>
          <p:nvPr/>
        </p:nvSpPr>
        <p:spPr>
          <a:xfrm>
            <a:off x="163772" y="979096"/>
            <a:ext cx="11764371" cy="5225185"/>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279400" lvl="0" marL="457200" marR="0" rtl="0" algn="just">
              <a:lnSpc>
                <a:spcPct val="150000"/>
              </a:lnSpc>
              <a:spcBef>
                <a:spcPts val="0"/>
              </a:spcBef>
              <a:spcAft>
                <a:spcPts val="0"/>
              </a:spcAft>
              <a:buClr>
                <a:schemeClr val="dk1"/>
              </a:buClr>
              <a:buSzPts val="2800"/>
              <a:buFont typeface="Noto Sans Symbols"/>
              <a:buNone/>
            </a:pPr>
            <a:r>
              <a:t/>
            </a:r>
            <a:endParaRPr b="0" i="0" sz="2800" u="none" cap="none" strike="noStrike">
              <a:solidFill>
                <a:srgbClr val="003300"/>
              </a:solidFill>
              <a:latin typeface="Times New Roman"/>
              <a:ea typeface="Times New Roman"/>
              <a:cs typeface="Times New Roman"/>
              <a:sym typeface="Times New Roman"/>
            </a:endParaRPr>
          </a:p>
          <a:p>
            <a:pPr indent="-457200" lvl="0" marL="457200" marR="0" rtl="0" algn="just">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You can add comments to your HTML source by using the following syntax:</a:t>
            </a:r>
            <a:endParaRPr b="0" i="0" sz="1400" u="none" cap="none" strike="noStrike">
              <a:solidFill>
                <a:srgbClr val="000000"/>
              </a:solidFill>
              <a:latin typeface="Arial"/>
              <a:ea typeface="Arial"/>
              <a:cs typeface="Arial"/>
              <a:sym typeface="Arial"/>
            </a:endParaRPr>
          </a:p>
          <a:p>
            <a:pPr indent="-279400" lvl="0" marL="457200" marR="0" rtl="0" algn="just">
              <a:lnSpc>
                <a:spcPct val="150000"/>
              </a:lnSpc>
              <a:spcBef>
                <a:spcPts val="0"/>
              </a:spcBef>
              <a:spcAft>
                <a:spcPts val="0"/>
              </a:spcAft>
              <a:buClr>
                <a:schemeClr val="dk1"/>
              </a:buClr>
              <a:buSzPts val="2800"/>
              <a:buFont typeface="Noto Sans Symbols"/>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ctr">
              <a:lnSpc>
                <a:spcPct val="150000"/>
              </a:lnSpc>
              <a:spcBef>
                <a:spcPts val="0"/>
              </a:spcBef>
              <a:spcAft>
                <a:spcPts val="0"/>
              </a:spcAft>
              <a:buClr>
                <a:srgbClr val="000000"/>
              </a:buClr>
              <a:buSzPts val="2800"/>
              <a:buFont typeface="Arial"/>
              <a:buNone/>
            </a:pPr>
            <a:r>
              <a:rPr b="1" i="0" lang="en-US" sz="2800" u="none" cap="none" strike="noStrike">
                <a:solidFill>
                  <a:srgbClr val="600000"/>
                </a:solidFill>
                <a:latin typeface="Times New Roman"/>
                <a:ea typeface="Times New Roman"/>
                <a:cs typeface="Times New Roman"/>
                <a:sym typeface="Times New Roman"/>
              </a:rPr>
              <a:t>&lt;!– Write your comments here --&gt;</a:t>
            </a:r>
            <a:endParaRPr b="0" i="0" sz="1400" u="none" cap="none" strike="noStrike">
              <a:solidFill>
                <a:srgbClr val="000000"/>
              </a:solidFill>
              <a:latin typeface="Arial"/>
              <a:ea typeface="Arial"/>
              <a:cs typeface="Arial"/>
              <a:sym typeface="Arial"/>
            </a:endParaRPr>
          </a:p>
          <a:p>
            <a:pPr indent="-279400" lvl="0" marL="457200" marR="0" rtl="0" algn="just">
              <a:lnSpc>
                <a:spcPct val="150000"/>
              </a:lnSpc>
              <a:spcBef>
                <a:spcPts val="0"/>
              </a:spcBef>
              <a:spcAft>
                <a:spcPts val="0"/>
              </a:spcAft>
              <a:buClr>
                <a:schemeClr val="dk1"/>
              </a:buClr>
              <a:buSzPts val="2800"/>
              <a:buFont typeface="Noto Sans Symbols"/>
              <a:buNone/>
            </a:pPr>
            <a:r>
              <a:t/>
            </a:r>
            <a:endParaRPr b="0" i="0" sz="2800" u="none" cap="none" strike="noStrike">
              <a:solidFill>
                <a:srgbClr val="003300"/>
              </a:solidFill>
              <a:latin typeface="Times New Roman"/>
              <a:ea typeface="Times New Roman"/>
              <a:cs typeface="Times New Roman"/>
              <a:sym typeface="Times New Roman"/>
            </a:endParaRPr>
          </a:p>
          <a:p>
            <a:pPr indent="-457200" lvl="0" marL="457200" marR="0" rtl="0" algn="just">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With comments you can place notifications and reminders in your HTML.</a:t>
            </a:r>
            <a:endParaRPr b="0" i="0" sz="2800" u="none" cap="none" strike="noStrike">
              <a:solidFill>
                <a:srgbClr val="003300"/>
              </a:solidFill>
              <a:latin typeface="Times New Roman"/>
              <a:ea typeface="Times New Roman"/>
              <a:cs typeface="Times New Roman"/>
              <a:sym typeface="Times New Roman"/>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186" name="Google Shape;186;p11"/>
          <p:cNvPicPr preferRelativeResize="0"/>
          <p:nvPr/>
        </p:nvPicPr>
        <p:blipFill rotWithShape="1">
          <a:blip r:embed="rId3">
            <a:alphaModFix/>
          </a:blip>
          <a:srcRect b="0" l="0" r="0" t="0"/>
          <a:stretch/>
        </p:blipFill>
        <p:spPr>
          <a:xfrm>
            <a:off x="11305780" y="6242918"/>
            <a:ext cx="622363" cy="615082"/>
          </a:xfrm>
          <a:prstGeom prst="rect">
            <a:avLst/>
          </a:prstGeom>
          <a:noFill/>
          <a:ln cap="flat" cmpd="sng" w="9525">
            <a:solidFill>
              <a:srgbClr val="860000"/>
            </a:solidFill>
            <a:prstDash val="solid"/>
            <a:round/>
            <a:headEnd len="sm" w="sm" type="none"/>
            <a:tailEnd len="sm" w="sm" type="none"/>
          </a:ln>
        </p:spPr>
      </p:pic>
      <p:sp>
        <p:nvSpPr>
          <p:cNvPr id="187" name="Google Shape;187;p11"/>
          <p:cNvSpPr/>
          <p:nvPr/>
        </p:nvSpPr>
        <p:spPr>
          <a:xfrm>
            <a:off x="0" y="6553209"/>
            <a:ext cx="11305780" cy="304791"/>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8" name="Google Shape;188;p11"/>
          <p:cNvSpPr/>
          <p:nvPr/>
        </p:nvSpPr>
        <p:spPr>
          <a:xfrm>
            <a:off x="1" y="6336406"/>
            <a:ext cx="10683416" cy="216803"/>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2"/>
          <p:cNvSpPr txBox="1"/>
          <p:nvPr/>
        </p:nvSpPr>
        <p:spPr>
          <a:xfrm>
            <a:off x="68236" y="43974"/>
            <a:ext cx="11123400" cy="660600"/>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Block-Level Elements</a:t>
            </a:r>
            <a:endParaRPr b="1" i="0" sz="3600" u="none" cap="none" strike="noStrike">
              <a:solidFill>
                <a:srgbClr val="600000"/>
              </a:solidFill>
              <a:latin typeface="Times New Roman"/>
              <a:ea typeface="Times New Roman"/>
              <a:cs typeface="Times New Roman"/>
              <a:sym typeface="Times New Roman"/>
            </a:endParaRPr>
          </a:p>
        </p:txBody>
      </p:sp>
      <p:sp>
        <p:nvSpPr>
          <p:cNvPr id="194" name="Google Shape;194;p12"/>
          <p:cNvSpPr txBox="1"/>
          <p:nvPr/>
        </p:nvSpPr>
        <p:spPr>
          <a:xfrm>
            <a:off x="68236" y="811369"/>
            <a:ext cx="12012147" cy="546660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92500" lnSpcReduction="10000"/>
          </a:bodyPr>
          <a:lstStyle/>
          <a:p>
            <a:pPr indent="-457200" lvl="0" marL="457200" marR="0" rtl="0" algn="just">
              <a:lnSpc>
                <a:spcPct val="100000"/>
              </a:lnSpc>
              <a:spcBef>
                <a:spcPts val="0"/>
              </a:spcBef>
              <a:spcAft>
                <a:spcPts val="0"/>
              </a:spcAft>
              <a:buClr>
                <a:srgbClr val="003300"/>
              </a:buClr>
              <a:buSzPct val="108108"/>
              <a:buFont typeface="Noto Sans Symbols"/>
              <a:buChar char="⮚"/>
            </a:pPr>
            <a:r>
              <a:rPr b="0" i="0" lang="en-US" sz="2800" u="none" cap="none" strike="noStrike">
                <a:solidFill>
                  <a:srgbClr val="003300"/>
                </a:solidFill>
                <a:latin typeface="Times New Roman"/>
                <a:ea typeface="Times New Roman"/>
                <a:cs typeface="Times New Roman"/>
                <a:sym typeface="Times New Roman"/>
              </a:rPr>
              <a:t>Block-level elements are those elements that are formatted </a:t>
            </a:r>
            <a:r>
              <a:rPr b="0" i="0" lang="en-US" sz="2800" u="none" cap="none" strike="noStrike">
                <a:solidFill>
                  <a:srgbClr val="600000"/>
                </a:solidFill>
                <a:latin typeface="Times New Roman"/>
                <a:ea typeface="Times New Roman"/>
                <a:cs typeface="Times New Roman"/>
                <a:sym typeface="Times New Roman"/>
              </a:rPr>
              <a:t>visually as blocks </a:t>
            </a:r>
            <a:r>
              <a:rPr b="0" i="0" lang="en-US" sz="2800" u="none" cap="none" strike="noStrike">
                <a:solidFill>
                  <a:srgbClr val="003300"/>
                </a:solidFill>
                <a:latin typeface="Times New Roman"/>
                <a:ea typeface="Times New Roman"/>
                <a:cs typeface="Times New Roman"/>
                <a:sym typeface="Times New Roman"/>
              </a:rPr>
              <a:t>with a line break before and after the element.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&lt;!DOCTYPE 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&lt;p&gt;This is some text.&lt;/p&gt;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&lt;div style="background-color:lightblue"&gt;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&lt;h3&gt;This is a heading in a div element&lt;/h3&gt;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&lt;p&gt;This is some text in a div element.&lt;/p&gt;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&lt;/div&gt;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&lt;p&gt;This is some text.&lt;/p&gt;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195" name="Google Shape;195;p12"/>
          <p:cNvPicPr preferRelativeResize="0"/>
          <p:nvPr/>
        </p:nvPicPr>
        <p:blipFill rotWithShape="1">
          <a:blip r:embed="rId3">
            <a:alphaModFix/>
          </a:blip>
          <a:srcRect b="0" l="0" r="0" t="0"/>
          <a:stretch/>
        </p:blipFill>
        <p:spPr>
          <a:xfrm>
            <a:off x="11333408" y="68781"/>
            <a:ext cx="746975" cy="660699"/>
          </a:xfrm>
          <a:prstGeom prst="rect">
            <a:avLst/>
          </a:prstGeom>
          <a:noFill/>
          <a:ln cap="flat" cmpd="sng" w="9525">
            <a:solidFill>
              <a:srgbClr val="860000"/>
            </a:solidFill>
            <a:prstDash val="solid"/>
            <a:round/>
            <a:headEnd len="sm" w="sm" type="none"/>
            <a:tailEnd len="sm" w="sm" type="none"/>
          </a:ln>
        </p:spPr>
      </p:pic>
      <p:sp>
        <p:nvSpPr>
          <p:cNvPr id="196" name="Google Shape;196;p12"/>
          <p:cNvSpPr/>
          <p:nvPr/>
        </p:nvSpPr>
        <p:spPr>
          <a:xfrm>
            <a:off x="0" y="6564573"/>
            <a:ext cx="12192000" cy="293427"/>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7" name="Google Shape;197;p12"/>
          <p:cNvSpPr/>
          <p:nvPr/>
        </p:nvSpPr>
        <p:spPr>
          <a:xfrm>
            <a:off x="1" y="6359859"/>
            <a:ext cx="10276764" cy="19335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98" name="Google Shape;198;p12"/>
          <p:cNvPicPr preferRelativeResize="0"/>
          <p:nvPr/>
        </p:nvPicPr>
        <p:blipFill rotWithShape="1">
          <a:blip r:embed="rId4">
            <a:alphaModFix/>
          </a:blip>
          <a:srcRect b="0" l="0" r="0" t="0"/>
          <a:stretch/>
        </p:blipFill>
        <p:spPr>
          <a:xfrm>
            <a:off x="8436436" y="3839922"/>
            <a:ext cx="3755571" cy="226591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f82ede32b7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div tag width and height styles</a:t>
            </a:r>
            <a:endParaRPr/>
          </a:p>
        </p:txBody>
      </p:sp>
      <p:sp>
        <p:nvSpPr>
          <p:cNvPr id="204" name="Google Shape;204;g3f82ede32b7_0_0"/>
          <p:cNvSpPr txBox="1"/>
          <p:nvPr>
            <p:ph idx="1" type="body"/>
          </p:nvPr>
        </p:nvSpPr>
        <p:spPr>
          <a:xfrm>
            <a:off x="391254" y="1825625"/>
            <a:ext cx="11702100" cy="43512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45700">
            <a:noAutofit/>
          </a:bodyPr>
          <a:lstStyle/>
          <a:p>
            <a:pPr indent="0" lvl="0" marL="91440" marR="91440" rtl="0" algn="l">
              <a:lnSpc>
                <a:spcPct val="100000"/>
              </a:lnSpc>
              <a:spcBef>
                <a:spcPts val="0"/>
              </a:spcBef>
              <a:spcAft>
                <a:spcPts val="0"/>
              </a:spcAft>
              <a:buNone/>
            </a:pPr>
            <a:r>
              <a:rPr lang="en-US" sz="2100">
                <a:solidFill>
                  <a:srgbClr val="188038"/>
                </a:solidFill>
                <a:latin typeface="Times New Roman"/>
                <a:ea typeface="Times New Roman"/>
                <a:cs typeface="Times New Roman"/>
                <a:sym typeface="Times New Roman"/>
              </a:rPr>
              <a:t>%	</a:t>
            </a:r>
            <a:r>
              <a:rPr lang="en-US" sz="2100">
                <a:solidFill>
                  <a:srgbClr val="000000"/>
                </a:solidFill>
                <a:latin typeface="Times New Roman"/>
                <a:ea typeface="Times New Roman"/>
                <a:cs typeface="Times New Roman"/>
                <a:sym typeface="Times New Roman"/>
              </a:rPr>
              <a:t>Percentage of the parent element	</a:t>
            </a:r>
            <a:r>
              <a:rPr lang="en-US" sz="2100">
                <a:solidFill>
                  <a:srgbClr val="188038"/>
                </a:solidFill>
                <a:latin typeface="Times New Roman"/>
                <a:ea typeface="Times New Roman"/>
                <a:cs typeface="Times New Roman"/>
                <a:sym typeface="Times New Roman"/>
              </a:rPr>
              <a:t>width: 50%;</a:t>
            </a:r>
            <a:endParaRPr sz="2100">
              <a:solidFill>
                <a:srgbClr val="188038"/>
              </a:solidFill>
              <a:latin typeface="Times New Roman"/>
              <a:ea typeface="Times New Roman"/>
              <a:cs typeface="Times New Roman"/>
              <a:sym typeface="Times New Roman"/>
            </a:endParaRPr>
          </a:p>
          <a:p>
            <a:pPr indent="0" lvl="0" marL="91440" marR="91440" rtl="0" algn="l">
              <a:lnSpc>
                <a:spcPct val="100000"/>
              </a:lnSpc>
              <a:spcBef>
                <a:spcPts val="0"/>
              </a:spcBef>
              <a:spcAft>
                <a:spcPts val="0"/>
              </a:spcAft>
              <a:buNone/>
            </a:pPr>
            <a:r>
              <a:rPr lang="en-US" sz="2100">
                <a:solidFill>
                  <a:srgbClr val="188038"/>
                </a:solidFill>
                <a:latin typeface="Times New Roman"/>
                <a:ea typeface="Times New Roman"/>
                <a:cs typeface="Times New Roman"/>
                <a:sym typeface="Times New Roman"/>
              </a:rPr>
              <a:t>vw	</a:t>
            </a:r>
            <a:r>
              <a:rPr lang="en-US" sz="2100">
                <a:solidFill>
                  <a:srgbClr val="000000"/>
                </a:solidFill>
                <a:latin typeface="Times New Roman"/>
                <a:ea typeface="Times New Roman"/>
                <a:cs typeface="Times New Roman"/>
                <a:sym typeface="Times New Roman"/>
              </a:rPr>
              <a:t>Viewport width (1vw = 1% of browser width)	</a:t>
            </a:r>
            <a:r>
              <a:rPr lang="en-US" sz="2100">
                <a:solidFill>
                  <a:srgbClr val="188038"/>
                </a:solidFill>
                <a:latin typeface="Times New Roman"/>
                <a:ea typeface="Times New Roman"/>
                <a:cs typeface="Times New Roman"/>
                <a:sym typeface="Times New Roman"/>
              </a:rPr>
              <a:t>width: 100vw;</a:t>
            </a:r>
            <a:endParaRPr sz="2100">
              <a:solidFill>
                <a:srgbClr val="188038"/>
              </a:solidFill>
              <a:latin typeface="Times New Roman"/>
              <a:ea typeface="Times New Roman"/>
              <a:cs typeface="Times New Roman"/>
              <a:sym typeface="Times New Roman"/>
            </a:endParaRPr>
          </a:p>
          <a:p>
            <a:pPr indent="0" lvl="0" marL="91440" marR="91440" rtl="0" algn="l">
              <a:lnSpc>
                <a:spcPct val="100000"/>
              </a:lnSpc>
              <a:spcBef>
                <a:spcPts val="0"/>
              </a:spcBef>
              <a:spcAft>
                <a:spcPts val="0"/>
              </a:spcAft>
              <a:buNone/>
            </a:pPr>
            <a:r>
              <a:rPr lang="en-US" sz="2100">
                <a:solidFill>
                  <a:srgbClr val="188038"/>
                </a:solidFill>
                <a:latin typeface="Times New Roman"/>
                <a:ea typeface="Times New Roman"/>
                <a:cs typeface="Times New Roman"/>
                <a:sym typeface="Times New Roman"/>
              </a:rPr>
              <a:t>vh	</a:t>
            </a:r>
            <a:r>
              <a:rPr lang="en-US" sz="2100">
                <a:solidFill>
                  <a:srgbClr val="000000"/>
                </a:solidFill>
                <a:latin typeface="Times New Roman"/>
                <a:ea typeface="Times New Roman"/>
                <a:cs typeface="Times New Roman"/>
                <a:sym typeface="Times New Roman"/>
              </a:rPr>
              <a:t>Viewport height (1vh = 1% of browser height)	</a:t>
            </a:r>
            <a:r>
              <a:rPr lang="en-US" sz="2100">
                <a:solidFill>
                  <a:srgbClr val="188038"/>
                </a:solidFill>
                <a:latin typeface="Times New Roman"/>
                <a:ea typeface="Times New Roman"/>
                <a:cs typeface="Times New Roman"/>
                <a:sym typeface="Times New Roman"/>
              </a:rPr>
              <a:t>height: 100vh;</a:t>
            </a:r>
            <a:endParaRPr sz="2100">
              <a:solidFill>
                <a:srgbClr val="188038"/>
              </a:solidFill>
              <a:latin typeface="Times New Roman"/>
              <a:ea typeface="Times New Roman"/>
              <a:cs typeface="Times New Roman"/>
              <a:sym typeface="Times New Roman"/>
            </a:endParaRPr>
          </a:p>
          <a:p>
            <a:pPr indent="0" lvl="0" marL="91440" marR="91440" rtl="0" algn="l">
              <a:lnSpc>
                <a:spcPct val="100000"/>
              </a:lnSpc>
              <a:spcBef>
                <a:spcPts val="0"/>
              </a:spcBef>
              <a:spcAft>
                <a:spcPts val="0"/>
              </a:spcAft>
              <a:buNone/>
            </a:pPr>
            <a:r>
              <a:rPr lang="en-US" sz="2100">
                <a:solidFill>
                  <a:srgbClr val="188038"/>
                </a:solidFill>
                <a:latin typeface="Times New Roman"/>
                <a:ea typeface="Times New Roman"/>
                <a:cs typeface="Times New Roman"/>
                <a:sym typeface="Times New Roman"/>
              </a:rPr>
              <a:t>em	</a:t>
            </a:r>
            <a:r>
              <a:rPr lang="en-US" sz="2100">
                <a:solidFill>
                  <a:srgbClr val="000000"/>
                </a:solidFill>
                <a:latin typeface="Times New Roman"/>
                <a:ea typeface="Times New Roman"/>
                <a:cs typeface="Times New Roman"/>
                <a:sym typeface="Times New Roman"/>
              </a:rPr>
              <a:t>Relative to the parent element's font size	</a:t>
            </a:r>
            <a:r>
              <a:rPr lang="en-US" sz="2100">
                <a:solidFill>
                  <a:srgbClr val="188038"/>
                </a:solidFill>
                <a:latin typeface="Times New Roman"/>
                <a:ea typeface="Times New Roman"/>
                <a:cs typeface="Times New Roman"/>
                <a:sym typeface="Times New Roman"/>
              </a:rPr>
              <a:t>font-size: 2em;</a:t>
            </a:r>
            <a:endParaRPr sz="2100">
              <a:solidFill>
                <a:srgbClr val="188038"/>
              </a:solidFill>
              <a:latin typeface="Times New Roman"/>
              <a:ea typeface="Times New Roman"/>
              <a:cs typeface="Times New Roman"/>
              <a:sym typeface="Times New Roman"/>
            </a:endParaRPr>
          </a:p>
          <a:p>
            <a:pPr indent="0" lvl="0" marL="91440" marR="91440" rtl="0" algn="l">
              <a:lnSpc>
                <a:spcPct val="100000"/>
              </a:lnSpc>
              <a:spcBef>
                <a:spcPts val="0"/>
              </a:spcBef>
              <a:spcAft>
                <a:spcPts val="0"/>
              </a:spcAft>
              <a:buNone/>
            </a:pPr>
            <a:r>
              <a:rPr lang="en-US" sz="2100">
                <a:solidFill>
                  <a:srgbClr val="188038"/>
                </a:solidFill>
                <a:latin typeface="Times New Roman"/>
                <a:ea typeface="Times New Roman"/>
                <a:cs typeface="Times New Roman"/>
                <a:sym typeface="Times New Roman"/>
              </a:rPr>
              <a:t>rem	</a:t>
            </a:r>
            <a:r>
              <a:rPr lang="en-US" sz="2100">
                <a:solidFill>
                  <a:srgbClr val="000000"/>
                </a:solidFill>
                <a:latin typeface="Times New Roman"/>
                <a:ea typeface="Times New Roman"/>
                <a:cs typeface="Times New Roman"/>
                <a:sym typeface="Times New Roman"/>
              </a:rPr>
              <a:t>Relative to the root (</a:t>
            </a:r>
            <a:r>
              <a:rPr lang="en-US" sz="2100">
                <a:solidFill>
                  <a:srgbClr val="188038"/>
                </a:solidFill>
                <a:latin typeface="Times New Roman"/>
                <a:ea typeface="Times New Roman"/>
                <a:cs typeface="Times New Roman"/>
                <a:sym typeface="Times New Roman"/>
              </a:rPr>
              <a:t>&lt;html&gt;</a:t>
            </a:r>
            <a:r>
              <a:rPr lang="en-US" sz="2100">
                <a:solidFill>
                  <a:srgbClr val="000000"/>
                </a:solidFill>
                <a:latin typeface="Times New Roman"/>
                <a:ea typeface="Times New Roman"/>
                <a:cs typeface="Times New Roman"/>
                <a:sym typeface="Times New Roman"/>
              </a:rPr>
              <a:t>) font size	</a:t>
            </a:r>
            <a:r>
              <a:rPr lang="en-US" sz="2100">
                <a:solidFill>
                  <a:srgbClr val="188038"/>
                </a:solidFill>
                <a:latin typeface="Times New Roman"/>
                <a:ea typeface="Times New Roman"/>
                <a:cs typeface="Times New Roman"/>
                <a:sym typeface="Times New Roman"/>
              </a:rPr>
              <a:t>font-size: 1.5rem;</a:t>
            </a:r>
            <a:endParaRPr sz="2100">
              <a:solidFill>
                <a:srgbClr val="188038"/>
              </a:solidFill>
              <a:latin typeface="Times New Roman"/>
              <a:ea typeface="Times New Roman"/>
              <a:cs typeface="Times New Roman"/>
              <a:sym typeface="Times New Roman"/>
            </a:endParaRPr>
          </a:p>
          <a:p>
            <a:pPr indent="0" lvl="0" marL="91440" marR="91440" rtl="0" algn="l">
              <a:lnSpc>
                <a:spcPct val="100000"/>
              </a:lnSpc>
              <a:spcBef>
                <a:spcPts val="0"/>
              </a:spcBef>
              <a:spcAft>
                <a:spcPts val="0"/>
              </a:spcAft>
              <a:buNone/>
            </a:pPr>
            <a:r>
              <a:rPr lang="en-US" sz="2100">
                <a:solidFill>
                  <a:srgbClr val="188038"/>
                </a:solidFill>
                <a:latin typeface="Times New Roman"/>
                <a:ea typeface="Times New Roman"/>
                <a:cs typeface="Times New Roman"/>
                <a:sym typeface="Times New Roman"/>
              </a:rPr>
              <a:t>cm	</a:t>
            </a:r>
            <a:r>
              <a:rPr lang="en-US" sz="2100">
                <a:solidFill>
                  <a:srgbClr val="000000"/>
                </a:solidFill>
                <a:latin typeface="Times New Roman"/>
                <a:ea typeface="Times New Roman"/>
                <a:cs typeface="Times New Roman"/>
                <a:sym typeface="Times New Roman"/>
              </a:rPr>
              <a:t>Centimeters	</a:t>
            </a:r>
            <a:r>
              <a:rPr lang="en-US" sz="2100">
                <a:solidFill>
                  <a:srgbClr val="188038"/>
                </a:solidFill>
                <a:latin typeface="Times New Roman"/>
                <a:ea typeface="Times New Roman"/>
                <a:cs typeface="Times New Roman"/>
                <a:sym typeface="Times New Roman"/>
              </a:rPr>
              <a:t>width: 10cm;</a:t>
            </a:r>
            <a:endParaRPr sz="2100">
              <a:solidFill>
                <a:srgbClr val="188038"/>
              </a:solidFill>
              <a:latin typeface="Times New Roman"/>
              <a:ea typeface="Times New Roman"/>
              <a:cs typeface="Times New Roman"/>
              <a:sym typeface="Times New Roman"/>
            </a:endParaRPr>
          </a:p>
          <a:p>
            <a:pPr indent="0" lvl="0" marL="91440" marR="91440" rtl="0" algn="l">
              <a:lnSpc>
                <a:spcPct val="100000"/>
              </a:lnSpc>
              <a:spcBef>
                <a:spcPts val="0"/>
              </a:spcBef>
              <a:spcAft>
                <a:spcPts val="0"/>
              </a:spcAft>
              <a:buNone/>
            </a:pPr>
            <a:r>
              <a:rPr lang="en-US" sz="2100">
                <a:solidFill>
                  <a:srgbClr val="188038"/>
                </a:solidFill>
                <a:latin typeface="Times New Roman"/>
                <a:ea typeface="Times New Roman"/>
                <a:cs typeface="Times New Roman"/>
                <a:sym typeface="Times New Roman"/>
              </a:rPr>
              <a:t>mm	</a:t>
            </a:r>
            <a:r>
              <a:rPr lang="en-US" sz="2100">
                <a:solidFill>
                  <a:srgbClr val="000000"/>
                </a:solidFill>
                <a:latin typeface="Times New Roman"/>
                <a:ea typeface="Times New Roman"/>
                <a:cs typeface="Times New Roman"/>
                <a:sym typeface="Times New Roman"/>
              </a:rPr>
              <a:t>Millimeters		</a:t>
            </a:r>
            <a:r>
              <a:rPr lang="en-US" sz="2100">
                <a:solidFill>
                  <a:srgbClr val="188038"/>
                </a:solidFill>
                <a:latin typeface="Times New Roman"/>
                <a:ea typeface="Times New Roman"/>
                <a:cs typeface="Times New Roman"/>
                <a:sym typeface="Times New Roman"/>
              </a:rPr>
              <a:t>width: 50mm;</a:t>
            </a:r>
            <a:endParaRPr sz="2100">
              <a:solidFill>
                <a:srgbClr val="188038"/>
              </a:solidFill>
              <a:latin typeface="Times New Roman"/>
              <a:ea typeface="Times New Roman"/>
              <a:cs typeface="Times New Roman"/>
              <a:sym typeface="Times New Roman"/>
            </a:endParaRPr>
          </a:p>
          <a:p>
            <a:pPr indent="0" lvl="0" marL="91440" marR="91440" rtl="0" algn="l">
              <a:lnSpc>
                <a:spcPct val="100000"/>
              </a:lnSpc>
              <a:spcBef>
                <a:spcPts val="0"/>
              </a:spcBef>
              <a:spcAft>
                <a:spcPts val="0"/>
              </a:spcAft>
              <a:buNone/>
            </a:pPr>
            <a:r>
              <a:rPr lang="en-US" sz="2100">
                <a:solidFill>
                  <a:srgbClr val="188038"/>
                </a:solidFill>
                <a:latin typeface="Times New Roman"/>
                <a:ea typeface="Times New Roman"/>
                <a:cs typeface="Times New Roman"/>
                <a:sym typeface="Times New Roman"/>
              </a:rPr>
              <a:t>in	</a:t>
            </a:r>
            <a:r>
              <a:rPr lang="en-US" sz="2100">
                <a:solidFill>
                  <a:srgbClr val="000000"/>
                </a:solidFill>
                <a:latin typeface="Times New Roman"/>
                <a:ea typeface="Times New Roman"/>
                <a:cs typeface="Times New Roman"/>
                <a:sym typeface="Times New Roman"/>
              </a:rPr>
              <a:t>Inches	</a:t>
            </a:r>
            <a:r>
              <a:rPr lang="en-US" sz="2100">
                <a:solidFill>
                  <a:srgbClr val="188038"/>
                </a:solidFill>
                <a:latin typeface="Times New Roman"/>
                <a:ea typeface="Times New Roman"/>
                <a:cs typeface="Times New Roman"/>
                <a:sym typeface="Times New Roman"/>
              </a:rPr>
              <a:t>width: 2in;</a:t>
            </a:r>
            <a:endParaRPr sz="2100">
              <a:solidFill>
                <a:srgbClr val="188038"/>
              </a:solidFill>
              <a:latin typeface="Times New Roman"/>
              <a:ea typeface="Times New Roman"/>
              <a:cs typeface="Times New Roman"/>
              <a:sym typeface="Times New Roman"/>
            </a:endParaRPr>
          </a:p>
          <a:p>
            <a:pPr indent="0" lvl="0" marL="91440" marR="91440" rtl="0" algn="l">
              <a:lnSpc>
                <a:spcPct val="100000"/>
              </a:lnSpc>
              <a:spcBef>
                <a:spcPts val="0"/>
              </a:spcBef>
              <a:spcAft>
                <a:spcPts val="0"/>
              </a:spcAft>
              <a:buNone/>
            </a:pPr>
            <a:r>
              <a:rPr lang="en-US" sz="2100">
                <a:solidFill>
                  <a:srgbClr val="188038"/>
                </a:solidFill>
                <a:latin typeface="Times New Roman"/>
                <a:ea typeface="Times New Roman"/>
                <a:cs typeface="Times New Roman"/>
                <a:sym typeface="Times New Roman"/>
              </a:rPr>
              <a:t>pt	</a:t>
            </a:r>
            <a:r>
              <a:rPr lang="en-US" sz="2100">
                <a:solidFill>
                  <a:srgbClr val="000000"/>
                </a:solidFill>
                <a:latin typeface="Times New Roman"/>
                <a:ea typeface="Times New Roman"/>
                <a:cs typeface="Times New Roman"/>
                <a:sym typeface="Times New Roman"/>
              </a:rPr>
              <a:t>Points (1 pt = 1/72 inch)	</a:t>
            </a:r>
            <a:r>
              <a:rPr lang="en-US" sz="2100">
                <a:solidFill>
                  <a:srgbClr val="188038"/>
                </a:solidFill>
                <a:latin typeface="Times New Roman"/>
                <a:ea typeface="Times New Roman"/>
                <a:cs typeface="Times New Roman"/>
                <a:sym typeface="Times New Roman"/>
              </a:rPr>
              <a:t>font-size: 12pt;</a:t>
            </a:r>
            <a:endParaRPr sz="2100">
              <a:solidFill>
                <a:srgbClr val="188038"/>
              </a:solidFill>
              <a:latin typeface="Times New Roman"/>
              <a:ea typeface="Times New Roman"/>
              <a:cs typeface="Times New Roman"/>
              <a:sym typeface="Times New Roman"/>
            </a:endParaRPr>
          </a:p>
          <a:p>
            <a:pPr indent="0" lvl="0" marL="91440" marR="91440" rtl="0" algn="l">
              <a:lnSpc>
                <a:spcPct val="100000"/>
              </a:lnSpc>
              <a:spcBef>
                <a:spcPts val="0"/>
              </a:spcBef>
              <a:spcAft>
                <a:spcPts val="0"/>
              </a:spcAft>
              <a:buNone/>
            </a:pPr>
            <a:r>
              <a:rPr lang="en-US" sz="2100">
                <a:solidFill>
                  <a:srgbClr val="188038"/>
                </a:solidFill>
                <a:latin typeface="Times New Roman"/>
                <a:ea typeface="Times New Roman"/>
                <a:cs typeface="Times New Roman"/>
                <a:sym typeface="Times New Roman"/>
              </a:rPr>
              <a:t>pc	</a:t>
            </a:r>
            <a:r>
              <a:rPr lang="en-US" sz="2100">
                <a:solidFill>
                  <a:srgbClr val="000000"/>
                </a:solidFill>
                <a:latin typeface="Times New Roman"/>
                <a:ea typeface="Times New Roman"/>
                <a:cs typeface="Times New Roman"/>
                <a:sym typeface="Times New Roman"/>
              </a:rPr>
              <a:t>Picas (1 pc = 12 pt)	</a:t>
            </a:r>
            <a:r>
              <a:rPr lang="en-US" sz="2100">
                <a:solidFill>
                  <a:srgbClr val="188038"/>
                </a:solidFill>
                <a:latin typeface="Times New Roman"/>
                <a:ea typeface="Times New Roman"/>
                <a:cs typeface="Times New Roman"/>
                <a:sym typeface="Times New Roman"/>
              </a:rPr>
              <a:t>margin: 2pc;</a:t>
            </a:r>
            <a:endParaRPr sz="2100">
              <a:solidFill>
                <a:srgbClr val="188038"/>
              </a:solidFill>
              <a:latin typeface="Times New Roman"/>
              <a:ea typeface="Times New Roman"/>
              <a:cs typeface="Times New Roman"/>
              <a:sym typeface="Times New Roman"/>
            </a:endParaRPr>
          </a:p>
          <a:p>
            <a:pPr indent="0" lvl="0" marL="91440" marR="91440" rtl="0" algn="l">
              <a:lnSpc>
                <a:spcPct val="100000"/>
              </a:lnSpc>
              <a:spcBef>
                <a:spcPts val="0"/>
              </a:spcBef>
              <a:spcAft>
                <a:spcPts val="0"/>
              </a:spcAft>
              <a:buNone/>
            </a:pPr>
            <a:r>
              <a:rPr lang="en-US" sz="2100">
                <a:solidFill>
                  <a:srgbClr val="188038"/>
                </a:solidFill>
                <a:latin typeface="Times New Roman"/>
                <a:ea typeface="Times New Roman"/>
                <a:cs typeface="Times New Roman"/>
                <a:sym typeface="Times New Roman"/>
              </a:rPr>
              <a:t>vmin	</a:t>
            </a:r>
            <a:r>
              <a:rPr lang="en-US" sz="2100">
                <a:solidFill>
                  <a:srgbClr val="000000"/>
                </a:solidFill>
                <a:latin typeface="Times New Roman"/>
                <a:ea typeface="Times New Roman"/>
                <a:cs typeface="Times New Roman"/>
                <a:sym typeface="Times New Roman"/>
              </a:rPr>
              <a:t>Smaller of viewport width or height		</a:t>
            </a:r>
            <a:r>
              <a:rPr lang="en-US" sz="2100">
                <a:solidFill>
                  <a:srgbClr val="188038"/>
                </a:solidFill>
                <a:latin typeface="Times New Roman"/>
                <a:ea typeface="Times New Roman"/>
                <a:cs typeface="Times New Roman"/>
                <a:sym typeface="Times New Roman"/>
              </a:rPr>
              <a:t>width: 50vmin;</a:t>
            </a:r>
            <a:endParaRPr sz="2100">
              <a:solidFill>
                <a:srgbClr val="188038"/>
              </a:solidFill>
              <a:latin typeface="Times New Roman"/>
              <a:ea typeface="Times New Roman"/>
              <a:cs typeface="Times New Roman"/>
              <a:sym typeface="Times New Roman"/>
            </a:endParaRPr>
          </a:p>
          <a:p>
            <a:pPr indent="0" lvl="0" marL="91440" marR="91440" rtl="0" algn="l">
              <a:lnSpc>
                <a:spcPct val="100000"/>
              </a:lnSpc>
              <a:spcBef>
                <a:spcPts val="0"/>
              </a:spcBef>
              <a:spcAft>
                <a:spcPts val="0"/>
              </a:spcAft>
              <a:buNone/>
            </a:pPr>
            <a:r>
              <a:rPr lang="en-US" sz="2100">
                <a:solidFill>
                  <a:srgbClr val="188038"/>
                </a:solidFill>
                <a:latin typeface="Times New Roman"/>
                <a:ea typeface="Times New Roman"/>
                <a:cs typeface="Times New Roman"/>
                <a:sym typeface="Times New Roman"/>
              </a:rPr>
              <a:t>vmax	</a:t>
            </a:r>
            <a:r>
              <a:rPr lang="en-US" sz="2100">
                <a:solidFill>
                  <a:srgbClr val="000000"/>
                </a:solidFill>
                <a:latin typeface="Times New Roman"/>
                <a:ea typeface="Times New Roman"/>
                <a:cs typeface="Times New Roman"/>
                <a:sym typeface="Times New Roman"/>
              </a:rPr>
              <a:t>Larger of viewport width or height		</a:t>
            </a:r>
            <a:r>
              <a:rPr lang="en-US" sz="2100">
                <a:solidFill>
                  <a:srgbClr val="188038"/>
                </a:solidFill>
                <a:latin typeface="Times New Roman"/>
                <a:ea typeface="Times New Roman"/>
                <a:cs typeface="Times New Roman"/>
                <a:sym typeface="Times New Roman"/>
              </a:rPr>
              <a:t>width: 50vmax;</a:t>
            </a:r>
            <a:endParaRPr sz="2100">
              <a:solidFill>
                <a:srgbClr val="188038"/>
              </a:solidFill>
              <a:latin typeface="Times New Roman"/>
              <a:ea typeface="Times New Roman"/>
              <a:cs typeface="Times New Roman"/>
              <a:sym typeface="Times New Roman"/>
            </a:endParaRPr>
          </a:p>
          <a:p>
            <a:pPr indent="0" lvl="0" marL="91440" marR="91440" rtl="0" algn="l">
              <a:lnSpc>
                <a:spcPct val="100000"/>
              </a:lnSpc>
              <a:spcBef>
                <a:spcPts val="0"/>
              </a:spcBef>
              <a:spcAft>
                <a:spcPts val="0"/>
              </a:spcAft>
              <a:buNone/>
            </a:pPr>
            <a:r>
              <a:rPr lang="en-US" sz="2100">
                <a:solidFill>
                  <a:srgbClr val="188038"/>
                </a:solidFill>
                <a:latin typeface="Times New Roman"/>
                <a:ea typeface="Times New Roman"/>
                <a:cs typeface="Times New Roman"/>
                <a:sym typeface="Times New Roman"/>
              </a:rPr>
              <a:t>auto	</a:t>
            </a:r>
            <a:r>
              <a:rPr lang="en-US" sz="2100">
                <a:solidFill>
                  <a:srgbClr val="000000"/>
                </a:solidFill>
                <a:latin typeface="Times New Roman"/>
                <a:ea typeface="Times New Roman"/>
                <a:cs typeface="Times New Roman"/>
                <a:sym typeface="Times New Roman"/>
              </a:rPr>
              <a:t>Browser automatically calculates the size	</a:t>
            </a:r>
            <a:r>
              <a:rPr lang="en-US" sz="2100">
                <a:solidFill>
                  <a:srgbClr val="188038"/>
                </a:solidFill>
                <a:latin typeface="Times New Roman"/>
                <a:ea typeface="Times New Roman"/>
                <a:cs typeface="Times New Roman"/>
                <a:sym typeface="Times New Roman"/>
              </a:rPr>
              <a:t>margin: auto;</a:t>
            </a:r>
            <a:endParaRPr sz="2100">
              <a:solidFill>
                <a:srgbClr val="188038"/>
              </a:solidFill>
              <a:latin typeface="Times New Roman"/>
              <a:ea typeface="Times New Roman"/>
              <a:cs typeface="Times New Roman"/>
              <a:sym typeface="Times New Roman"/>
            </a:endParaRPr>
          </a:p>
          <a:p>
            <a:pPr indent="0" lvl="0" marL="0" rtl="0" algn="l">
              <a:spcBef>
                <a:spcPts val="1000"/>
              </a:spcBef>
              <a:spcAft>
                <a:spcPts val="0"/>
              </a:spcAft>
              <a:buNone/>
            </a:pPr>
            <a:r>
              <a:t/>
            </a:r>
            <a:endParaRPr sz="15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3"/>
          <p:cNvSpPr txBox="1"/>
          <p:nvPr>
            <p:ph type="title"/>
          </p:nvPr>
        </p:nvSpPr>
        <p:spPr>
          <a:xfrm>
            <a:off x="818866" y="204716"/>
            <a:ext cx="11133600" cy="660600"/>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b="1" lang="en-US" sz="3600">
                <a:solidFill>
                  <a:srgbClr val="600000"/>
                </a:solidFill>
                <a:latin typeface="Times New Roman"/>
                <a:ea typeface="Times New Roman"/>
                <a:cs typeface="Times New Roman"/>
                <a:sym typeface="Times New Roman"/>
              </a:rPr>
              <a:t>Inline-Level Elements &amp; Headings</a:t>
            </a:r>
            <a:endParaRPr/>
          </a:p>
        </p:txBody>
      </p:sp>
      <p:pic>
        <p:nvPicPr>
          <p:cNvPr descr="C:\Users\GANGA\Desktop\download.jpg" id="210" name="Google Shape;210;p13"/>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211" name="Google Shape;211;p13"/>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2" name="Google Shape;212;p13"/>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3" name="Google Shape;213;p13"/>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92500" lnSpcReduction="10000"/>
          </a:bodyPr>
          <a:lstStyle/>
          <a:p>
            <a:pPr indent="-457200" lvl="0" marL="457200" marR="0" rtl="0" algn="just">
              <a:lnSpc>
                <a:spcPct val="150000"/>
              </a:lnSpc>
              <a:spcBef>
                <a:spcPts val="0"/>
              </a:spcBef>
              <a:spcAft>
                <a:spcPts val="0"/>
              </a:spcAft>
              <a:buClr>
                <a:srgbClr val="003300"/>
              </a:buClr>
              <a:buSzPct val="108108"/>
              <a:buFont typeface="Noto Sans Symbols"/>
              <a:buChar char="⮚"/>
            </a:pPr>
            <a:r>
              <a:rPr b="0" i="0" lang="en-US" sz="2800" u="none" cap="none" strike="noStrike">
                <a:solidFill>
                  <a:srgbClr val="003300"/>
                </a:solidFill>
                <a:latin typeface="Times New Roman"/>
                <a:ea typeface="Times New Roman"/>
                <a:cs typeface="Times New Roman"/>
                <a:sym typeface="Times New Roman"/>
              </a:rPr>
              <a:t>Inline-level elements are those elements of the source document that do not form new blocks of content; the content is distributed in lines. </a:t>
            </a:r>
            <a:endParaRPr b="0" i="0" sz="2800" u="none" cap="none" strike="noStrike">
              <a:solidFill>
                <a:srgbClr val="003300"/>
              </a:solidFill>
              <a:latin typeface="Times New Roman"/>
              <a:ea typeface="Times New Roman"/>
              <a:cs typeface="Times New Roman"/>
              <a:sym typeface="Times New Roman"/>
            </a:endParaRPr>
          </a:p>
          <a:p>
            <a:pPr indent="-457200" lvl="0" marL="457200" marR="0" rtl="0" algn="l">
              <a:lnSpc>
                <a:spcPct val="150000"/>
              </a:lnSpc>
              <a:spcBef>
                <a:spcPts val="1000"/>
              </a:spcBef>
              <a:spcAft>
                <a:spcPts val="0"/>
              </a:spcAft>
              <a:buClr>
                <a:srgbClr val="003300"/>
              </a:buClr>
              <a:buSzPct val="108108"/>
              <a:buFont typeface="Noto Sans Symbols"/>
              <a:buChar char="⮚"/>
            </a:pPr>
            <a:r>
              <a:rPr b="0" i="0" lang="en-US" sz="2800" u="none" cap="none" strike="noStrike">
                <a:solidFill>
                  <a:srgbClr val="003300"/>
                </a:solidFill>
                <a:latin typeface="Times New Roman"/>
                <a:ea typeface="Times New Roman"/>
                <a:cs typeface="Times New Roman"/>
                <a:sym typeface="Times New Roman"/>
              </a:rPr>
              <a:t>For example, emphasized pieces of text within a paragraph </a:t>
            </a:r>
            <a:r>
              <a:rPr b="1" i="0" lang="en-US" sz="2800" u="none" cap="none" strike="noStrike">
                <a:solidFill>
                  <a:srgbClr val="600000"/>
                </a:solidFill>
                <a:latin typeface="Times New Roman"/>
                <a:ea typeface="Times New Roman"/>
                <a:cs typeface="Times New Roman"/>
                <a:sym typeface="Times New Roman"/>
              </a:rPr>
              <a:t>(&lt;em&gt;), </a:t>
            </a:r>
            <a:r>
              <a:rPr b="0" i="0" lang="en-US" sz="2800" u="none" cap="none" strike="noStrike">
                <a:solidFill>
                  <a:srgbClr val="003300"/>
                </a:solidFill>
                <a:latin typeface="Times New Roman"/>
                <a:ea typeface="Times New Roman"/>
                <a:cs typeface="Times New Roman"/>
                <a:sym typeface="Times New Roman"/>
              </a:rPr>
              <a:t>strong element </a:t>
            </a:r>
            <a:r>
              <a:rPr b="1" i="0" lang="en-US" sz="2800" u="none" cap="none" strike="noStrike">
                <a:solidFill>
                  <a:srgbClr val="600000"/>
                </a:solidFill>
                <a:latin typeface="Times New Roman"/>
                <a:ea typeface="Times New Roman"/>
                <a:cs typeface="Times New Roman"/>
                <a:sym typeface="Times New Roman"/>
              </a:rPr>
              <a:t>(&lt;strong&gt;) </a:t>
            </a:r>
            <a:r>
              <a:rPr b="0" i="0" lang="en-US" sz="2800" u="none" cap="none" strike="noStrike">
                <a:solidFill>
                  <a:srgbClr val="003300"/>
                </a:solidFill>
                <a:latin typeface="Times New Roman"/>
                <a:ea typeface="Times New Roman"/>
                <a:cs typeface="Times New Roman"/>
                <a:sym typeface="Times New Roman"/>
              </a:rPr>
              <a:t>etc.</a:t>
            </a:r>
            <a:br>
              <a:rPr b="0" i="0" lang="en-US" sz="2800" u="none" cap="none" strike="noStrike">
                <a:solidFill>
                  <a:srgbClr val="003300"/>
                </a:solidFill>
                <a:latin typeface="Times New Roman"/>
                <a:ea typeface="Times New Roman"/>
                <a:cs typeface="Times New Roman"/>
                <a:sym typeface="Times New Roman"/>
              </a:rPr>
            </a:br>
            <a:endParaRPr b="0" i="0" sz="1400" u="none" cap="none" strike="noStrike">
              <a:solidFill>
                <a:srgbClr val="000000"/>
              </a:solidFill>
              <a:latin typeface="Arial"/>
              <a:ea typeface="Arial"/>
              <a:cs typeface="Arial"/>
              <a:sym typeface="Arial"/>
            </a:endParaRPr>
          </a:p>
          <a:p>
            <a:pPr indent="0" lvl="0" marL="0" marR="0" rtl="0" algn="just">
              <a:lnSpc>
                <a:spcPct val="250000"/>
              </a:lnSpc>
              <a:spcBef>
                <a:spcPts val="0"/>
              </a:spcBef>
              <a:spcAft>
                <a:spcPts val="0"/>
              </a:spcAft>
              <a:buNone/>
            </a:pPr>
            <a:r>
              <a:rPr b="1" i="0" lang="en-US" sz="2800" u="none" cap="none" strike="noStrike">
                <a:solidFill>
                  <a:srgbClr val="600000"/>
                </a:solidFill>
                <a:latin typeface="Times New Roman"/>
                <a:ea typeface="Times New Roman"/>
                <a:cs typeface="Times New Roman"/>
                <a:sym typeface="Times New Roman"/>
              </a:rPr>
              <a:t>HTML headings </a:t>
            </a:r>
            <a:r>
              <a:rPr b="0" i="0" lang="en-US" sz="2800" u="none" cap="none" strike="noStrike">
                <a:solidFill>
                  <a:srgbClr val="003300"/>
                </a:solidFill>
                <a:latin typeface="Times New Roman"/>
                <a:ea typeface="Times New Roman"/>
                <a:cs typeface="Times New Roman"/>
                <a:sym typeface="Times New Roman"/>
              </a:rPr>
              <a:t>are defined with the </a:t>
            </a:r>
            <a:r>
              <a:rPr b="1" i="0" lang="en-US" sz="2800" u="none" cap="none" strike="noStrike">
                <a:solidFill>
                  <a:srgbClr val="600000"/>
                </a:solidFill>
                <a:latin typeface="Times New Roman"/>
                <a:ea typeface="Times New Roman"/>
                <a:cs typeface="Times New Roman"/>
                <a:sym typeface="Times New Roman"/>
              </a:rPr>
              <a:t>&lt;h1&gt; to &lt;h6&gt;</a:t>
            </a:r>
            <a:r>
              <a:rPr b="0" i="0" lang="en-US" sz="2800" u="none" cap="none" strike="noStrike">
                <a:solidFill>
                  <a:srgbClr val="003300"/>
                </a:solidFill>
                <a:latin typeface="Times New Roman"/>
                <a:ea typeface="Times New Roman"/>
                <a:cs typeface="Times New Roman"/>
                <a:sym typeface="Times New Roman"/>
              </a:rPr>
              <a:t> tags.</a:t>
            </a:r>
            <a:endParaRPr b="0" i="0" sz="1400" u="none" cap="none" strike="noStrike">
              <a:solidFill>
                <a:srgbClr val="000000"/>
              </a:solidFill>
              <a:latin typeface="Arial"/>
              <a:ea typeface="Arial"/>
              <a:cs typeface="Arial"/>
              <a:sym typeface="Arial"/>
            </a:endParaRPr>
          </a:p>
          <a:p>
            <a:pPr indent="-457200" lvl="0" marL="457200" marR="0" rtl="0" algn="just">
              <a:lnSpc>
                <a:spcPct val="250000"/>
              </a:lnSpc>
              <a:spcBef>
                <a:spcPts val="0"/>
              </a:spcBef>
              <a:spcAft>
                <a:spcPts val="0"/>
              </a:spcAft>
              <a:buClr>
                <a:srgbClr val="600000"/>
              </a:buClr>
              <a:buSzPct val="108108"/>
              <a:buFont typeface="Noto Sans Symbols"/>
              <a:buChar char="⮚"/>
            </a:pPr>
            <a:r>
              <a:rPr b="1" i="0" lang="en-US" sz="2800" u="none" cap="none" strike="noStrike">
                <a:solidFill>
                  <a:srgbClr val="600000"/>
                </a:solidFill>
                <a:latin typeface="Times New Roman"/>
                <a:ea typeface="Times New Roman"/>
                <a:cs typeface="Times New Roman"/>
                <a:sym typeface="Times New Roman"/>
              </a:rPr>
              <a:t>&lt;h1&gt; </a:t>
            </a:r>
            <a:r>
              <a:rPr b="0" i="0" lang="en-US" sz="2800" u="none" cap="none" strike="noStrike">
                <a:solidFill>
                  <a:srgbClr val="003300"/>
                </a:solidFill>
                <a:latin typeface="Times New Roman"/>
                <a:ea typeface="Times New Roman"/>
                <a:cs typeface="Times New Roman"/>
                <a:sym typeface="Times New Roman"/>
              </a:rPr>
              <a:t>defines the most important heading. </a:t>
            </a:r>
            <a:endParaRPr b="0" i="0" sz="2800" u="none" cap="none" strike="noStrike">
              <a:solidFill>
                <a:srgbClr val="003300"/>
              </a:solidFill>
              <a:latin typeface="Times New Roman"/>
              <a:ea typeface="Times New Roman"/>
              <a:cs typeface="Times New Roman"/>
              <a:sym typeface="Times New Roman"/>
            </a:endParaRPr>
          </a:p>
          <a:p>
            <a:pPr indent="-457200" lvl="0" marL="457200" marR="0" rtl="0" algn="just">
              <a:lnSpc>
                <a:spcPct val="250000"/>
              </a:lnSpc>
              <a:spcBef>
                <a:spcPts val="0"/>
              </a:spcBef>
              <a:spcAft>
                <a:spcPts val="0"/>
              </a:spcAft>
              <a:buClr>
                <a:srgbClr val="600000"/>
              </a:buClr>
              <a:buSzPct val="108108"/>
              <a:buFont typeface="Noto Sans Symbols"/>
              <a:buChar char="⮚"/>
            </a:pPr>
            <a:r>
              <a:rPr b="1" i="0" lang="en-US" sz="2800" u="none" cap="none" strike="noStrike">
                <a:solidFill>
                  <a:srgbClr val="600000"/>
                </a:solidFill>
                <a:latin typeface="Times New Roman"/>
                <a:ea typeface="Times New Roman"/>
                <a:cs typeface="Times New Roman"/>
                <a:sym typeface="Times New Roman"/>
              </a:rPr>
              <a:t>&lt;h6&gt; </a:t>
            </a:r>
            <a:r>
              <a:rPr b="0" i="0" lang="en-US" sz="2800" u="none" cap="none" strike="noStrike">
                <a:solidFill>
                  <a:srgbClr val="003300"/>
                </a:solidFill>
                <a:latin typeface="Times New Roman"/>
                <a:ea typeface="Times New Roman"/>
                <a:cs typeface="Times New Roman"/>
                <a:sym typeface="Times New Roman"/>
              </a:rPr>
              <a:t>defines the least important heading.</a:t>
            </a:r>
            <a:endParaRPr b="0" i="0" sz="1400" u="none" cap="none" strike="noStrike">
              <a:solidFill>
                <a:srgbClr val="000000"/>
              </a:solidFill>
              <a:latin typeface="Arial"/>
              <a:ea typeface="Arial"/>
              <a:cs typeface="Arial"/>
              <a:sym typeface="Arial"/>
            </a:endParaRPr>
          </a:p>
          <a:p>
            <a:pPr indent="-279400" lvl="0" marL="457200" marR="0" rtl="0" algn="just">
              <a:lnSpc>
                <a:spcPct val="150000"/>
              </a:lnSpc>
              <a:spcBef>
                <a:spcPts val="1000"/>
              </a:spcBef>
              <a:spcAft>
                <a:spcPts val="0"/>
              </a:spcAft>
              <a:buClr>
                <a:schemeClr val="dk1"/>
              </a:buClr>
              <a:buSzPct val="108108"/>
              <a:buFont typeface="Noto Sans Symbols"/>
              <a:buNone/>
            </a:pPr>
            <a:r>
              <a:t/>
            </a:r>
            <a:endParaRPr b="0" i="0" sz="2800" u="none" cap="none" strike="noStrike">
              <a:solidFill>
                <a:srgbClr val="003300"/>
              </a:solidFill>
              <a:latin typeface="Times New Roman"/>
              <a:ea typeface="Times New Roman"/>
              <a:cs typeface="Times New Roman"/>
              <a:sym typeface="Times New Roman"/>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id="214" name="Google Shape;214;p13"/>
          <p:cNvPicPr preferRelativeResize="0"/>
          <p:nvPr/>
        </p:nvPicPr>
        <p:blipFill rotWithShape="1">
          <a:blip r:embed="rId4">
            <a:alphaModFix/>
          </a:blip>
          <a:srcRect b="0" l="0" r="0" t="0"/>
          <a:stretch/>
        </p:blipFill>
        <p:spPr>
          <a:xfrm>
            <a:off x="8944303" y="3812147"/>
            <a:ext cx="2869324" cy="2382591"/>
          </a:xfrm>
          <a:prstGeom prst="rect">
            <a:avLst/>
          </a:prstGeom>
          <a:noFill/>
          <a:ln>
            <a:noFill/>
          </a:ln>
        </p:spPr>
      </p:pic>
      <p:pic>
        <p:nvPicPr>
          <p:cNvPr id="215" name="Google Shape;215;p13"/>
          <p:cNvPicPr preferRelativeResize="0"/>
          <p:nvPr/>
        </p:nvPicPr>
        <p:blipFill rotWithShape="1">
          <a:blip r:embed="rId5">
            <a:alphaModFix/>
          </a:blip>
          <a:srcRect b="0" l="0" r="0" t="0"/>
          <a:stretch/>
        </p:blipFill>
        <p:spPr>
          <a:xfrm>
            <a:off x="8734097" y="6194738"/>
            <a:ext cx="1891862" cy="40575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4"/>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b="1" lang="en-US" sz="3600">
                <a:solidFill>
                  <a:srgbClr val="600000"/>
                </a:solidFill>
                <a:latin typeface="Times New Roman"/>
                <a:ea typeface="Times New Roman"/>
                <a:cs typeface="Times New Roman"/>
                <a:sym typeface="Times New Roman"/>
              </a:rPr>
              <a:t>HTML Headings</a:t>
            </a:r>
            <a:endParaRPr b="1" sz="3600">
              <a:solidFill>
                <a:srgbClr val="600000"/>
              </a:solidFill>
              <a:latin typeface="Times New Roman"/>
              <a:ea typeface="Times New Roman"/>
              <a:cs typeface="Times New Roman"/>
              <a:sym typeface="Times New Roman"/>
            </a:endParaRPr>
          </a:p>
        </p:txBody>
      </p:sp>
      <p:pic>
        <p:nvPicPr>
          <p:cNvPr descr="C:\Users\GANGA\Desktop\download.jpg" id="221" name="Google Shape;221;p14"/>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222" name="Google Shape;222;p14"/>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3" name="Google Shape;223;p14"/>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4" name="Google Shape;224;p14"/>
          <p:cNvSpPr txBox="1"/>
          <p:nvPr/>
        </p:nvSpPr>
        <p:spPr>
          <a:xfrm>
            <a:off x="818866" y="92491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&lt;body&gt;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&lt;h1&gt;This is heading 1&lt;/h1&gt;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&lt;h2&gt;This is heading 2&lt;/h2&gt;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&lt;h3&gt;This is heading 3&lt;/h3&gt;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&lt;h4&gt;This is heading 4&lt;/h4&gt;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&lt;h5&gt;This is heading 5&lt;/h5&gt;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&lt;h6&gt;This is heading 6&lt;/h6&gt;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file2.jpg" id="225" name="Google Shape;225;p14"/>
          <p:cNvPicPr preferRelativeResize="0"/>
          <p:nvPr/>
        </p:nvPicPr>
        <p:blipFill rotWithShape="1">
          <a:blip r:embed="rId4">
            <a:alphaModFix/>
          </a:blip>
          <a:srcRect b="0" l="0" r="0" t="0"/>
          <a:stretch/>
        </p:blipFill>
        <p:spPr>
          <a:xfrm>
            <a:off x="8092966" y="1993856"/>
            <a:ext cx="3641756" cy="3657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5"/>
          <p:cNvSpPr txBox="1"/>
          <p:nvPr/>
        </p:nvSpPr>
        <p:spPr>
          <a:xfrm>
            <a:off x="163772" y="204716"/>
            <a:ext cx="10781732"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HTML Attributes</a:t>
            </a:r>
            <a:endParaRPr b="1" i="0" sz="3600" u="none" cap="none" strike="noStrike">
              <a:solidFill>
                <a:srgbClr val="600000"/>
              </a:solidFill>
              <a:latin typeface="Times New Roman"/>
              <a:ea typeface="Times New Roman"/>
              <a:cs typeface="Times New Roman"/>
              <a:sym typeface="Times New Roman"/>
            </a:endParaRPr>
          </a:p>
        </p:txBody>
      </p:sp>
      <p:sp>
        <p:nvSpPr>
          <p:cNvPr id="231" name="Google Shape;231;p15"/>
          <p:cNvSpPr txBox="1"/>
          <p:nvPr/>
        </p:nvSpPr>
        <p:spPr>
          <a:xfrm>
            <a:off x="163772" y="1017732"/>
            <a:ext cx="10781731" cy="567928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457200" lvl="0" marL="457200" marR="0" rtl="0" algn="l">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All HTML elements can have </a:t>
            </a:r>
            <a:r>
              <a:rPr b="1" i="0" lang="en-US" sz="2800" u="none" cap="none" strike="noStrike">
                <a:solidFill>
                  <a:srgbClr val="003300"/>
                </a:solidFill>
                <a:latin typeface="Times New Roman"/>
                <a:ea typeface="Times New Roman"/>
                <a:cs typeface="Times New Roman"/>
                <a:sym typeface="Times New Roman"/>
              </a:rPr>
              <a:t>attributes</a:t>
            </a:r>
            <a:endParaRPr b="0" i="0" sz="1400" u="none" cap="none" strike="noStrike">
              <a:solidFill>
                <a:srgbClr val="000000"/>
              </a:solidFill>
              <a:latin typeface="Arial"/>
              <a:ea typeface="Arial"/>
              <a:cs typeface="Arial"/>
              <a:sym typeface="Arial"/>
            </a:endParaRPr>
          </a:p>
          <a:p>
            <a:pPr indent="-279400" lvl="0" marL="457200" marR="0" rtl="0" algn="l">
              <a:lnSpc>
                <a:spcPct val="150000"/>
              </a:lnSpc>
              <a:spcBef>
                <a:spcPts val="0"/>
              </a:spcBef>
              <a:spcAft>
                <a:spcPts val="0"/>
              </a:spcAft>
              <a:buClr>
                <a:schemeClr val="dk1"/>
              </a:buClr>
              <a:buSzPts val="2800"/>
              <a:buFont typeface="Noto Sans Symbols"/>
              <a:buNone/>
            </a:pPr>
            <a:r>
              <a:t/>
            </a:r>
            <a:endParaRPr b="0" i="0" sz="2800" u="none" cap="none" strike="noStrike">
              <a:solidFill>
                <a:srgbClr val="003300"/>
              </a:solidFill>
              <a:latin typeface="Times New Roman"/>
              <a:ea typeface="Times New Roman"/>
              <a:cs typeface="Times New Roman"/>
              <a:sym typeface="Times New Roman"/>
            </a:endParaRPr>
          </a:p>
          <a:p>
            <a:pPr indent="-457200" lvl="0" marL="457200" marR="0" rtl="0" algn="l">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Attributes provide </a:t>
            </a:r>
            <a:r>
              <a:rPr b="1" i="0" lang="en-US" sz="2800" u="none" cap="none" strike="noStrike">
                <a:solidFill>
                  <a:srgbClr val="003300"/>
                </a:solidFill>
                <a:latin typeface="Times New Roman"/>
                <a:ea typeface="Times New Roman"/>
                <a:cs typeface="Times New Roman"/>
                <a:sym typeface="Times New Roman"/>
              </a:rPr>
              <a:t>additional information</a:t>
            </a:r>
            <a:r>
              <a:rPr b="0" i="0" lang="en-US" sz="2800" u="none" cap="none" strike="noStrike">
                <a:solidFill>
                  <a:srgbClr val="003300"/>
                </a:solidFill>
                <a:latin typeface="Times New Roman"/>
                <a:ea typeface="Times New Roman"/>
                <a:cs typeface="Times New Roman"/>
                <a:sym typeface="Times New Roman"/>
              </a:rPr>
              <a:t> about an element</a:t>
            </a:r>
            <a:endParaRPr b="0" i="0" sz="1400" u="none" cap="none" strike="noStrike">
              <a:solidFill>
                <a:srgbClr val="000000"/>
              </a:solidFill>
              <a:latin typeface="Arial"/>
              <a:ea typeface="Arial"/>
              <a:cs typeface="Arial"/>
              <a:sym typeface="Arial"/>
            </a:endParaRPr>
          </a:p>
          <a:p>
            <a:pPr indent="-279400" lvl="0" marL="457200" marR="0" rtl="0" algn="l">
              <a:lnSpc>
                <a:spcPct val="150000"/>
              </a:lnSpc>
              <a:spcBef>
                <a:spcPts val="0"/>
              </a:spcBef>
              <a:spcAft>
                <a:spcPts val="0"/>
              </a:spcAft>
              <a:buClr>
                <a:schemeClr val="dk1"/>
              </a:buClr>
              <a:buSzPts val="2800"/>
              <a:buFont typeface="Noto Sans Symbols"/>
              <a:buNone/>
            </a:pPr>
            <a:r>
              <a:t/>
            </a:r>
            <a:endParaRPr b="0" i="0" sz="2800" u="none" cap="none" strike="noStrike">
              <a:solidFill>
                <a:srgbClr val="003300"/>
              </a:solidFill>
              <a:latin typeface="Times New Roman"/>
              <a:ea typeface="Times New Roman"/>
              <a:cs typeface="Times New Roman"/>
              <a:sym typeface="Times New Roman"/>
            </a:endParaRPr>
          </a:p>
          <a:p>
            <a:pPr indent="-457200" lvl="0" marL="457200" marR="0" rtl="0" algn="l">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Attributes are always specified in </a:t>
            </a:r>
            <a:r>
              <a:rPr b="1" i="0" lang="en-US" sz="2800" u="none" cap="none" strike="noStrike">
                <a:solidFill>
                  <a:srgbClr val="003300"/>
                </a:solidFill>
                <a:latin typeface="Times New Roman"/>
                <a:ea typeface="Times New Roman"/>
                <a:cs typeface="Times New Roman"/>
                <a:sym typeface="Times New Roman"/>
              </a:rPr>
              <a:t>the start tag</a:t>
            </a:r>
            <a:endParaRPr b="0" i="0" sz="1400" u="none" cap="none" strike="noStrike">
              <a:solidFill>
                <a:srgbClr val="000000"/>
              </a:solidFill>
              <a:latin typeface="Arial"/>
              <a:ea typeface="Arial"/>
              <a:cs typeface="Arial"/>
              <a:sym typeface="Arial"/>
            </a:endParaRPr>
          </a:p>
          <a:p>
            <a:pPr indent="-279400" lvl="0" marL="457200" marR="0" rtl="0" algn="l">
              <a:lnSpc>
                <a:spcPct val="150000"/>
              </a:lnSpc>
              <a:spcBef>
                <a:spcPts val="0"/>
              </a:spcBef>
              <a:spcAft>
                <a:spcPts val="0"/>
              </a:spcAft>
              <a:buClr>
                <a:schemeClr val="dk1"/>
              </a:buClr>
              <a:buSzPts val="2800"/>
              <a:buFont typeface="Noto Sans Symbols"/>
              <a:buNone/>
            </a:pPr>
            <a:r>
              <a:t/>
            </a:r>
            <a:endParaRPr b="0" i="0" sz="2800" u="none" cap="none" strike="noStrike">
              <a:solidFill>
                <a:srgbClr val="003300"/>
              </a:solidFill>
              <a:latin typeface="Times New Roman"/>
              <a:ea typeface="Times New Roman"/>
              <a:cs typeface="Times New Roman"/>
              <a:sym typeface="Times New Roman"/>
            </a:endParaRPr>
          </a:p>
          <a:p>
            <a:pPr indent="-457200" lvl="0" marL="457200" marR="0" rtl="0" algn="l">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Attributes usually come in </a:t>
            </a:r>
            <a:r>
              <a:rPr b="1" i="0" lang="en-US" sz="2800" u="none" cap="none" strike="noStrike">
                <a:solidFill>
                  <a:srgbClr val="003300"/>
                </a:solidFill>
                <a:latin typeface="Times New Roman"/>
                <a:ea typeface="Times New Roman"/>
                <a:cs typeface="Times New Roman"/>
                <a:sym typeface="Times New Roman"/>
              </a:rPr>
              <a:t>name/value pairs </a:t>
            </a:r>
            <a:r>
              <a:rPr b="0" i="0" lang="en-US" sz="2800" u="none" cap="none" strike="noStrike">
                <a:solidFill>
                  <a:srgbClr val="003300"/>
                </a:solidFill>
                <a:latin typeface="Times New Roman"/>
                <a:ea typeface="Times New Roman"/>
                <a:cs typeface="Times New Roman"/>
                <a:sym typeface="Times New Roman"/>
              </a:rPr>
              <a:t>like: </a:t>
            </a:r>
            <a:r>
              <a:rPr b="1" i="0" lang="en-US" sz="2800" u="none" cap="none" strike="noStrike">
                <a:solidFill>
                  <a:srgbClr val="003300"/>
                </a:solidFill>
                <a:latin typeface="Times New Roman"/>
                <a:ea typeface="Times New Roman"/>
                <a:cs typeface="Times New Roman"/>
                <a:sym typeface="Times New Roman"/>
              </a:rPr>
              <a:t>name="value"</a:t>
            </a:r>
            <a:endParaRPr b="0" i="0" sz="2800" u="none" cap="none" strike="noStrike">
              <a:solidFill>
                <a:srgbClr val="003300"/>
              </a:solidFill>
              <a:latin typeface="Times New Roman"/>
              <a:ea typeface="Times New Roman"/>
              <a:cs typeface="Times New Roman"/>
              <a:sym typeface="Times New Roman"/>
            </a:endParaRPr>
          </a:p>
        </p:txBody>
      </p:sp>
      <p:sp>
        <p:nvSpPr>
          <p:cNvPr id="232" name="Google Shape;232;p15"/>
          <p:cNvSpPr/>
          <p:nvPr/>
        </p:nvSpPr>
        <p:spPr>
          <a:xfrm>
            <a:off x="11191167" y="0"/>
            <a:ext cx="259311" cy="551369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3" name="Google Shape;233;p15"/>
          <p:cNvSpPr/>
          <p:nvPr/>
        </p:nvSpPr>
        <p:spPr>
          <a:xfrm>
            <a:off x="11450472" y="0"/>
            <a:ext cx="741528" cy="5882183"/>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234" name="Google Shape;234;p15"/>
          <p:cNvPicPr preferRelativeResize="0"/>
          <p:nvPr/>
        </p:nvPicPr>
        <p:blipFill rotWithShape="1">
          <a:blip r:embed="rId3">
            <a:alphaModFix/>
          </a:blip>
          <a:srcRect b="0" l="0" r="0" t="0"/>
          <a:stretch/>
        </p:blipFill>
        <p:spPr>
          <a:xfrm>
            <a:off x="11191166" y="5915467"/>
            <a:ext cx="1000833" cy="915237"/>
          </a:xfrm>
          <a:prstGeom prst="rect">
            <a:avLst/>
          </a:prstGeom>
          <a:noFill/>
          <a:ln cap="flat" cmpd="sng" w="9525">
            <a:solidFill>
              <a:srgbClr val="860000"/>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6"/>
          <p:cNvSpPr txBox="1"/>
          <p:nvPr/>
        </p:nvSpPr>
        <p:spPr>
          <a:xfrm>
            <a:off x="163772" y="204716"/>
            <a:ext cx="11136574"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The Style Attribute</a:t>
            </a:r>
            <a:endParaRPr b="1" i="0" sz="3600" u="none" cap="none" strike="noStrike">
              <a:solidFill>
                <a:srgbClr val="600000"/>
              </a:solidFill>
              <a:latin typeface="Times New Roman"/>
              <a:ea typeface="Times New Roman"/>
              <a:cs typeface="Times New Roman"/>
              <a:sym typeface="Times New Roman"/>
            </a:endParaRPr>
          </a:p>
        </p:txBody>
      </p:sp>
      <p:sp>
        <p:nvSpPr>
          <p:cNvPr id="240" name="Google Shape;240;p16"/>
          <p:cNvSpPr txBox="1"/>
          <p:nvPr/>
        </p:nvSpPr>
        <p:spPr>
          <a:xfrm>
            <a:off x="163772" y="1017733"/>
            <a:ext cx="11122927" cy="5073974"/>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77500" lnSpcReduction="20000"/>
          </a:bodyPr>
          <a:lstStyle/>
          <a:p>
            <a:pPr indent="-457200" lvl="0" marL="457200" marR="0" rtl="0" algn="l">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style attribute is used to specify the styling of an element, like </a:t>
            </a:r>
            <a:r>
              <a:rPr b="1" i="0" lang="en-US" sz="2800" u="none" cap="none" strike="noStrike">
                <a:solidFill>
                  <a:srgbClr val="600000"/>
                </a:solidFill>
                <a:latin typeface="Times New Roman"/>
                <a:ea typeface="Times New Roman"/>
                <a:cs typeface="Times New Roman"/>
                <a:sym typeface="Times New Roman"/>
              </a:rPr>
              <a:t>color, font</a:t>
            </a:r>
            <a:r>
              <a:rPr b="0" i="0" lang="en-US" sz="2800" u="none" cap="none" strike="noStrike">
                <a:solidFill>
                  <a:srgbClr val="003300"/>
                </a:solidFill>
                <a:latin typeface="Times New Roman"/>
                <a:ea typeface="Times New Roman"/>
                <a:cs typeface="Times New Roman"/>
                <a:sym typeface="Times New Roman"/>
              </a:rPr>
              <a:t>, </a:t>
            </a:r>
            <a:r>
              <a:rPr b="1" i="0" lang="en-US" sz="2800" u="none" cap="none" strike="noStrike">
                <a:solidFill>
                  <a:srgbClr val="600000"/>
                </a:solidFill>
                <a:latin typeface="Times New Roman"/>
                <a:ea typeface="Times New Roman"/>
                <a:cs typeface="Times New Roman"/>
                <a:sym typeface="Times New Roman"/>
              </a:rPr>
              <a:t>size </a:t>
            </a:r>
            <a:r>
              <a:rPr b="0" i="0" lang="en-US" sz="2800" u="none" cap="none" strike="noStrike">
                <a:solidFill>
                  <a:srgbClr val="003300"/>
                </a:solidFill>
                <a:latin typeface="Times New Roman"/>
                <a:ea typeface="Times New Roman"/>
                <a:cs typeface="Times New Roman"/>
                <a:sym typeface="Times New Roman"/>
              </a:rPr>
              <a:t>etc.</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chemeClr val="dk1"/>
              </a:buClr>
              <a:buSzPct val="100000"/>
              <a:buFont typeface="Calibri"/>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&lt;!DOCTYPE html&gt;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&lt;p style="color:red"&gt;I am a paragraph.&lt;/p&gt;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&lt;p&gt;Use the style attribute to control an element's layout.&lt;/p&gt;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241" name="Google Shape;241;p16"/>
          <p:cNvSpPr/>
          <p:nvPr/>
        </p:nvSpPr>
        <p:spPr>
          <a:xfrm>
            <a:off x="11477767" y="0"/>
            <a:ext cx="714233" cy="68580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242" name="Google Shape;242;p16"/>
          <p:cNvPicPr preferRelativeResize="0"/>
          <p:nvPr/>
        </p:nvPicPr>
        <p:blipFill rotWithShape="1">
          <a:blip r:embed="rId3">
            <a:alphaModFix/>
          </a:blip>
          <a:srcRect b="0" l="0" r="0" t="0"/>
          <a:stretch/>
        </p:blipFill>
        <p:spPr>
          <a:xfrm>
            <a:off x="163772" y="6209730"/>
            <a:ext cx="778199" cy="593679"/>
          </a:xfrm>
          <a:prstGeom prst="rect">
            <a:avLst/>
          </a:prstGeom>
          <a:noFill/>
          <a:ln cap="flat" cmpd="sng" w="9525">
            <a:solidFill>
              <a:srgbClr val="860000"/>
            </a:solidFill>
            <a:prstDash val="solid"/>
            <a:round/>
            <a:headEnd len="sm" w="sm" type="none"/>
            <a:tailEnd len="sm" w="sm" type="none"/>
          </a:ln>
        </p:spPr>
      </p:pic>
      <p:sp>
        <p:nvSpPr>
          <p:cNvPr id="243" name="Google Shape;243;p16"/>
          <p:cNvSpPr/>
          <p:nvPr/>
        </p:nvSpPr>
        <p:spPr>
          <a:xfrm>
            <a:off x="3346973" y="6209731"/>
            <a:ext cx="8144442" cy="648269"/>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4" name="Google Shape;244;p16"/>
          <p:cNvSpPr/>
          <p:nvPr/>
        </p:nvSpPr>
        <p:spPr>
          <a:xfrm>
            <a:off x="2646389" y="6209730"/>
            <a:ext cx="700584" cy="64827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5" name="Google Shape;245;p16"/>
          <p:cNvSpPr/>
          <p:nvPr/>
        </p:nvSpPr>
        <p:spPr>
          <a:xfrm>
            <a:off x="6046631" y="1905000"/>
            <a:ext cx="5029200" cy="1143000"/>
          </a:xfrm>
          <a:prstGeom prst="rect">
            <a:avLst/>
          </a:prstGeom>
          <a:solidFill>
            <a:schemeClr val="lt1"/>
          </a:solidFill>
          <a:ln cap="flat" cmpd="sng" w="12700">
            <a:solidFill>
              <a:srgbClr val="15705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Calibri"/>
                <a:ea typeface="Calibri"/>
                <a:cs typeface="Calibri"/>
                <a:sym typeface="Calibri"/>
              </a:rPr>
              <a:t>I am a paragraph</a:t>
            </a:r>
            <a:r>
              <a:rPr b="0" i="0" lang="en-US" sz="18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7"/>
          <p:cNvSpPr txBox="1"/>
          <p:nvPr/>
        </p:nvSpPr>
        <p:spPr>
          <a:xfrm>
            <a:off x="163771" y="204716"/>
            <a:ext cx="11778019"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BREAKING LINES AND PARAGRAPHS</a:t>
            </a:r>
            <a:endParaRPr b="1" i="0" sz="3600" u="none" cap="none" strike="noStrike">
              <a:solidFill>
                <a:srgbClr val="600000"/>
              </a:solidFill>
              <a:latin typeface="Times New Roman"/>
              <a:ea typeface="Times New Roman"/>
              <a:cs typeface="Times New Roman"/>
              <a:sym typeface="Times New Roman"/>
            </a:endParaRPr>
          </a:p>
        </p:txBody>
      </p:sp>
      <p:sp>
        <p:nvSpPr>
          <p:cNvPr id="251" name="Google Shape;251;p17"/>
          <p:cNvSpPr txBox="1"/>
          <p:nvPr/>
        </p:nvSpPr>
        <p:spPr>
          <a:xfrm>
            <a:off x="163772" y="979096"/>
            <a:ext cx="11764371" cy="5225185"/>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457200" lvl="0" marL="457200" marR="0" rtl="0" algn="l">
              <a:lnSpc>
                <a:spcPct val="150000"/>
              </a:lnSpc>
              <a:spcBef>
                <a:spcPts val="0"/>
              </a:spcBef>
              <a:spcAft>
                <a:spcPts val="0"/>
              </a:spcAft>
              <a:buClr>
                <a:srgbClr val="600000"/>
              </a:buClr>
              <a:buSzPts val="2800"/>
              <a:buFont typeface="Noto Sans Symbols"/>
              <a:buChar char="⮚"/>
            </a:pPr>
            <a:r>
              <a:rPr b="1" i="0" lang="en-US" sz="2800" u="none" cap="none" strike="noStrike">
                <a:solidFill>
                  <a:srgbClr val="600000"/>
                </a:solidFill>
                <a:latin typeface="Times New Roman"/>
                <a:ea typeface="Times New Roman"/>
                <a:cs typeface="Times New Roman"/>
                <a:sym typeface="Times New Roman"/>
              </a:rPr>
              <a:t>&lt;P&gt; text &lt;/P&gt;</a:t>
            </a:r>
            <a:endParaRPr b="0" i="0" sz="1400" u="none" cap="none" strike="noStrike">
              <a:solidFill>
                <a:srgbClr val="000000"/>
              </a:solidFill>
              <a:latin typeface="Arial"/>
              <a:ea typeface="Arial"/>
              <a:cs typeface="Arial"/>
              <a:sym typeface="Arial"/>
            </a:endParaRPr>
          </a:p>
          <a:p>
            <a:pPr indent="-457200" lvl="1" marL="914400" marR="0" rtl="0" algn="l">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Paragraph tag</a:t>
            </a:r>
            <a:endParaRPr b="0" i="0" sz="1400" u="none" cap="none" strike="noStrike">
              <a:solidFill>
                <a:srgbClr val="000000"/>
              </a:solidFill>
              <a:latin typeface="Arial"/>
              <a:ea typeface="Arial"/>
              <a:cs typeface="Arial"/>
              <a:sym typeface="Arial"/>
            </a:endParaRPr>
          </a:p>
          <a:p>
            <a:pPr indent="-457200" lvl="1" marL="914400" marR="0" rtl="0" algn="just">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Most browsers render (process) this with blank lines between each paragraph.</a:t>
            </a:r>
            <a:endParaRPr b="0" i="0" sz="2800" u="none" cap="none" strike="noStrike">
              <a:solidFill>
                <a:srgbClr val="003300"/>
              </a:solidFill>
              <a:latin typeface="Times New Roman"/>
              <a:ea typeface="Times New Roman"/>
              <a:cs typeface="Times New Roman"/>
              <a:sym typeface="Times New Roman"/>
            </a:endParaRPr>
          </a:p>
          <a:p>
            <a:pPr indent="-457200" lvl="0" marL="457200" marR="0" rtl="0" algn="l">
              <a:lnSpc>
                <a:spcPct val="150000"/>
              </a:lnSpc>
              <a:spcBef>
                <a:spcPts val="0"/>
              </a:spcBef>
              <a:spcAft>
                <a:spcPts val="0"/>
              </a:spcAft>
              <a:buClr>
                <a:srgbClr val="600000"/>
              </a:buClr>
              <a:buSzPts val="2800"/>
              <a:buFont typeface="Noto Sans Symbols"/>
              <a:buChar char="⮚"/>
            </a:pPr>
            <a:r>
              <a:rPr b="1" i="0" lang="en-US" sz="2800" u="none" cap="none" strike="noStrike">
                <a:solidFill>
                  <a:srgbClr val="600000"/>
                </a:solidFill>
                <a:latin typeface="Times New Roman"/>
                <a:ea typeface="Times New Roman"/>
                <a:cs typeface="Times New Roman"/>
                <a:sym typeface="Times New Roman"/>
              </a:rPr>
              <a:t>&lt;br&gt; </a:t>
            </a:r>
            <a:endParaRPr b="1" i="0" sz="2800" u="none" cap="none" strike="noStrike">
              <a:solidFill>
                <a:srgbClr val="600000"/>
              </a:solidFill>
              <a:latin typeface="Times New Roman"/>
              <a:ea typeface="Times New Roman"/>
              <a:cs typeface="Times New Roman"/>
              <a:sym typeface="Times New Roman"/>
            </a:endParaRPr>
          </a:p>
          <a:p>
            <a:pPr indent="-457200" lvl="1" marL="914400" marR="0" rtl="0" algn="l">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Line break tag</a:t>
            </a:r>
            <a:endParaRPr b="0" i="0" sz="1400" u="none" cap="none" strike="noStrike">
              <a:solidFill>
                <a:srgbClr val="000000"/>
              </a:solidFill>
              <a:latin typeface="Arial"/>
              <a:ea typeface="Arial"/>
              <a:cs typeface="Arial"/>
              <a:sym typeface="Arial"/>
            </a:endParaRPr>
          </a:p>
          <a:p>
            <a:pPr indent="-457200" lvl="1" marL="914400" marR="0" rtl="0" algn="l">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Used when the webmaster wants a carriage return but doesn't want a blank line to follow.</a:t>
            </a:r>
            <a:endParaRPr b="0" i="0" sz="2800" u="none" cap="none" strike="noStrike">
              <a:solidFill>
                <a:srgbClr val="003300"/>
              </a:solidFill>
              <a:latin typeface="Times New Roman"/>
              <a:ea typeface="Times New Roman"/>
              <a:cs typeface="Times New Roman"/>
              <a:sym typeface="Times New Roman"/>
            </a:endParaRPr>
          </a:p>
        </p:txBody>
      </p:sp>
      <p:pic>
        <p:nvPicPr>
          <p:cNvPr descr="C:\Users\GANGA\Desktop\download.jpg" id="252" name="Google Shape;252;p17"/>
          <p:cNvPicPr preferRelativeResize="0"/>
          <p:nvPr/>
        </p:nvPicPr>
        <p:blipFill rotWithShape="1">
          <a:blip r:embed="rId3">
            <a:alphaModFix/>
          </a:blip>
          <a:srcRect b="0" l="0" r="0" t="0"/>
          <a:stretch/>
        </p:blipFill>
        <p:spPr>
          <a:xfrm>
            <a:off x="11305780" y="6242918"/>
            <a:ext cx="622363" cy="615082"/>
          </a:xfrm>
          <a:prstGeom prst="rect">
            <a:avLst/>
          </a:prstGeom>
          <a:noFill/>
          <a:ln cap="flat" cmpd="sng" w="9525">
            <a:solidFill>
              <a:srgbClr val="860000"/>
            </a:solidFill>
            <a:prstDash val="solid"/>
            <a:round/>
            <a:headEnd len="sm" w="sm" type="none"/>
            <a:tailEnd len="sm" w="sm" type="none"/>
          </a:ln>
        </p:spPr>
      </p:pic>
      <p:sp>
        <p:nvSpPr>
          <p:cNvPr id="253" name="Google Shape;253;p17"/>
          <p:cNvSpPr/>
          <p:nvPr/>
        </p:nvSpPr>
        <p:spPr>
          <a:xfrm>
            <a:off x="0" y="6553209"/>
            <a:ext cx="11305780" cy="304791"/>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4" name="Google Shape;254;p17"/>
          <p:cNvSpPr/>
          <p:nvPr/>
        </p:nvSpPr>
        <p:spPr>
          <a:xfrm>
            <a:off x="1" y="6336406"/>
            <a:ext cx="10683416" cy="216803"/>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5" name="Google Shape;255;p17"/>
          <p:cNvSpPr txBox="1"/>
          <p:nvPr/>
        </p:nvSpPr>
        <p:spPr>
          <a:xfrm>
            <a:off x="6045957" y="2969654"/>
            <a:ext cx="3114955" cy="1831230"/>
          </a:xfrm>
          <a:prstGeom prst="rect">
            <a:avLst/>
          </a:prstGeom>
          <a:noFill/>
          <a:ln cap="flat" cmpd="sng" w="53975">
            <a:solidFill>
              <a:srgbClr val="600000"/>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600000"/>
                </a:solidFill>
                <a:latin typeface="Times"/>
                <a:ea typeface="Times"/>
                <a:cs typeface="Times"/>
                <a:sym typeface="Times"/>
              </a:rPr>
              <a:t>Example:</a:t>
            </a:r>
            <a:r>
              <a:rPr b="0" i="0" lang="en-US" sz="1800" u="none" cap="none" strike="noStrike">
                <a:solidFill>
                  <a:schemeClr val="dk1"/>
                </a:solidFill>
                <a:latin typeface="Times"/>
                <a:ea typeface="Times"/>
                <a:cs typeface="Times"/>
                <a:sym typeface="Times"/>
              </a:rPr>
              <a:t>			</a:t>
            </a:r>
            <a:r>
              <a:rPr b="0" i="0" lang="en-US" sz="1100" u="none" cap="none" strike="noStrike">
                <a:solidFill>
                  <a:srgbClr val="003300"/>
                </a:solidFill>
                <a:latin typeface="Times"/>
                <a:ea typeface="Times"/>
                <a:cs typeface="Times"/>
                <a:sym typeface="Times"/>
              </a:rPr>
              <a:t>text a</a:t>
            </a:r>
            <a:endParaRPr b="0" i="0" sz="1100" u="none" cap="none" strike="noStrike">
              <a:solidFill>
                <a:srgbClr val="003300"/>
              </a:solidFill>
              <a:latin typeface="Times"/>
              <a:ea typeface="Times"/>
              <a:cs typeface="Times"/>
              <a:sym typeface="Times"/>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3300"/>
                </a:solidFill>
                <a:latin typeface="Times"/>
                <a:ea typeface="Times"/>
                <a:cs typeface="Times"/>
                <a:sym typeface="Times"/>
              </a:rPr>
              <a:t>  &lt;p&gt;text a&lt;/p&gt;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3300"/>
                </a:solidFill>
                <a:latin typeface="Times"/>
                <a:ea typeface="Times"/>
                <a:cs typeface="Times"/>
                <a:sym typeface="Times"/>
              </a:rPr>
              <a:t>  &lt;p&gt;text b&lt;/p&gt;		text b</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3300"/>
                </a:solidFill>
                <a:latin typeface="Times"/>
                <a:ea typeface="Times"/>
                <a:cs typeface="Times"/>
                <a:sym typeface="Times"/>
              </a:rPr>
              <a:t>  &lt;br&gt;text c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3300"/>
                </a:solidFill>
                <a:latin typeface="Times"/>
                <a:ea typeface="Times"/>
                <a:cs typeface="Times"/>
                <a:sym typeface="Times"/>
              </a:rPr>
              <a:t>  &lt;br&gt;text d</a:t>
            </a:r>
            <a:r>
              <a:rPr b="0" i="0" lang="en-US" sz="1100" u="none" cap="none" strike="noStrike">
                <a:solidFill>
                  <a:schemeClr val="dk1"/>
                </a:solidFill>
                <a:latin typeface="Times"/>
                <a:ea typeface="Times"/>
                <a:cs typeface="Times"/>
                <a:sym typeface="Times"/>
              </a:rPr>
              <a:t>			</a:t>
            </a:r>
            <a:r>
              <a:rPr b="0" i="0" lang="en-US" sz="1100" u="none" cap="none" strike="noStrike">
                <a:solidFill>
                  <a:srgbClr val="003300"/>
                </a:solidFill>
                <a:latin typeface="Times"/>
                <a:ea typeface="Times"/>
                <a:cs typeface="Times"/>
                <a:sym typeface="Times"/>
              </a:rPr>
              <a:t>text c</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3300"/>
                </a:solidFill>
                <a:latin typeface="Times"/>
                <a:ea typeface="Times"/>
                <a:cs typeface="Times"/>
                <a:sym typeface="Times"/>
              </a:rPr>
              <a:t>				        text d</a:t>
            </a:r>
            <a:endParaRPr b="0" i="0" sz="1100" u="none" cap="none" strike="noStrike">
              <a:solidFill>
                <a:srgbClr val="003300"/>
              </a:solidFill>
              <a:latin typeface="Times"/>
              <a:ea typeface="Times"/>
              <a:cs typeface="Times"/>
              <a:sym typeface="Times"/>
            </a:endParaRPr>
          </a:p>
        </p:txBody>
      </p:sp>
      <p:pic>
        <p:nvPicPr>
          <p:cNvPr id="256" name="Google Shape;256;p17"/>
          <p:cNvPicPr preferRelativeResize="0"/>
          <p:nvPr/>
        </p:nvPicPr>
        <p:blipFill rotWithShape="1">
          <a:blip r:embed="rId4">
            <a:alphaModFix/>
          </a:blip>
          <a:srcRect b="0" l="0" r="0" t="0"/>
          <a:stretch/>
        </p:blipFill>
        <p:spPr>
          <a:xfrm>
            <a:off x="9663933" y="3249447"/>
            <a:ext cx="1314450" cy="1609725"/>
          </a:xfrm>
          <a:prstGeom prst="rect">
            <a:avLst/>
          </a:prstGeom>
          <a:noFill/>
          <a:ln>
            <a:noFill/>
          </a:ln>
        </p:spPr>
      </p:pic>
      <p:pic>
        <p:nvPicPr>
          <p:cNvPr id="257" name="Google Shape;257;p17"/>
          <p:cNvPicPr preferRelativeResize="0"/>
          <p:nvPr/>
        </p:nvPicPr>
        <p:blipFill rotWithShape="1">
          <a:blip r:embed="rId5">
            <a:alphaModFix/>
          </a:blip>
          <a:srcRect b="0" l="0" r="0" t="0"/>
          <a:stretch/>
        </p:blipFill>
        <p:spPr>
          <a:xfrm>
            <a:off x="9007690" y="1166648"/>
            <a:ext cx="2219325" cy="1327542"/>
          </a:xfrm>
          <a:prstGeom prst="rect">
            <a:avLst/>
          </a:prstGeom>
          <a:noFill/>
          <a:ln>
            <a:noFill/>
          </a:ln>
        </p:spPr>
      </p:pic>
      <p:pic>
        <p:nvPicPr>
          <p:cNvPr id="258" name="Google Shape;258;p17"/>
          <p:cNvPicPr preferRelativeResize="0"/>
          <p:nvPr/>
        </p:nvPicPr>
        <p:blipFill rotWithShape="1">
          <a:blip r:embed="rId6">
            <a:alphaModFix/>
          </a:blip>
          <a:srcRect b="0" l="0" r="0" t="0"/>
          <a:stretch/>
        </p:blipFill>
        <p:spPr>
          <a:xfrm>
            <a:off x="3163614" y="1240222"/>
            <a:ext cx="5318234" cy="113511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8"/>
          <p:cNvSpPr txBox="1"/>
          <p:nvPr/>
        </p:nvSpPr>
        <p:spPr>
          <a:xfrm>
            <a:off x="68236" y="43974"/>
            <a:ext cx="11123505"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USAGE OF &lt;br&gt;</a:t>
            </a:r>
            <a:endParaRPr b="1" i="0" sz="3600" u="none" cap="none" strike="noStrike">
              <a:solidFill>
                <a:srgbClr val="600000"/>
              </a:solidFill>
              <a:latin typeface="Times New Roman"/>
              <a:ea typeface="Times New Roman"/>
              <a:cs typeface="Times New Roman"/>
              <a:sym typeface="Times New Roman"/>
            </a:endParaRPr>
          </a:p>
        </p:txBody>
      </p:sp>
      <p:sp>
        <p:nvSpPr>
          <p:cNvPr id="264" name="Google Shape;264;p18"/>
          <p:cNvSpPr txBox="1"/>
          <p:nvPr/>
        </p:nvSpPr>
        <p:spPr>
          <a:xfrm>
            <a:off x="68236" y="811369"/>
            <a:ext cx="12012147" cy="546660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&lt;!DOCTYPE html&gt;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&lt;p&gt;This is&lt;br&gt;a paragraph&lt;br&gt;with line breaks&lt;/p&gt;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265" name="Google Shape;265;p18"/>
          <p:cNvPicPr preferRelativeResize="0"/>
          <p:nvPr/>
        </p:nvPicPr>
        <p:blipFill rotWithShape="1">
          <a:blip r:embed="rId3">
            <a:alphaModFix/>
          </a:blip>
          <a:srcRect b="0" l="0" r="0" t="0"/>
          <a:stretch/>
        </p:blipFill>
        <p:spPr>
          <a:xfrm>
            <a:off x="11333408" y="68781"/>
            <a:ext cx="746975" cy="660699"/>
          </a:xfrm>
          <a:prstGeom prst="rect">
            <a:avLst/>
          </a:prstGeom>
          <a:noFill/>
          <a:ln cap="flat" cmpd="sng" w="9525">
            <a:solidFill>
              <a:srgbClr val="860000"/>
            </a:solidFill>
            <a:prstDash val="solid"/>
            <a:round/>
            <a:headEnd len="sm" w="sm" type="none"/>
            <a:tailEnd len="sm" w="sm" type="none"/>
          </a:ln>
        </p:spPr>
      </p:pic>
      <p:sp>
        <p:nvSpPr>
          <p:cNvPr id="266" name="Google Shape;266;p18"/>
          <p:cNvSpPr/>
          <p:nvPr/>
        </p:nvSpPr>
        <p:spPr>
          <a:xfrm>
            <a:off x="0" y="6564573"/>
            <a:ext cx="12192000" cy="293427"/>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7" name="Google Shape;267;p18"/>
          <p:cNvSpPr/>
          <p:nvPr/>
        </p:nvSpPr>
        <p:spPr>
          <a:xfrm>
            <a:off x="1" y="6359859"/>
            <a:ext cx="10276764" cy="19335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file4.jpg" id="268" name="Google Shape;268;p18"/>
          <p:cNvPicPr preferRelativeResize="0"/>
          <p:nvPr/>
        </p:nvPicPr>
        <p:blipFill rotWithShape="1">
          <a:blip r:embed="rId4">
            <a:alphaModFix/>
          </a:blip>
          <a:srcRect b="0" l="0" r="0" t="0"/>
          <a:stretch/>
        </p:blipFill>
        <p:spPr>
          <a:xfrm>
            <a:off x="5910540" y="3629964"/>
            <a:ext cx="5715576" cy="271851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9"/>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b="1" lang="en-US" sz="3600">
                <a:solidFill>
                  <a:srgbClr val="600000"/>
                </a:solidFill>
                <a:latin typeface="Times New Roman"/>
                <a:ea typeface="Times New Roman"/>
                <a:cs typeface="Times New Roman"/>
                <a:sym typeface="Times New Roman"/>
              </a:rPr>
              <a:t>Text Formatting Tags</a:t>
            </a:r>
            <a:endParaRPr b="1" sz="3600">
              <a:solidFill>
                <a:srgbClr val="600000"/>
              </a:solidFill>
              <a:latin typeface="Times New Roman"/>
              <a:ea typeface="Times New Roman"/>
              <a:cs typeface="Times New Roman"/>
              <a:sym typeface="Times New Roman"/>
            </a:endParaRPr>
          </a:p>
        </p:txBody>
      </p:sp>
      <p:pic>
        <p:nvPicPr>
          <p:cNvPr descr="C:\Users\GANGA\Desktop\download.jpg" id="274" name="Google Shape;274;p19"/>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275" name="Google Shape;275;p19"/>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6" name="Google Shape;276;p19"/>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7" name="Google Shape;277;p19"/>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6350" lvl="0" marL="4763" marR="0" rtl="0" algn="l">
              <a:lnSpc>
                <a:spcPct val="100000"/>
              </a:lnSpc>
              <a:spcBef>
                <a:spcPts val="0"/>
              </a:spcBef>
              <a:spcAft>
                <a:spcPts val="0"/>
              </a:spcAft>
              <a:buClr>
                <a:srgbClr val="003300"/>
              </a:buClr>
              <a:buSzPts val="2800"/>
              <a:buFont typeface="Calibri"/>
              <a:buNone/>
            </a:pPr>
            <a:r>
              <a:rPr b="1" i="0" lang="en-US" sz="2800" u="none" cap="none" strike="noStrike">
                <a:solidFill>
                  <a:srgbClr val="003300"/>
                </a:solidFill>
                <a:latin typeface="Calibri"/>
                <a:ea typeface="Calibri"/>
                <a:cs typeface="Calibri"/>
                <a:sym typeface="Calibri"/>
              </a:rPr>
              <a:t>Tag			            					    		Result</a:t>
            </a:r>
            <a:endParaRPr b="0" i="0" sz="2800" u="none" cap="none" strike="noStrike">
              <a:solidFill>
                <a:srgbClr val="003300"/>
              </a:solidFill>
              <a:latin typeface="Calibri"/>
              <a:ea typeface="Calibri"/>
              <a:cs typeface="Calibri"/>
              <a:sym typeface="Calibri"/>
            </a:endParaRPr>
          </a:p>
          <a:p>
            <a:pPr indent="6350" lvl="0" marL="4763"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3300"/>
              </a:solidFill>
              <a:latin typeface="Calibri"/>
              <a:ea typeface="Calibri"/>
              <a:cs typeface="Calibri"/>
              <a:sym typeface="Calibri"/>
            </a:endParaRPr>
          </a:p>
          <a:p>
            <a:pPr indent="6350" lvl="0" marL="4763" marR="0" rtl="0" algn="l">
              <a:lnSpc>
                <a:spcPct val="150000"/>
              </a:lnSpc>
              <a:spcBef>
                <a:spcPts val="0"/>
              </a:spcBef>
              <a:spcAft>
                <a:spcPts val="0"/>
              </a:spcAft>
              <a:buClr>
                <a:srgbClr val="003300"/>
              </a:buClr>
              <a:buSzPts val="2800"/>
              <a:buFont typeface="Calibri"/>
              <a:buNone/>
            </a:pPr>
            <a:r>
              <a:rPr b="0" i="0" lang="en-US" sz="2800" u="none" cap="none" strike="noStrike">
                <a:solidFill>
                  <a:srgbClr val="003300"/>
                </a:solidFill>
                <a:latin typeface="Calibri"/>
                <a:ea typeface="Calibri"/>
                <a:cs typeface="Calibri"/>
                <a:sym typeface="Calibri"/>
              </a:rPr>
              <a:t>&lt;I&gt; Italics &lt;/I&gt;									</a:t>
            </a:r>
            <a:r>
              <a:rPr b="0" i="1" lang="en-US" sz="2800" u="none" cap="none" strike="noStrike">
                <a:solidFill>
                  <a:srgbClr val="003300"/>
                </a:solidFill>
                <a:latin typeface="Calibri"/>
                <a:ea typeface="Calibri"/>
                <a:cs typeface="Calibri"/>
                <a:sym typeface="Calibri"/>
              </a:rPr>
              <a:t>Italics</a:t>
            </a:r>
            <a:endParaRPr b="0" i="0" sz="2800" u="none" cap="none" strike="noStrike">
              <a:solidFill>
                <a:srgbClr val="003300"/>
              </a:solidFill>
              <a:latin typeface="Calibri"/>
              <a:ea typeface="Calibri"/>
              <a:cs typeface="Calibri"/>
              <a:sym typeface="Calibri"/>
            </a:endParaRPr>
          </a:p>
          <a:p>
            <a:pPr indent="6350" lvl="0" marL="4763" marR="0" rtl="0" algn="l">
              <a:lnSpc>
                <a:spcPct val="150000"/>
              </a:lnSpc>
              <a:spcBef>
                <a:spcPts val="0"/>
              </a:spcBef>
              <a:spcAft>
                <a:spcPts val="0"/>
              </a:spcAft>
              <a:buClr>
                <a:srgbClr val="003300"/>
              </a:buClr>
              <a:buSzPts val="2800"/>
              <a:buFont typeface="Calibri"/>
              <a:buNone/>
            </a:pPr>
            <a:r>
              <a:rPr b="0" i="0" lang="en-US" sz="2800" u="none" cap="none" strike="noStrike">
                <a:solidFill>
                  <a:srgbClr val="003300"/>
                </a:solidFill>
                <a:latin typeface="Calibri"/>
                <a:ea typeface="Calibri"/>
                <a:cs typeface="Calibri"/>
                <a:sym typeface="Calibri"/>
              </a:rPr>
              <a:t>&lt;B&gt; Bold &lt;/B&gt;									</a:t>
            </a:r>
            <a:r>
              <a:rPr b="1" i="0" lang="en-US" sz="2800" u="none" cap="none" strike="noStrike">
                <a:solidFill>
                  <a:srgbClr val="003300"/>
                </a:solidFill>
                <a:latin typeface="Calibri"/>
                <a:ea typeface="Calibri"/>
                <a:cs typeface="Calibri"/>
                <a:sym typeface="Calibri"/>
              </a:rPr>
              <a:t>Bold</a:t>
            </a:r>
            <a:endParaRPr b="0" i="0" sz="2800" u="none" cap="none" strike="noStrike">
              <a:solidFill>
                <a:srgbClr val="003300"/>
              </a:solidFill>
              <a:latin typeface="Calibri"/>
              <a:ea typeface="Calibri"/>
              <a:cs typeface="Calibri"/>
              <a:sym typeface="Calibri"/>
            </a:endParaRPr>
          </a:p>
          <a:p>
            <a:pPr indent="6350" lvl="0" marL="4763" marR="0" rtl="0" algn="l">
              <a:lnSpc>
                <a:spcPct val="150000"/>
              </a:lnSpc>
              <a:spcBef>
                <a:spcPts val="0"/>
              </a:spcBef>
              <a:spcAft>
                <a:spcPts val="0"/>
              </a:spcAft>
              <a:buClr>
                <a:srgbClr val="003300"/>
              </a:buClr>
              <a:buSzPts val="2800"/>
              <a:buFont typeface="Calibri"/>
              <a:buNone/>
            </a:pPr>
            <a:r>
              <a:rPr b="0" i="0" lang="en-US" sz="2800" u="none" cap="none" strike="noStrike">
                <a:solidFill>
                  <a:srgbClr val="003300"/>
                </a:solidFill>
                <a:latin typeface="Calibri"/>
                <a:ea typeface="Calibri"/>
                <a:cs typeface="Calibri"/>
                <a:sym typeface="Calibri"/>
              </a:rPr>
              <a:t>&lt;PRE&gt; </a:t>
            </a:r>
            <a:r>
              <a:rPr b="0" i="0" lang="en-US" sz="2800" u="none" cap="none" strike="noStrike">
                <a:solidFill>
                  <a:srgbClr val="003300"/>
                </a:solidFill>
                <a:latin typeface="Courier"/>
                <a:ea typeface="Courier"/>
                <a:cs typeface="Courier"/>
                <a:sym typeface="Courier"/>
              </a:rPr>
              <a:t>Preformatted Text </a:t>
            </a:r>
            <a:r>
              <a:rPr b="0" i="0" lang="en-US" sz="2800" u="none" cap="none" strike="noStrike">
                <a:solidFill>
                  <a:srgbClr val="003300"/>
                </a:solidFill>
                <a:latin typeface="Calibri"/>
                <a:ea typeface="Calibri"/>
                <a:cs typeface="Calibri"/>
                <a:sym typeface="Calibri"/>
              </a:rPr>
              <a:t>&lt;/PRE&gt; </a:t>
            </a:r>
            <a:r>
              <a:rPr b="0" i="0" lang="en-US" sz="2800" u="none" cap="none" strike="noStrike">
                <a:solidFill>
                  <a:srgbClr val="003300"/>
                </a:solidFill>
                <a:latin typeface="Courier"/>
                <a:ea typeface="Courier"/>
                <a:cs typeface="Courier"/>
                <a:sym typeface="Courier"/>
              </a:rPr>
              <a:t>Preformatted Text</a:t>
            </a:r>
            <a:endParaRPr b="0" i="0" sz="1400" u="none" cap="none" strike="noStrike">
              <a:solidFill>
                <a:srgbClr val="000000"/>
              </a:solidFill>
              <a:latin typeface="Arial"/>
              <a:ea typeface="Arial"/>
              <a:cs typeface="Arial"/>
              <a:sym typeface="Arial"/>
            </a:endParaRPr>
          </a:p>
          <a:p>
            <a:pPr indent="6350" lvl="0" marL="4763" marR="0" rtl="0" algn="l">
              <a:lnSpc>
                <a:spcPct val="150000"/>
              </a:lnSpc>
              <a:spcBef>
                <a:spcPts val="0"/>
              </a:spcBef>
              <a:spcAft>
                <a:spcPts val="0"/>
              </a:spcAft>
              <a:buClr>
                <a:srgbClr val="003300"/>
              </a:buClr>
              <a:buSzPts val="2800"/>
              <a:buFont typeface="Calibri"/>
              <a:buNone/>
            </a:pPr>
            <a:r>
              <a:rPr b="0" i="0" lang="en-US" sz="2800" u="none" cap="none" strike="noStrike">
                <a:solidFill>
                  <a:srgbClr val="003300"/>
                </a:solidFill>
                <a:latin typeface="Calibri"/>
                <a:ea typeface="Calibri"/>
                <a:cs typeface="Calibri"/>
                <a:sym typeface="Calibri"/>
              </a:rPr>
              <a:t>&lt;STRONG&gt; Strong &lt;/STRONG&gt;	         		</a:t>
            </a:r>
            <a:r>
              <a:rPr b="1" i="0" lang="en-US" sz="2800" u="none" cap="none" strike="noStrike">
                <a:solidFill>
                  <a:srgbClr val="003300"/>
                </a:solidFill>
                <a:latin typeface="Calibri"/>
                <a:ea typeface="Calibri"/>
                <a:cs typeface="Calibri"/>
                <a:sym typeface="Calibri"/>
              </a:rPr>
              <a:t>Strong</a:t>
            </a:r>
            <a:endParaRPr b="1" i="0" sz="2800" u="none" cap="none" strike="noStrike">
              <a:solidFill>
                <a:srgbClr val="003300"/>
              </a:solidFill>
              <a:latin typeface="Courier"/>
              <a:ea typeface="Courier"/>
              <a:cs typeface="Courier"/>
              <a:sym typeface="Courier"/>
            </a:endParaRPr>
          </a:p>
          <a:p>
            <a:pPr indent="6350" lvl="0" marL="4763" marR="0" rtl="0" algn="l">
              <a:lnSpc>
                <a:spcPct val="150000"/>
              </a:lnSpc>
              <a:spcBef>
                <a:spcPts val="0"/>
              </a:spcBef>
              <a:spcAft>
                <a:spcPts val="0"/>
              </a:spcAft>
              <a:buClr>
                <a:srgbClr val="003300"/>
              </a:buClr>
              <a:buSzPts val="2800"/>
              <a:buFont typeface="Calibri"/>
              <a:buNone/>
            </a:pPr>
            <a:r>
              <a:rPr b="0" i="0" lang="en-US" sz="2800" u="none" cap="none" strike="noStrike">
                <a:solidFill>
                  <a:srgbClr val="003300"/>
                </a:solidFill>
                <a:latin typeface="Calibri"/>
                <a:ea typeface="Calibri"/>
                <a:cs typeface="Calibri"/>
                <a:sym typeface="Calibri"/>
              </a:rPr>
              <a:t>&lt;ADDRESS&gt; Address &lt;/ADDRESS&gt;     		</a:t>
            </a:r>
            <a:r>
              <a:rPr b="0" i="1" lang="en-US" sz="2800" u="none" cap="none" strike="noStrike">
                <a:solidFill>
                  <a:srgbClr val="003300"/>
                </a:solidFill>
                <a:latin typeface="Calibri"/>
                <a:ea typeface="Calibri"/>
                <a:cs typeface="Calibri"/>
                <a:sym typeface="Calibri"/>
              </a:rPr>
              <a:t>Address</a:t>
            </a:r>
            <a:endParaRPr b="0" i="1" sz="2800" u="none" cap="none" strike="noStrike">
              <a:solidFill>
                <a:srgbClr val="003300"/>
              </a:solidFill>
              <a:latin typeface="Calibri"/>
              <a:ea typeface="Calibri"/>
              <a:cs typeface="Calibri"/>
              <a:sym typeface="Calibri"/>
            </a:endParaRPr>
          </a:p>
          <a:p>
            <a:pPr indent="6350" lvl="0" marL="4763" marR="0" rtl="0" algn="l">
              <a:lnSpc>
                <a:spcPct val="150000"/>
              </a:lnSpc>
              <a:spcBef>
                <a:spcPts val="0"/>
              </a:spcBef>
              <a:spcAft>
                <a:spcPts val="0"/>
              </a:spcAft>
              <a:buClr>
                <a:srgbClr val="003300"/>
              </a:buClr>
              <a:buSzPts val="2800"/>
              <a:buFont typeface="Calibri"/>
              <a:buNone/>
            </a:pPr>
            <a:r>
              <a:rPr b="0" i="0" lang="en-US" sz="2800" u="none" cap="none" strike="noStrike">
                <a:solidFill>
                  <a:srgbClr val="003300"/>
                </a:solidFill>
                <a:latin typeface="Calibri"/>
                <a:ea typeface="Calibri"/>
                <a:cs typeface="Calibri"/>
                <a:sym typeface="Calibri"/>
              </a:rPr>
              <a:t>&lt;CITE&gt; Citations &lt;/CITE&gt;		          			</a:t>
            </a:r>
            <a:r>
              <a:rPr b="0" i="1" lang="en-US" sz="2800" u="none" cap="none" strike="noStrike">
                <a:solidFill>
                  <a:srgbClr val="003300"/>
                </a:solidFill>
                <a:latin typeface="Calibri"/>
                <a:ea typeface="Calibri"/>
                <a:cs typeface="Calibri"/>
                <a:sym typeface="Calibri"/>
              </a:rPr>
              <a:t>Citations</a:t>
            </a:r>
            <a:endParaRPr b="0" i="0" sz="2800" u="none" cap="none" strike="noStrike">
              <a:solidFill>
                <a:srgbClr val="003300"/>
              </a:solidFill>
              <a:latin typeface="Calibri"/>
              <a:ea typeface="Calibri"/>
              <a:cs typeface="Calibri"/>
              <a:sym typeface="Calibri"/>
            </a:endParaRPr>
          </a:p>
          <a:p>
            <a:pPr indent="6350" lvl="0" marL="4763" marR="0" rtl="0" algn="l">
              <a:lnSpc>
                <a:spcPct val="150000"/>
              </a:lnSpc>
              <a:spcBef>
                <a:spcPts val="0"/>
              </a:spcBef>
              <a:spcAft>
                <a:spcPts val="0"/>
              </a:spcAft>
              <a:buClr>
                <a:srgbClr val="003300"/>
              </a:buClr>
              <a:buSzPts val="2800"/>
              <a:buFont typeface="Calibri"/>
              <a:buNone/>
            </a:pPr>
            <a:r>
              <a:rPr b="0" i="0" lang="en-US" sz="2800" u="none" cap="none" strike="noStrike">
                <a:solidFill>
                  <a:srgbClr val="003300"/>
                </a:solidFill>
                <a:latin typeface="Calibri"/>
                <a:ea typeface="Calibri"/>
                <a:cs typeface="Calibri"/>
                <a:sym typeface="Calibri"/>
              </a:rPr>
              <a:t>&lt;CODE&gt; Source Code &lt;/CODE&gt;	         		</a:t>
            </a:r>
            <a:r>
              <a:rPr b="0" i="0" lang="en-US" sz="2800" u="none" cap="none" strike="noStrike">
                <a:solidFill>
                  <a:srgbClr val="003300"/>
                </a:solidFill>
                <a:latin typeface="Courier"/>
                <a:ea typeface="Courier"/>
                <a:cs typeface="Courier"/>
                <a:sym typeface="Courier"/>
              </a:rPr>
              <a:t>Source Code</a:t>
            </a:r>
            <a:endParaRPr b="0" i="0" sz="2800" u="none" cap="none" strike="noStrike">
              <a:solidFill>
                <a:srgbClr val="003300"/>
              </a:solidFill>
              <a:latin typeface="Calibri"/>
              <a:ea typeface="Calibri"/>
              <a:cs typeface="Calibri"/>
              <a:sym typeface="Calibri"/>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0"/>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b="1" lang="en-US" sz="3600">
                <a:solidFill>
                  <a:srgbClr val="600000"/>
                </a:solidFill>
                <a:latin typeface="Times New Roman"/>
                <a:ea typeface="Times New Roman"/>
                <a:cs typeface="Times New Roman"/>
                <a:sym typeface="Times New Roman"/>
              </a:rPr>
              <a:t>HTML Text Formatting Tags</a:t>
            </a:r>
            <a:endParaRPr/>
          </a:p>
        </p:txBody>
      </p:sp>
      <p:pic>
        <p:nvPicPr>
          <p:cNvPr descr="C:\Users\GANGA\Desktop\download.jpg" id="283" name="Google Shape;283;p20"/>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284" name="Google Shape;284;p20"/>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5" name="Google Shape;285;p20"/>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6" name="Google Shape;286;p20"/>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0" lvl="0" marL="0" marR="0" rtl="0" algn="just">
              <a:lnSpc>
                <a:spcPct val="150000"/>
              </a:lnSpc>
              <a:spcBef>
                <a:spcPts val="0"/>
              </a:spcBef>
              <a:spcAft>
                <a:spcPts val="0"/>
              </a:spcAft>
              <a:buClr>
                <a:srgbClr val="000000"/>
              </a:buClr>
              <a:buSzPct val="100000"/>
              <a:buFont typeface="Arial"/>
              <a:buNone/>
            </a:pPr>
            <a:r>
              <a:rPr b="1" i="0" lang="en-US" sz="2800" u="none" cap="none" strike="noStrike">
                <a:solidFill>
                  <a:srgbClr val="600000"/>
                </a:solidFill>
                <a:latin typeface="Times New Roman"/>
                <a:ea typeface="Times New Roman"/>
                <a:cs typeface="Times New Roman"/>
                <a:sym typeface="Times New Roman"/>
              </a:rPr>
              <a:t>		Tag					Description</a:t>
            </a:r>
            <a:endParaRPr b="0" i="0" sz="2800" u="none" cap="none" strike="noStrike">
              <a:solidFill>
                <a:srgbClr val="600000"/>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&lt;b&gt;					Defines bold text.</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&lt;del&gt;					Defines deleted text.</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&lt;em&gt;					Defines emphasized text.</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&lt;i&gt;					Defines italic text.</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&lt;ins&gt;					Defines inserted text.</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&lt;mark&gt;				Defines marked/highlighted text.</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&lt;small&gt;				Defines small text.</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&lt;strong&gt;				Defines strong text.</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&lt;sub&gt;					Defines subscripted text.</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&lt;sup&gt;					Defines superscripted text.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1"/>
          <p:cNvSpPr txBox="1"/>
          <p:nvPr/>
        </p:nvSpPr>
        <p:spPr>
          <a:xfrm>
            <a:off x="163772" y="204716"/>
            <a:ext cx="10781732"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HTML Text Formatting Tags</a:t>
            </a:r>
            <a:endParaRPr b="1" i="0" sz="3600" u="none" cap="none" strike="noStrike">
              <a:solidFill>
                <a:srgbClr val="860000"/>
              </a:solidFill>
              <a:latin typeface="Marcellus"/>
              <a:ea typeface="Marcellus"/>
              <a:cs typeface="Marcellus"/>
              <a:sym typeface="Marcellus"/>
            </a:endParaRPr>
          </a:p>
        </p:txBody>
      </p:sp>
      <p:sp>
        <p:nvSpPr>
          <p:cNvPr id="292" name="Google Shape;292;p21"/>
          <p:cNvSpPr txBox="1"/>
          <p:nvPr/>
        </p:nvSpPr>
        <p:spPr>
          <a:xfrm>
            <a:off x="163772" y="1028242"/>
            <a:ext cx="10781731" cy="567928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just">
              <a:lnSpc>
                <a:spcPct val="15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293" name="Google Shape;293;p21"/>
          <p:cNvSpPr/>
          <p:nvPr/>
        </p:nvSpPr>
        <p:spPr>
          <a:xfrm>
            <a:off x="11191167" y="0"/>
            <a:ext cx="259311" cy="551369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4" name="Google Shape;294;p21"/>
          <p:cNvSpPr/>
          <p:nvPr/>
        </p:nvSpPr>
        <p:spPr>
          <a:xfrm>
            <a:off x="11450472" y="0"/>
            <a:ext cx="741600" cy="58821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295" name="Google Shape;295;p21"/>
          <p:cNvPicPr preferRelativeResize="0"/>
          <p:nvPr/>
        </p:nvPicPr>
        <p:blipFill rotWithShape="1">
          <a:blip r:embed="rId3">
            <a:alphaModFix/>
          </a:blip>
          <a:srcRect b="0" l="0" r="0" t="0"/>
          <a:stretch/>
        </p:blipFill>
        <p:spPr>
          <a:xfrm>
            <a:off x="11191166" y="5915467"/>
            <a:ext cx="1000833" cy="915237"/>
          </a:xfrm>
          <a:prstGeom prst="rect">
            <a:avLst/>
          </a:prstGeom>
          <a:noFill/>
          <a:ln cap="flat" cmpd="sng" w="9525">
            <a:solidFill>
              <a:srgbClr val="860000"/>
            </a:solidFill>
            <a:prstDash val="solid"/>
            <a:round/>
            <a:headEnd len="sm" w="sm" type="none"/>
            <a:tailEnd len="sm" w="sm" type="none"/>
          </a:ln>
        </p:spPr>
      </p:pic>
      <p:pic>
        <p:nvPicPr>
          <p:cNvPr id="296" name="Google Shape;296;p21"/>
          <p:cNvPicPr preferRelativeResize="0"/>
          <p:nvPr/>
        </p:nvPicPr>
        <p:blipFill rotWithShape="1">
          <a:blip r:embed="rId4">
            <a:alphaModFix/>
          </a:blip>
          <a:srcRect b="0" l="0" r="0" t="0"/>
          <a:stretch/>
        </p:blipFill>
        <p:spPr>
          <a:xfrm>
            <a:off x="6168975" y="1460825"/>
            <a:ext cx="4769699" cy="4573750"/>
          </a:xfrm>
          <a:prstGeom prst="rect">
            <a:avLst/>
          </a:prstGeom>
          <a:noFill/>
          <a:ln>
            <a:noFill/>
          </a:ln>
        </p:spPr>
      </p:pic>
      <p:pic>
        <p:nvPicPr>
          <p:cNvPr id="297" name="Google Shape;297;p21"/>
          <p:cNvPicPr preferRelativeResize="0"/>
          <p:nvPr/>
        </p:nvPicPr>
        <p:blipFill rotWithShape="1">
          <a:blip r:embed="rId5">
            <a:alphaModFix/>
          </a:blip>
          <a:srcRect b="0" l="0" r="0" t="0"/>
          <a:stretch/>
        </p:blipFill>
        <p:spPr>
          <a:xfrm>
            <a:off x="282386" y="1055345"/>
            <a:ext cx="5886593" cy="482683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2"/>
          <p:cNvSpPr txBox="1"/>
          <p:nvPr/>
        </p:nvSpPr>
        <p:spPr>
          <a:xfrm>
            <a:off x="163772" y="204716"/>
            <a:ext cx="11136574"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0" i="0" lang="en-US" sz="3600" u="none" cap="none" strike="noStrike">
                <a:solidFill>
                  <a:srgbClr val="600000"/>
                </a:solidFill>
                <a:latin typeface="Times New Roman"/>
                <a:ea typeface="Times New Roman"/>
                <a:cs typeface="Times New Roman"/>
                <a:sym typeface="Times New Roman"/>
              </a:rPr>
              <a:t>HTML Styles (Inline)</a:t>
            </a:r>
            <a:endParaRPr b="1" i="0" sz="3600" u="none" cap="none" strike="noStrike">
              <a:solidFill>
                <a:srgbClr val="600000"/>
              </a:solidFill>
              <a:latin typeface="Times New Roman"/>
              <a:ea typeface="Times New Roman"/>
              <a:cs typeface="Times New Roman"/>
              <a:sym typeface="Times New Roman"/>
            </a:endParaRPr>
          </a:p>
        </p:txBody>
      </p:sp>
      <p:sp>
        <p:nvSpPr>
          <p:cNvPr id="303" name="Google Shape;303;p22"/>
          <p:cNvSpPr txBox="1"/>
          <p:nvPr/>
        </p:nvSpPr>
        <p:spPr>
          <a:xfrm>
            <a:off x="163772" y="1017733"/>
            <a:ext cx="11122927" cy="5073974"/>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lnSpcReduction="10000"/>
          </a:bodyPr>
          <a:lstStyle/>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&lt;!DOCTYPE 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&lt;p&gt;I am normal&lt;/p&gt;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&lt;p style="color:red;"&gt;I am red&lt;/p&gt;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&lt;p style="color:blue;"&gt;I am blue&lt;/p&gt;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&lt;p style="font-size:36px;"&gt;I am big&lt;/p&gt;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304" name="Google Shape;304;p22"/>
          <p:cNvSpPr/>
          <p:nvPr/>
        </p:nvSpPr>
        <p:spPr>
          <a:xfrm>
            <a:off x="11477767" y="0"/>
            <a:ext cx="714233" cy="68580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305" name="Google Shape;305;p22"/>
          <p:cNvPicPr preferRelativeResize="0"/>
          <p:nvPr/>
        </p:nvPicPr>
        <p:blipFill rotWithShape="1">
          <a:blip r:embed="rId3">
            <a:alphaModFix/>
          </a:blip>
          <a:srcRect b="0" l="0" r="0" t="0"/>
          <a:stretch/>
        </p:blipFill>
        <p:spPr>
          <a:xfrm>
            <a:off x="163772" y="6209730"/>
            <a:ext cx="778199" cy="593679"/>
          </a:xfrm>
          <a:prstGeom prst="rect">
            <a:avLst/>
          </a:prstGeom>
          <a:noFill/>
          <a:ln cap="flat" cmpd="sng" w="9525">
            <a:solidFill>
              <a:srgbClr val="860000"/>
            </a:solidFill>
            <a:prstDash val="solid"/>
            <a:round/>
            <a:headEnd len="sm" w="sm" type="none"/>
            <a:tailEnd len="sm" w="sm" type="none"/>
          </a:ln>
        </p:spPr>
      </p:pic>
      <p:sp>
        <p:nvSpPr>
          <p:cNvPr id="306" name="Google Shape;306;p22"/>
          <p:cNvSpPr/>
          <p:nvPr/>
        </p:nvSpPr>
        <p:spPr>
          <a:xfrm>
            <a:off x="3346973" y="6209731"/>
            <a:ext cx="8144442" cy="648269"/>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7" name="Google Shape;307;p22"/>
          <p:cNvSpPr/>
          <p:nvPr/>
        </p:nvSpPr>
        <p:spPr>
          <a:xfrm>
            <a:off x="2646389" y="6209730"/>
            <a:ext cx="700584" cy="64827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file5.jpg" id="308" name="Google Shape;308;p22"/>
          <p:cNvPicPr preferRelativeResize="0"/>
          <p:nvPr/>
        </p:nvPicPr>
        <p:blipFill rotWithShape="1">
          <a:blip r:embed="rId4">
            <a:alphaModFix/>
          </a:blip>
          <a:srcRect b="61858" l="30000" r="35833" t="2569"/>
          <a:stretch/>
        </p:blipFill>
        <p:spPr>
          <a:xfrm>
            <a:off x="5969876" y="1198179"/>
            <a:ext cx="5186448" cy="13978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3"/>
          <p:cNvSpPr txBox="1"/>
          <p:nvPr/>
        </p:nvSpPr>
        <p:spPr>
          <a:xfrm>
            <a:off x="163771" y="204716"/>
            <a:ext cx="11778019"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HTML Background Color</a:t>
            </a:r>
            <a:endParaRPr b="1" i="0" sz="3600" u="none" cap="none" strike="noStrike">
              <a:solidFill>
                <a:srgbClr val="600000"/>
              </a:solidFill>
              <a:latin typeface="Times New Roman"/>
              <a:ea typeface="Times New Roman"/>
              <a:cs typeface="Times New Roman"/>
              <a:sym typeface="Times New Roman"/>
            </a:endParaRPr>
          </a:p>
        </p:txBody>
      </p:sp>
      <p:sp>
        <p:nvSpPr>
          <p:cNvPr id="314" name="Google Shape;314;p23"/>
          <p:cNvSpPr txBox="1"/>
          <p:nvPr/>
        </p:nvSpPr>
        <p:spPr>
          <a:xfrm>
            <a:off x="163772" y="979096"/>
            <a:ext cx="11764371" cy="5225185"/>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&lt;!DOCTYPE 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&lt;body style="background-color:powderblue;"&gt;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&lt;h1&gt;This is a heading&lt;/h1&gt;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&lt;p&gt;This is a paragraph.&lt;/p&gt;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315" name="Google Shape;315;p23"/>
          <p:cNvPicPr preferRelativeResize="0"/>
          <p:nvPr/>
        </p:nvPicPr>
        <p:blipFill rotWithShape="1">
          <a:blip r:embed="rId3">
            <a:alphaModFix/>
          </a:blip>
          <a:srcRect b="0" l="0" r="0" t="0"/>
          <a:stretch/>
        </p:blipFill>
        <p:spPr>
          <a:xfrm>
            <a:off x="11305780" y="6242918"/>
            <a:ext cx="622363" cy="615082"/>
          </a:xfrm>
          <a:prstGeom prst="rect">
            <a:avLst/>
          </a:prstGeom>
          <a:noFill/>
          <a:ln cap="flat" cmpd="sng" w="9525">
            <a:solidFill>
              <a:srgbClr val="860000"/>
            </a:solidFill>
            <a:prstDash val="solid"/>
            <a:round/>
            <a:headEnd len="sm" w="sm" type="none"/>
            <a:tailEnd len="sm" w="sm" type="none"/>
          </a:ln>
        </p:spPr>
      </p:pic>
      <p:sp>
        <p:nvSpPr>
          <p:cNvPr id="316" name="Google Shape;316;p23"/>
          <p:cNvSpPr/>
          <p:nvPr/>
        </p:nvSpPr>
        <p:spPr>
          <a:xfrm>
            <a:off x="0" y="6553209"/>
            <a:ext cx="11305780" cy="304791"/>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7" name="Google Shape;317;p23"/>
          <p:cNvSpPr/>
          <p:nvPr/>
        </p:nvSpPr>
        <p:spPr>
          <a:xfrm>
            <a:off x="1" y="6336406"/>
            <a:ext cx="10683416" cy="216803"/>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file6.jpg" id="318" name="Google Shape;318;p23"/>
          <p:cNvPicPr preferRelativeResize="0"/>
          <p:nvPr/>
        </p:nvPicPr>
        <p:blipFill rotWithShape="1">
          <a:blip r:embed="rId4">
            <a:alphaModFix/>
          </a:blip>
          <a:srcRect b="0" l="0" r="0" t="0"/>
          <a:stretch/>
        </p:blipFill>
        <p:spPr>
          <a:xfrm>
            <a:off x="5341709" y="3580327"/>
            <a:ext cx="6438900" cy="255418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4"/>
          <p:cNvSpPr txBox="1"/>
          <p:nvPr/>
        </p:nvSpPr>
        <p:spPr>
          <a:xfrm>
            <a:off x="68236" y="43974"/>
            <a:ext cx="11123505"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FONT MODIFICATIONS</a:t>
            </a:r>
            <a:endParaRPr b="1" i="0" sz="3600" u="none" cap="none" strike="noStrike">
              <a:solidFill>
                <a:srgbClr val="600000"/>
              </a:solidFill>
              <a:latin typeface="Times New Roman"/>
              <a:ea typeface="Times New Roman"/>
              <a:cs typeface="Times New Roman"/>
              <a:sym typeface="Times New Roman"/>
            </a:endParaRPr>
          </a:p>
        </p:txBody>
      </p:sp>
      <p:sp>
        <p:nvSpPr>
          <p:cNvPr id="324" name="Google Shape;324;p24"/>
          <p:cNvSpPr txBox="1"/>
          <p:nvPr/>
        </p:nvSpPr>
        <p:spPr>
          <a:xfrm>
            <a:off x="68236" y="811369"/>
            <a:ext cx="12012147" cy="546660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85000" lnSpcReduction="20000"/>
          </a:bodyPr>
          <a:lstStyle/>
          <a:p>
            <a:pPr indent="-457200" lvl="0" marL="457200" marR="0" rtl="0" algn="just">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Web creators can also change the way text looks by using the </a:t>
            </a:r>
            <a:r>
              <a:rPr b="1" i="0" lang="en-US" sz="2800" u="none" cap="none" strike="noStrike">
                <a:solidFill>
                  <a:srgbClr val="600000"/>
                </a:solidFill>
                <a:latin typeface="Times New Roman"/>
                <a:ea typeface="Times New Roman"/>
                <a:cs typeface="Times New Roman"/>
                <a:sym typeface="Times New Roman"/>
              </a:rPr>
              <a:t>&lt;FONT&gt; </a:t>
            </a:r>
            <a:r>
              <a:rPr b="0" i="0" lang="en-US" sz="2800" u="none" cap="none" strike="noStrike">
                <a:solidFill>
                  <a:srgbClr val="003300"/>
                </a:solidFill>
                <a:latin typeface="Times New Roman"/>
                <a:ea typeface="Times New Roman"/>
                <a:cs typeface="Times New Roman"/>
                <a:sym typeface="Times New Roman"/>
              </a:rPr>
              <a:t>tag.</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1000"/>
              </a:spcBef>
              <a:spcAft>
                <a:spcPts val="0"/>
              </a:spcAft>
              <a:buClr>
                <a:srgbClr val="600000"/>
              </a:buClr>
              <a:buSzPct val="100000"/>
              <a:buFont typeface="Noto Sans Symbols"/>
              <a:buChar char="⮚"/>
            </a:pPr>
            <a:r>
              <a:rPr b="1" i="0" lang="en-US" sz="2800" u="none" cap="none" strike="noStrike">
                <a:solidFill>
                  <a:srgbClr val="600000"/>
                </a:solidFill>
                <a:latin typeface="Times New Roman"/>
                <a:ea typeface="Times New Roman"/>
                <a:cs typeface="Times New Roman"/>
                <a:sym typeface="Times New Roman"/>
              </a:rPr>
              <a:t>Changes size of the font: </a:t>
            </a:r>
            <a:r>
              <a:rPr b="1" i="0" lang="en-US" sz="2800" u="none" cap="none" strike="noStrike">
                <a:solidFill>
                  <a:srgbClr val="003300"/>
                </a:solidFill>
                <a:latin typeface="Times New Roman"/>
                <a:ea typeface="Times New Roman"/>
                <a:cs typeface="Times New Roman"/>
                <a:sym typeface="Times New Roman"/>
              </a:rPr>
              <a:t>SIZE="number" </a:t>
            </a:r>
            <a:r>
              <a:rPr b="0" i="0" lang="en-US" sz="2800" u="none" cap="none" strike="noStrike">
                <a:solidFill>
                  <a:srgbClr val="003300"/>
                </a:solidFill>
                <a:latin typeface="Times New Roman"/>
                <a:ea typeface="Times New Roman"/>
                <a:cs typeface="Times New Roman"/>
                <a:sym typeface="Times New Roman"/>
              </a:rPr>
              <a:t> </a:t>
            </a:r>
            <a:r>
              <a:rPr b="1" i="0" lang="en-US" sz="2800" u="none" cap="none" strike="noStrike">
                <a:solidFill>
                  <a:srgbClr val="003300"/>
                </a:solidFill>
                <a:latin typeface="Times New Roman"/>
                <a:ea typeface="Times New Roman"/>
                <a:cs typeface="Times New Roman"/>
                <a:sym typeface="Times New Roman"/>
              </a:rPr>
              <a:t>1=smallest, 7 = largest</a:t>
            </a:r>
            <a:br>
              <a:rPr b="0" i="0" lang="en-US" sz="2800" u="none" cap="none" strike="noStrike">
                <a:solidFill>
                  <a:srgbClr val="003300"/>
                </a:solidFill>
                <a:latin typeface="Times New Roman"/>
                <a:ea typeface="Times New Roman"/>
                <a:cs typeface="Times New Roman"/>
                <a:sym typeface="Times New Roman"/>
              </a:rPr>
            </a:br>
            <a:r>
              <a:rPr b="0" i="0" lang="en-US" sz="2800" u="none" cap="none" strike="noStrike">
                <a:solidFill>
                  <a:srgbClr val="003300"/>
                </a:solidFill>
                <a:latin typeface="Times New Roman"/>
                <a:ea typeface="Times New Roman"/>
                <a:cs typeface="Times New Roman"/>
                <a:sym typeface="Times New Roman"/>
              </a:rPr>
              <a:t>	</a:t>
            </a:r>
            <a:r>
              <a:rPr b="1" i="0" lang="en-US" sz="2800" u="none" cap="none" strike="noStrike">
                <a:solidFill>
                  <a:srgbClr val="003300"/>
                </a:solidFill>
                <a:latin typeface="Times New Roman"/>
                <a:ea typeface="Times New Roman"/>
                <a:cs typeface="Times New Roman"/>
                <a:sym typeface="Times New Roman"/>
              </a:rPr>
              <a:t>&lt;FONT SIZE="7"&gt;Big&lt;/FONT&gt; &lt;FONT SIZE="1"&gt;Small&lt;/FONT&gt;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ct val="100000"/>
              <a:buFont typeface="Arial"/>
              <a:buNone/>
            </a:pPr>
            <a:r>
              <a:rPr b="0" i="0" lang="en-US" sz="2800" u="none" cap="none" strike="noStrike">
                <a:solidFill>
                  <a:schemeClr val="dk1"/>
                </a:solidFill>
                <a:latin typeface="Times New Roman"/>
                <a:ea typeface="Times New Roman"/>
                <a:cs typeface="Times New Roman"/>
                <a:sym typeface="Times New Roman"/>
              </a:rPr>
              <a:t>			</a:t>
            </a:r>
            <a:r>
              <a:rPr b="0" i="0" lang="en-US" sz="4800" u="none" cap="none" strike="noStrike">
                <a:solidFill>
                  <a:srgbClr val="600000"/>
                </a:solidFill>
                <a:latin typeface="Times New Roman"/>
                <a:ea typeface="Times New Roman"/>
                <a:cs typeface="Times New Roman"/>
                <a:sym typeface="Times New Roman"/>
              </a:rPr>
              <a:t>Big</a:t>
            </a:r>
            <a:r>
              <a:rPr b="0" i="0" lang="en-US" sz="2800" u="none" cap="none" strike="noStrike">
                <a:solidFill>
                  <a:srgbClr val="600000"/>
                </a:solidFill>
                <a:latin typeface="Times New Roman"/>
                <a:ea typeface="Times New Roman"/>
                <a:cs typeface="Times New Roman"/>
                <a:sym typeface="Times New Roman"/>
              </a:rPr>
              <a:t> </a:t>
            </a:r>
            <a:r>
              <a:rPr b="0" i="0" lang="en-US" sz="1400" u="none" cap="none" strike="noStrike">
                <a:solidFill>
                  <a:srgbClr val="600000"/>
                </a:solidFill>
                <a:latin typeface="Times New Roman"/>
                <a:ea typeface="Times New Roman"/>
                <a:cs typeface="Times New Roman"/>
                <a:sym typeface="Times New Roman"/>
              </a:rPr>
              <a:t>Small</a:t>
            </a:r>
            <a:br>
              <a:rPr b="0" i="0" lang="en-US" sz="1400" u="none" cap="none" strike="noStrike">
                <a:solidFill>
                  <a:srgbClr val="600000"/>
                </a:solidFill>
                <a:latin typeface="Times New Roman"/>
                <a:ea typeface="Times New Roman"/>
                <a:cs typeface="Times New Roman"/>
                <a:sym typeface="Times New Roman"/>
              </a:rPr>
            </a:br>
            <a:endParaRPr b="0" i="0" sz="2800" u="none" cap="none" strike="noStrike">
              <a:solidFill>
                <a:srgbClr val="600000"/>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rgbClr val="600000"/>
              </a:buClr>
              <a:buSzPct val="100000"/>
              <a:buFont typeface="Noto Sans Symbols"/>
              <a:buChar char="⮚"/>
            </a:pPr>
            <a:r>
              <a:rPr b="1" i="0" lang="en-US" sz="2800" u="none" cap="none" strike="noStrike">
                <a:solidFill>
                  <a:srgbClr val="600000"/>
                </a:solidFill>
                <a:latin typeface="Times New Roman"/>
                <a:ea typeface="Times New Roman"/>
                <a:cs typeface="Times New Roman"/>
                <a:sym typeface="Times New Roman"/>
              </a:rPr>
              <a:t>Changes Text Color:</a:t>
            </a:r>
            <a:r>
              <a:rPr b="0" i="0" lang="en-US" sz="2800" u="none" cap="none" strike="noStrike">
                <a:solidFill>
                  <a:srgbClr val="003300"/>
                </a:solidFill>
                <a:latin typeface="Times New Roman"/>
                <a:ea typeface="Times New Roman"/>
                <a:cs typeface="Times New Roman"/>
                <a:sym typeface="Times New Roman"/>
              </a:rPr>
              <a:t>	</a:t>
            </a:r>
            <a:r>
              <a:rPr b="1" i="0" lang="en-US" sz="2800" u="none" cap="none" strike="noStrike">
                <a:solidFill>
                  <a:srgbClr val="003300"/>
                </a:solidFill>
                <a:latin typeface="Times New Roman"/>
                <a:ea typeface="Times New Roman"/>
                <a:cs typeface="Times New Roman"/>
                <a:sym typeface="Times New Roman"/>
              </a:rPr>
              <a:t>COLOR="color-name" </a:t>
            </a:r>
            <a:endParaRPr b="1"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a:t>
            </a:r>
            <a:r>
              <a:rPr b="1" i="0" lang="en-US" sz="2800" u="none" cap="none" strike="noStrike">
                <a:solidFill>
                  <a:srgbClr val="003300"/>
                </a:solidFill>
                <a:latin typeface="Times New Roman"/>
                <a:ea typeface="Times New Roman"/>
                <a:cs typeface="Times New Roman"/>
                <a:sym typeface="Times New Roman"/>
              </a:rPr>
              <a:t>&lt;FONT COLOR="red"&gt;This is red&lt;/FONT&gt;</a:t>
            </a:r>
            <a:r>
              <a:rPr b="0" i="0" lang="en-US" sz="2800" u="none" cap="none" strike="noStrike">
                <a:solidFill>
                  <a:srgbClr val="FF0000"/>
                </a:solidFill>
                <a:latin typeface="Times New Roman"/>
                <a:ea typeface="Times New Roman"/>
                <a:cs typeface="Times New Roman"/>
                <a:sym typeface="Times New Roman"/>
              </a:rPr>
              <a:t>	This is red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800" u="none" cap="none" strike="noStrike">
              <a:solidFill>
                <a:srgbClr val="003300"/>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rgbClr val="600000"/>
              </a:buClr>
              <a:buSzPct val="100000"/>
              <a:buFont typeface="Noto Sans Symbols"/>
              <a:buChar char="⮚"/>
            </a:pPr>
            <a:r>
              <a:rPr b="1" i="0" lang="en-US" sz="2800" u="none" cap="none" strike="noStrike">
                <a:solidFill>
                  <a:srgbClr val="600000"/>
                </a:solidFill>
                <a:latin typeface="Times New Roman"/>
                <a:ea typeface="Times New Roman"/>
                <a:cs typeface="Times New Roman"/>
                <a:sym typeface="Times New Roman"/>
              </a:rPr>
              <a:t>Changes Font:</a:t>
            </a:r>
            <a:r>
              <a:rPr b="0" i="0" lang="en-US" sz="2800" u="none" cap="none" strike="noStrike">
                <a:solidFill>
                  <a:srgbClr val="FF0000"/>
                </a:solidFill>
                <a:latin typeface="Times New Roman"/>
                <a:ea typeface="Times New Roman"/>
                <a:cs typeface="Times New Roman"/>
                <a:sym typeface="Times New Roman"/>
              </a:rPr>
              <a:t>				</a:t>
            </a:r>
            <a:r>
              <a:rPr b="1" i="0" lang="en-US" sz="2800" u="none" cap="none" strike="noStrike">
                <a:solidFill>
                  <a:srgbClr val="003300"/>
                </a:solidFill>
                <a:latin typeface="Times New Roman"/>
                <a:ea typeface="Times New Roman"/>
                <a:cs typeface="Times New Roman"/>
                <a:sym typeface="Times New Roman"/>
              </a:rPr>
              <a:t>FACE="font-name"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chemeClr val="dk1"/>
                </a:solidFill>
                <a:latin typeface="Arial Narrow"/>
                <a:ea typeface="Arial Narrow"/>
                <a:cs typeface="Arial Narrow"/>
                <a:sym typeface="Arial Narrow"/>
              </a:rPr>
              <a:t>				</a:t>
            </a:r>
            <a:r>
              <a:rPr b="0" i="0" lang="en-US" sz="2800" u="none" cap="none" strike="noStrike">
                <a:solidFill>
                  <a:srgbClr val="003300"/>
                </a:solidFill>
                <a:latin typeface="Arial Narrow"/>
                <a:ea typeface="Arial Narrow"/>
                <a:cs typeface="Arial Narrow"/>
                <a:sym typeface="Arial Narrow"/>
              </a:rPr>
              <a:t>&lt;FONT FACE="verdana"&gt;This is the verdana font;&lt;/FONT&gt; </a:t>
            </a:r>
            <a:endParaRPr b="0" i="0" sz="2800" u="none" cap="none" strike="noStrike">
              <a:solidFill>
                <a:srgbClr val="003300"/>
              </a:solidFill>
              <a:latin typeface="Arial Narrow"/>
              <a:ea typeface="Arial Narrow"/>
              <a:cs typeface="Arial Narrow"/>
              <a:sym typeface="Arial Narrow"/>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Arial Narrow"/>
                <a:ea typeface="Arial Narrow"/>
                <a:cs typeface="Arial Narrow"/>
                <a:sym typeface="Arial Narrow"/>
              </a:rPr>
              <a:t>				&lt;FONT FACE="chicago"&gt;This is the chicago font.&lt;/FONT&gt;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Calibri"/>
                <a:ea typeface="Calibri"/>
                <a:cs typeface="Calibri"/>
                <a:sym typeface="Calibri"/>
              </a:rPr>
              <a:t>						</a:t>
            </a:r>
            <a:r>
              <a:rPr b="0" i="0" lang="en-US" sz="2800" u="none" cap="none" strike="noStrike">
                <a:solidFill>
                  <a:srgbClr val="003300"/>
                </a:solidFill>
                <a:latin typeface="Verdana"/>
                <a:ea typeface="Verdana"/>
                <a:cs typeface="Verdana"/>
                <a:sym typeface="Verdana"/>
              </a:rPr>
              <a:t>This is the verdana font; </a:t>
            </a:r>
            <a:endParaRPr b="0" i="0" sz="2800" u="none" cap="none" strike="noStrike">
              <a:solidFill>
                <a:srgbClr val="003300"/>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Verdana"/>
                <a:ea typeface="Verdana"/>
                <a:cs typeface="Verdana"/>
                <a:sym typeface="Verdana"/>
              </a:rPr>
              <a:t>						</a:t>
            </a:r>
            <a:r>
              <a:rPr b="0" i="0" lang="en-US" sz="2800" u="none" cap="none" strike="noStrike">
                <a:solidFill>
                  <a:srgbClr val="003300"/>
                </a:solidFill>
                <a:latin typeface="Arial"/>
                <a:ea typeface="Arial"/>
                <a:cs typeface="Arial"/>
                <a:sym typeface="Arial"/>
              </a:rPr>
              <a:t>This is chicago font.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ct val="100000"/>
              <a:buFont typeface="Arial"/>
              <a:buNone/>
            </a:pPr>
            <a:r>
              <a:t/>
            </a:r>
            <a:endParaRPr b="0" i="0" sz="2800" u="none" cap="none" strike="noStrike">
              <a:solidFill>
                <a:schemeClr val="dk1"/>
              </a:solidFill>
              <a:latin typeface="Calibri"/>
              <a:ea typeface="Calibri"/>
              <a:cs typeface="Calibri"/>
              <a:sym typeface="Calibri"/>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Calibri"/>
              <a:ea typeface="Calibri"/>
              <a:cs typeface="Calibri"/>
              <a:sym typeface="Calibri"/>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325" name="Google Shape;325;p24"/>
          <p:cNvPicPr preferRelativeResize="0"/>
          <p:nvPr/>
        </p:nvPicPr>
        <p:blipFill rotWithShape="1">
          <a:blip r:embed="rId3">
            <a:alphaModFix/>
          </a:blip>
          <a:srcRect b="0" l="0" r="0" t="0"/>
          <a:stretch/>
        </p:blipFill>
        <p:spPr>
          <a:xfrm>
            <a:off x="11333408" y="68781"/>
            <a:ext cx="746975" cy="660699"/>
          </a:xfrm>
          <a:prstGeom prst="rect">
            <a:avLst/>
          </a:prstGeom>
          <a:noFill/>
          <a:ln cap="flat" cmpd="sng" w="9525">
            <a:solidFill>
              <a:srgbClr val="860000"/>
            </a:solidFill>
            <a:prstDash val="solid"/>
            <a:round/>
            <a:headEnd len="sm" w="sm" type="none"/>
            <a:tailEnd len="sm" w="sm" type="none"/>
          </a:ln>
        </p:spPr>
      </p:pic>
      <p:sp>
        <p:nvSpPr>
          <p:cNvPr id="326" name="Google Shape;326;p24"/>
          <p:cNvSpPr/>
          <p:nvPr/>
        </p:nvSpPr>
        <p:spPr>
          <a:xfrm>
            <a:off x="0" y="6564573"/>
            <a:ext cx="12192000" cy="293427"/>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7" name="Google Shape;327;p24"/>
          <p:cNvSpPr/>
          <p:nvPr/>
        </p:nvSpPr>
        <p:spPr>
          <a:xfrm>
            <a:off x="1" y="6359859"/>
            <a:ext cx="10276764" cy="19335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5"/>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lang="en-US" sz="3600">
                <a:solidFill>
                  <a:srgbClr val="600000"/>
                </a:solidFill>
                <a:latin typeface="Times New Roman"/>
                <a:ea typeface="Times New Roman"/>
                <a:cs typeface="Times New Roman"/>
                <a:sym typeface="Times New Roman"/>
              </a:rPr>
              <a:t>HTML LINKS</a:t>
            </a:r>
            <a:endParaRPr b="1" sz="3600">
              <a:solidFill>
                <a:srgbClr val="600000"/>
              </a:solidFill>
              <a:latin typeface="Times New Roman"/>
              <a:ea typeface="Times New Roman"/>
              <a:cs typeface="Times New Roman"/>
              <a:sym typeface="Times New Roman"/>
            </a:endParaRPr>
          </a:p>
        </p:txBody>
      </p:sp>
      <p:pic>
        <p:nvPicPr>
          <p:cNvPr descr="C:\Users\GANGA\Desktop\download.jpg" id="333" name="Google Shape;333;p25"/>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334" name="Google Shape;334;p25"/>
          <p:cNvSpPr/>
          <p:nvPr/>
        </p:nvSpPr>
        <p:spPr>
          <a:xfrm>
            <a:off x="152400" y="0"/>
            <a:ext cx="587700" cy="61947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5" name="Google Shape;335;p25"/>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6" name="Google Shape;336;p25"/>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457200" lvl="0" marL="457200" marR="0" rtl="0" algn="just">
              <a:lnSpc>
                <a:spcPct val="200000"/>
              </a:lnSpc>
              <a:spcBef>
                <a:spcPts val="0"/>
              </a:spcBef>
              <a:spcAft>
                <a:spcPts val="0"/>
              </a:spcAft>
              <a:buClr>
                <a:srgbClr val="600000"/>
              </a:buClr>
              <a:buSzPts val="2800"/>
              <a:buFont typeface="Noto Sans Symbols"/>
              <a:buChar char="⮚"/>
            </a:pPr>
            <a:r>
              <a:rPr b="1" i="0" lang="en-US" sz="2800" u="none" cap="none" strike="noStrike">
                <a:solidFill>
                  <a:srgbClr val="600000"/>
                </a:solidFill>
                <a:latin typeface="Times New Roman"/>
                <a:ea typeface="Times New Roman"/>
                <a:cs typeface="Times New Roman"/>
                <a:sym typeface="Times New Roman"/>
              </a:rPr>
              <a:t>HTML links are hyperlinks.</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You can click on a link and jump to another document.</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When you move the mouse over a link, the mouse arrow will turn into a little hand.</a:t>
            </a:r>
            <a:endParaRPr b="0" i="0" sz="1400" u="none" cap="none" strike="noStrike">
              <a:solidFill>
                <a:srgbClr val="000000"/>
              </a:solidFill>
              <a:latin typeface="Arial"/>
              <a:ea typeface="Arial"/>
              <a:cs typeface="Arial"/>
              <a:sym typeface="Arial"/>
            </a:endParaRPr>
          </a:p>
          <a:p>
            <a:pPr indent="0" lvl="0" marL="0" marR="0" rtl="0" algn="just">
              <a:lnSpc>
                <a:spcPct val="200000"/>
              </a:lnSpc>
              <a:spcBef>
                <a:spcPts val="0"/>
              </a:spcBef>
              <a:spcAft>
                <a:spcPts val="0"/>
              </a:spcAft>
              <a:buClr>
                <a:srgbClr val="000000"/>
              </a:buClr>
              <a:buSzPts val="2800"/>
              <a:buFont typeface="Arial"/>
              <a:buNone/>
            </a:pPr>
            <a:r>
              <a:rPr b="1" i="0" lang="en-US" sz="2800" u="none" cap="none" strike="noStrike">
                <a:solidFill>
                  <a:srgbClr val="003300"/>
                </a:solidFill>
                <a:latin typeface="Times New Roman"/>
                <a:ea typeface="Times New Roman"/>
                <a:cs typeface="Times New Roman"/>
                <a:sym typeface="Times New Roman"/>
              </a:rPr>
              <a:t>Syntax:</a:t>
            </a:r>
            <a:endParaRPr b="0" i="0" sz="1400" u="none" cap="none" strike="noStrike">
              <a:solidFill>
                <a:srgbClr val="000000"/>
              </a:solidFill>
              <a:latin typeface="Arial"/>
              <a:ea typeface="Arial"/>
              <a:cs typeface="Arial"/>
              <a:sym typeface="Arial"/>
            </a:endParaRPr>
          </a:p>
          <a:p>
            <a:pPr indent="0" lvl="0" marL="0" marR="0" rtl="0" algn="just">
              <a:lnSpc>
                <a:spcPct val="200000"/>
              </a:lnSpc>
              <a:spcBef>
                <a:spcPts val="0"/>
              </a:spcBef>
              <a:spcAft>
                <a:spcPts val="0"/>
              </a:spcAft>
              <a:buClr>
                <a:srgbClr val="000000"/>
              </a:buClr>
              <a:buSzPts val="2800"/>
              <a:buFont typeface="Arial"/>
              <a:buNone/>
            </a:pPr>
            <a:r>
              <a:rPr b="1" i="0" lang="en-US" sz="2800" u="none" cap="none" strike="noStrike">
                <a:solidFill>
                  <a:srgbClr val="600000"/>
                </a:solidFill>
                <a:latin typeface="Times New Roman"/>
                <a:ea typeface="Times New Roman"/>
                <a:cs typeface="Times New Roman"/>
                <a:sym typeface="Times New Roman"/>
              </a:rPr>
              <a:t>	&lt;a href="</a:t>
            </a:r>
            <a:r>
              <a:rPr b="1" i="1" lang="en-US" sz="2800" u="none" cap="none" strike="noStrike">
                <a:solidFill>
                  <a:srgbClr val="600000"/>
                </a:solidFill>
                <a:latin typeface="Times New Roman"/>
                <a:ea typeface="Times New Roman"/>
                <a:cs typeface="Times New Roman"/>
                <a:sym typeface="Times New Roman"/>
              </a:rPr>
              <a:t>url</a:t>
            </a:r>
            <a:r>
              <a:rPr b="1" i="0" lang="en-US" sz="2800" u="none" cap="none" strike="noStrike">
                <a:solidFill>
                  <a:srgbClr val="600000"/>
                </a:solidFill>
                <a:latin typeface="Times New Roman"/>
                <a:ea typeface="Times New Roman"/>
                <a:cs typeface="Times New Roman"/>
                <a:sym typeface="Times New Roman"/>
              </a:rPr>
              <a:t>"&gt;</a:t>
            </a:r>
            <a:r>
              <a:rPr b="1" i="1" lang="en-US" sz="2800" u="none" cap="none" strike="noStrike">
                <a:solidFill>
                  <a:srgbClr val="600000"/>
                </a:solidFill>
                <a:latin typeface="Times New Roman"/>
                <a:ea typeface="Times New Roman"/>
                <a:cs typeface="Times New Roman"/>
                <a:sym typeface="Times New Roman"/>
              </a:rPr>
              <a:t>link text</a:t>
            </a:r>
            <a:r>
              <a:rPr b="1" i="0" lang="en-US" sz="2800" u="none" cap="none" strike="noStrike">
                <a:solidFill>
                  <a:srgbClr val="600000"/>
                </a:solidFill>
                <a:latin typeface="Times New Roman"/>
                <a:ea typeface="Times New Roman"/>
                <a:cs typeface="Times New Roman"/>
                <a:sym typeface="Times New Roman"/>
              </a:rPr>
              <a:t>&lt;/a&gt;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6"/>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lang="en-US" sz="3600">
                <a:solidFill>
                  <a:srgbClr val="600000"/>
                </a:solidFill>
                <a:latin typeface="Times New Roman"/>
                <a:ea typeface="Times New Roman"/>
                <a:cs typeface="Times New Roman"/>
                <a:sym typeface="Times New Roman"/>
              </a:rPr>
              <a:t>HTML LINKS</a:t>
            </a:r>
            <a:endParaRPr b="1" sz="3600">
              <a:solidFill>
                <a:srgbClr val="860000"/>
              </a:solidFill>
              <a:latin typeface="Marcellus"/>
              <a:ea typeface="Marcellus"/>
              <a:cs typeface="Marcellus"/>
              <a:sym typeface="Marcellus"/>
            </a:endParaRPr>
          </a:p>
        </p:txBody>
      </p:sp>
      <p:pic>
        <p:nvPicPr>
          <p:cNvPr descr="C:\Users\GANGA\Desktop\download.jpg" id="342" name="Google Shape;342;p26"/>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343" name="Google Shape;343;p26"/>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4" name="Google Shape;344;p26"/>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5" name="Google Shape;345;p26"/>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&lt;h2&gt;HTML Links&lt;/h2&gt;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&lt;a href="https://www.google.com/"&gt;Click here to visit Google &lt;/a&gt; 		&lt;/p&gt;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file7.jpg" id="346" name="Google Shape;346;p26"/>
          <p:cNvPicPr preferRelativeResize="0"/>
          <p:nvPr>
            <p:ph idx="1" type="body"/>
          </p:nvPr>
        </p:nvPicPr>
        <p:blipFill rotWithShape="1">
          <a:blip r:embed="rId4">
            <a:alphaModFix/>
          </a:blip>
          <a:srcRect b="0" l="0" r="0" t="0"/>
          <a:stretch/>
        </p:blipFill>
        <p:spPr>
          <a:xfrm>
            <a:off x="5888865" y="4225159"/>
            <a:ext cx="5199845" cy="238170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7"/>
          <p:cNvSpPr txBox="1"/>
          <p:nvPr/>
        </p:nvSpPr>
        <p:spPr>
          <a:xfrm>
            <a:off x="163772" y="204716"/>
            <a:ext cx="10781700" cy="660600"/>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Navigation in HTML</a:t>
            </a:r>
            <a:endParaRPr b="1" i="0" sz="3600" u="none" cap="none" strike="noStrike">
              <a:solidFill>
                <a:srgbClr val="600000"/>
              </a:solidFill>
              <a:latin typeface="Times New Roman"/>
              <a:ea typeface="Times New Roman"/>
              <a:cs typeface="Times New Roman"/>
              <a:sym typeface="Times New Roman"/>
            </a:endParaRPr>
          </a:p>
        </p:txBody>
      </p:sp>
      <p:sp>
        <p:nvSpPr>
          <p:cNvPr id="352" name="Google Shape;352;p27"/>
          <p:cNvSpPr txBox="1"/>
          <p:nvPr/>
        </p:nvSpPr>
        <p:spPr>
          <a:xfrm>
            <a:off x="163772" y="1017732"/>
            <a:ext cx="10781700" cy="5679300"/>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&lt;h2&gt;HTML Links&lt;/h2&gt;					&lt;p&gt;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&lt;a href=“</a:t>
            </a:r>
            <a:r>
              <a:rPr b="0" i="0" lang="en-US" sz="2800" u="sng" cap="none" strike="noStrike">
                <a:solidFill>
                  <a:srgbClr val="003300"/>
                </a:solidFill>
                <a:latin typeface="Times New Roman"/>
                <a:ea typeface="Times New Roman"/>
                <a:cs typeface="Times New Roman"/>
                <a:sym typeface="Times New Roman"/>
              </a:rPr>
              <a:t>DEMO</a:t>
            </a:r>
            <a:r>
              <a:rPr b="0" i="0" lang="en-US" sz="2800" u="sng" cap="none" strike="noStrike">
                <a:solidFill>
                  <a:srgbClr val="003300"/>
                </a:solidFill>
                <a:latin typeface="Times New Roman"/>
                <a:ea typeface="Times New Roman"/>
                <a:cs typeface="Times New Roman"/>
                <a:sym typeface="Times New Roman"/>
                <a:hlinkClick r:id="rId3">
                  <a:extLst>
                    <a:ext uri="{A12FA001-AC4F-418D-AE19-62706E023703}">
                      <ahyp:hlinkClr val="tx"/>
                    </a:ext>
                  </a:extLst>
                </a:hlinkClick>
              </a:rPr>
              <a:t>.html</a:t>
            </a:r>
            <a:r>
              <a:rPr b="0" i="0" lang="en-US" sz="2800" u="none" cap="none" strike="noStrike">
                <a:solidFill>
                  <a:srgbClr val="003300"/>
                </a:solidFill>
                <a:latin typeface="Times New Roman"/>
                <a:ea typeface="Times New Roman"/>
                <a:cs typeface="Times New Roman"/>
                <a:sym typeface="Times New Roman"/>
              </a:rPr>
              <a:t>”&gt;Click here &lt;/a&gt;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353" name="Google Shape;353;p27"/>
          <p:cNvSpPr/>
          <p:nvPr/>
        </p:nvSpPr>
        <p:spPr>
          <a:xfrm>
            <a:off x="11191167" y="0"/>
            <a:ext cx="259200" cy="5513700"/>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4" name="Google Shape;354;p27"/>
          <p:cNvSpPr/>
          <p:nvPr/>
        </p:nvSpPr>
        <p:spPr>
          <a:xfrm>
            <a:off x="11450472" y="0"/>
            <a:ext cx="741600" cy="58821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355" name="Google Shape;355;p27"/>
          <p:cNvPicPr preferRelativeResize="0"/>
          <p:nvPr/>
        </p:nvPicPr>
        <p:blipFill rotWithShape="1">
          <a:blip r:embed="rId4">
            <a:alphaModFix/>
          </a:blip>
          <a:srcRect b="0" l="0" r="0" t="0"/>
          <a:stretch/>
        </p:blipFill>
        <p:spPr>
          <a:xfrm>
            <a:off x="11191166" y="5915467"/>
            <a:ext cx="1000833" cy="915237"/>
          </a:xfrm>
          <a:prstGeom prst="rect">
            <a:avLst/>
          </a:prstGeom>
          <a:noFill/>
          <a:ln cap="flat" cmpd="sng" w="9525">
            <a:solidFill>
              <a:srgbClr val="860000"/>
            </a:solidFill>
            <a:prstDash val="solid"/>
            <a:round/>
            <a:headEnd len="sm" w="sm" type="none"/>
            <a:tailEnd len="sm" w="sm" type="none"/>
          </a:ln>
        </p:spPr>
      </p:pic>
      <p:pic>
        <p:nvPicPr>
          <p:cNvPr id="356" name="Google Shape;356;p27"/>
          <p:cNvPicPr preferRelativeResize="0"/>
          <p:nvPr/>
        </p:nvPicPr>
        <p:blipFill rotWithShape="1">
          <a:blip r:embed="rId5">
            <a:alphaModFix/>
          </a:blip>
          <a:srcRect b="0" l="0" r="0" t="0"/>
          <a:stretch/>
        </p:blipFill>
        <p:spPr>
          <a:xfrm>
            <a:off x="6262359" y="3857382"/>
            <a:ext cx="4333875" cy="2129811"/>
          </a:xfrm>
          <a:prstGeom prst="rect">
            <a:avLst/>
          </a:prstGeom>
          <a:noFill/>
          <a:ln>
            <a:noFill/>
          </a:ln>
        </p:spPr>
      </p:pic>
      <p:pic>
        <p:nvPicPr>
          <p:cNvPr id="357" name="Google Shape;357;p27"/>
          <p:cNvPicPr preferRelativeResize="0"/>
          <p:nvPr/>
        </p:nvPicPr>
        <p:blipFill rotWithShape="1">
          <a:blip r:embed="rId6">
            <a:alphaModFix/>
          </a:blip>
          <a:srcRect b="0" l="0" r="0" t="0"/>
          <a:stretch/>
        </p:blipFill>
        <p:spPr>
          <a:xfrm>
            <a:off x="3342290" y="4587142"/>
            <a:ext cx="2690648" cy="150885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8"/>
          <p:cNvSpPr txBox="1"/>
          <p:nvPr/>
        </p:nvSpPr>
        <p:spPr>
          <a:xfrm>
            <a:off x="163772" y="204716"/>
            <a:ext cx="11136574"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HTML IMAGES</a:t>
            </a:r>
            <a:endParaRPr b="1" i="0" sz="3600" u="none" cap="none" strike="noStrike">
              <a:solidFill>
                <a:srgbClr val="600000"/>
              </a:solidFill>
              <a:latin typeface="Times New Roman"/>
              <a:ea typeface="Times New Roman"/>
              <a:cs typeface="Times New Roman"/>
              <a:sym typeface="Times New Roman"/>
            </a:endParaRPr>
          </a:p>
        </p:txBody>
      </p:sp>
      <p:sp>
        <p:nvSpPr>
          <p:cNvPr id="363" name="Google Shape;363;p28"/>
          <p:cNvSpPr txBox="1"/>
          <p:nvPr/>
        </p:nvSpPr>
        <p:spPr>
          <a:xfrm>
            <a:off x="163772" y="1017733"/>
            <a:ext cx="11122927" cy="5073974"/>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&lt;h2&gt;HTML Image&lt;/h2&gt;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&lt;img src=“wooden.jpg" alt=“Wooden" width="500" height="333"&gt;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364" name="Google Shape;364;p28"/>
          <p:cNvSpPr/>
          <p:nvPr/>
        </p:nvSpPr>
        <p:spPr>
          <a:xfrm>
            <a:off x="11477767" y="0"/>
            <a:ext cx="714233" cy="68580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365" name="Google Shape;365;p28"/>
          <p:cNvPicPr preferRelativeResize="0"/>
          <p:nvPr/>
        </p:nvPicPr>
        <p:blipFill rotWithShape="1">
          <a:blip r:embed="rId3">
            <a:alphaModFix/>
          </a:blip>
          <a:srcRect b="0" l="0" r="0" t="0"/>
          <a:stretch/>
        </p:blipFill>
        <p:spPr>
          <a:xfrm>
            <a:off x="163772" y="6209730"/>
            <a:ext cx="778199" cy="593679"/>
          </a:xfrm>
          <a:prstGeom prst="rect">
            <a:avLst/>
          </a:prstGeom>
          <a:noFill/>
          <a:ln cap="flat" cmpd="sng" w="9525">
            <a:solidFill>
              <a:srgbClr val="860000"/>
            </a:solidFill>
            <a:prstDash val="solid"/>
            <a:round/>
            <a:headEnd len="sm" w="sm" type="none"/>
            <a:tailEnd len="sm" w="sm" type="none"/>
          </a:ln>
        </p:spPr>
      </p:pic>
      <p:sp>
        <p:nvSpPr>
          <p:cNvPr id="366" name="Google Shape;366;p28"/>
          <p:cNvSpPr/>
          <p:nvPr/>
        </p:nvSpPr>
        <p:spPr>
          <a:xfrm>
            <a:off x="3346973" y="6209731"/>
            <a:ext cx="8144442" cy="648269"/>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7" name="Google Shape;367;p28"/>
          <p:cNvSpPr/>
          <p:nvPr/>
        </p:nvSpPr>
        <p:spPr>
          <a:xfrm>
            <a:off x="2646389" y="6209730"/>
            <a:ext cx="700584" cy="64827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file12.jpg" id="368" name="Google Shape;368;p28"/>
          <p:cNvPicPr preferRelativeResize="0"/>
          <p:nvPr/>
        </p:nvPicPr>
        <p:blipFill rotWithShape="1">
          <a:blip r:embed="rId4">
            <a:alphaModFix/>
          </a:blip>
          <a:srcRect b="0" l="0" r="0" t="0"/>
          <a:stretch/>
        </p:blipFill>
        <p:spPr>
          <a:xfrm>
            <a:off x="5131132" y="3155324"/>
            <a:ext cx="4171950" cy="281336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9"/>
          <p:cNvSpPr txBox="1"/>
          <p:nvPr/>
        </p:nvSpPr>
        <p:spPr>
          <a:xfrm>
            <a:off x="163772" y="115910"/>
            <a:ext cx="11764500" cy="6088500"/>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&lt;h2&gt;Basic HTML Table&lt;/h2&gt;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&lt;table&gt;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&lt;tr&gt;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&lt;th&gt;Firstname&lt;/th&gt;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&lt;th&gt;Lastname&lt;/th&gt;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&lt;th&gt;Age&lt;/th&gt;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&lt;/tr&gt;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&lt;tr&gt;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&lt;td&gt;Jill&lt;/td&gt;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&lt;td&gt;Smith&lt;/td&gt;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&lt;td&gt;50&lt;/td&gt;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&lt;/tr&gt;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&lt;tr&gt;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&lt;td&gt;Eve&lt;/td&gt;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&lt;td&gt;Jackson&lt;/td&gt;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&lt;td&gt;94&lt;/td&gt;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&lt;/tr&gt;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&lt;tr&gt;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&lt;td&gt;John&lt;/td&gt;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&lt;td&gt;Doe&lt;/td&gt;    </a:t>
            </a:r>
            <a:endParaRPr b="0" i="0" sz="1400" u="none" cap="none" strike="noStrike">
              <a:solidFill>
                <a:srgbClr val="0033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&lt;td&gt;80&lt;/td&gt;  </a:t>
            </a:r>
            <a:endParaRPr b="0" i="0" sz="1400" u="none" cap="none" strike="noStrike">
              <a:solidFill>
                <a:srgbClr val="0033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&lt;/tr&gt;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&lt;/table&gt;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p:txBody>
      </p:sp>
      <p:pic>
        <p:nvPicPr>
          <p:cNvPr descr="C:\Users\GANGA\Desktop\download.jpg" id="374" name="Google Shape;374;p29"/>
          <p:cNvPicPr preferRelativeResize="0"/>
          <p:nvPr/>
        </p:nvPicPr>
        <p:blipFill rotWithShape="1">
          <a:blip r:embed="rId3">
            <a:alphaModFix/>
          </a:blip>
          <a:srcRect b="0" l="0" r="0" t="0"/>
          <a:stretch/>
        </p:blipFill>
        <p:spPr>
          <a:xfrm>
            <a:off x="11305780" y="6242918"/>
            <a:ext cx="622363" cy="615082"/>
          </a:xfrm>
          <a:prstGeom prst="rect">
            <a:avLst/>
          </a:prstGeom>
          <a:noFill/>
          <a:ln cap="flat" cmpd="sng" w="9525">
            <a:solidFill>
              <a:srgbClr val="860000"/>
            </a:solidFill>
            <a:prstDash val="solid"/>
            <a:round/>
            <a:headEnd len="sm" w="sm" type="none"/>
            <a:tailEnd len="sm" w="sm" type="none"/>
          </a:ln>
        </p:spPr>
      </p:pic>
      <p:sp>
        <p:nvSpPr>
          <p:cNvPr id="375" name="Google Shape;375;p29"/>
          <p:cNvSpPr/>
          <p:nvPr/>
        </p:nvSpPr>
        <p:spPr>
          <a:xfrm>
            <a:off x="0" y="6553209"/>
            <a:ext cx="11305780" cy="304791"/>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6" name="Google Shape;376;p29"/>
          <p:cNvSpPr/>
          <p:nvPr/>
        </p:nvSpPr>
        <p:spPr>
          <a:xfrm>
            <a:off x="1" y="6336406"/>
            <a:ext cx="10683416" cy="216803"/>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file13.jpg" id="377" name="Google Shape;377;p29"/>
          <p:cNvPicPr preferRelativeResize="0"/>
          <p:nvPr/>
        </p:nvPicPr>
        <p:blipFill rotWithShape="1">
          <a:blip r:embed="rId4">
            <a:alphaModFix/>
          </a:blip>
          <a:srcRect b="0" l="0" r="0" t="0"/>
          <a:stretch/>
        </p:blipFill>
        <p:spPr>
          <a:xfrm>
            <a:off x="7451833" y="463248"/>
            <a:ext cx="4165127" cy="533224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0"/>
          <p:cNvSpPr txBox="1"/>
          <p:nvPr/>
        </p:nvSpPr>
        <p:spPr>
          <a:xfrm>
            <a:off x="68236" y="43974"/>
            <a:ext cx="11123505"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Lists -- Ordered Lists</a:t>
            </a:r>
            <a:endParaRPr b="1" i="0" sz="3600" u="none" cap="none" strike="noStrike">
              <a:solidFill>
                <a:srgbClr val="600000"/>
              </a:solidFill>
              <a:latin typeface="Times New Roman"/>
              <a:ea typeface="Times New Roman"/>
              <a:cs typeface="Times New Roman"/>
              <a:sym typeface="Times New Roman"/>
            </a:endParaRPr>
          </a:p>
        </p:txBody>
      </p:sp>
      <p:sp>
        <p:nvSpPr>
          <p:cNvPr id="383" name="Google Shape;383;p30"/>
          <p:cNvSpPr txBox="1"/>
          <p:nvPr/>
        </p:nvSpPr>
        <p:spPr>
          <a:xfrm>
            <a:off x="68236" y="874429"/>
            <a:ext cx="12012147" cy="546660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2800"/>
              <a:buFont typeface="Arial"/>
              <a:buNone/>
            </a:pPr>
            <a:r>
              <a:t/>
            </a:r>
            <a:endParaRPr b="1" i="1" sz="2800" u="none" cap="none" strike="noStrike">
              <a:solidFill>
                <a:schemeClr val="dk1"/>
              </a:solidFill>
              <a:latin typeface="Times"/>
              <a:ea typeface="Times"/>
              <a:cs typeface="Times"/>
              <a:sym typeface="Times"/>
            </a:endParaRPr>
          </a:p>
          <a:p>
            <a:pPr indent="0" lvl="0" marL="0" marR="0" rtl="0" algn="l">
              <a:lnSpc>
                <a:spcPct val="100000"/>
              </a:lnSpc>
              <a:spcBef>
                <a:spcPts val="0"/>
              </a:spcBef>
              <a:spcAft>
                <a:spcPts val="0"/>
              </a:spcAft>
              <a:buClr>
                <a:srgbClr val="000000"/>
              </a:buClr>
              <a:buSzPts val="2800"/>
              <a:buFont typeface="Arial"/>
              <a:buNone/>
            </a:pPr>
            <a:r>
              <a:t/>
            </a:r>
            <a:endParaRPr b="1" i="1" sz="2800" u="none" cap="none" strike="noStrike">
              <a:solidFill>
                <a:schemeClr val="dk1"/>
              </a:solidFill>
              <a:latin typeface="Times"/>
              <a:ea typeface="Times"/>
              <a:cs typeface="Times"/>
              <a:sym typeface="Times"/>
            </a:endParaRPr>
          </a:p>
          <a:p>
            <a:pPr indent="0" lvl="0" marL="0" marR="0" rtl="0" algn="l">
              <a:lnSpc>
                <a:spcPct val="100000"/>
              </a:lnSpc>
              <a:spcBef>
                <a:spcPts val="0"/>
              </a:spcBef>
              <a:spcAft>
                <a:spcPts val="0"/>
              </a:spcAft>
              <a:buClr>
                <a:srgbClr val="000000"/>
              </a:buClr>
              <a:buSzPts val="2800"/>
              <a:buFont typeface="Arial"/>
              <a:buNone/>
            </a:pPr>
            <a:r>
              <a:t/>
            </a:r>
            <a:endParaRPr b="1" i="1" sz="2800" u="none" cap="none" strike="noStrike">
              <a:solidFill>
                <a:schemeClr val="dk1"/>
              </a:solidFill>
              <a:latin typeface="Times"/>
              <a:ea typeface="Times"/>
              <a:cs typeface="Times"/>
              <a:sym typeface="Times"/>
            </a:endParaRPr>
          </a:p>
          <a:p>
            <a:pPr indent="0" lvl="0" marL="0" marR="0" rtl="0" algn="l">
              <a:lnSpc>
                <a:spcPct val="100000"/>
              </a:lnSpc>
              <a:spcBef>
                <a:spcPts val="0"/>
              </a:spcBef>
              <a:spcAft>
                <a:spcPts val="0"/>
              </a:spcAft>
              <a:buClr>
                <a:srgbClr val="000000"/>
              </a:buClr>
              <a:buSzPts val="2800"/>
              <a:buFont typeface="Arial"/>
              <a:buNone/>
            </a:pPr>
            <a:r>
              <a:t/>
            </a:r>
            <a:endParaRPr b="1" i="1" sz="2800" u="none" cap="none" strike="noStrike">
              <a:solidFill>
                <a:schemeClr val="dk1"/>
              </a:solidFill>
              <a:latin typeface="Times"/>
              <a:ea typeface="Times"/>
              <a:cs typeface="Times"/>
              <a:sym typeface="Times"/>
            </a:endParaRPr>
          </a:p>
          <a:p>
            <a:pPr indent="0" lvl="0" marL="0" marR="0" rtl="0" algn="l">
              <a:lnSpc>
                <a:spcPct val="100000"/>
              </a:lnSpc>
              <a:spcBef>
                <a:spcPts val="0"/>
              </a:spcBef>
              <a:spcAft>
                <a:spcPts val="0"/>
              </a:spcAft>
              <a:buClr>
                <a:srgbClr val="000000"/>
              </a:buClr>
              <a:buSzPts val="2800"/>
              <a:buFont typeface="Arial"/>
              <a:buNone/>
            </a:pPr>
            <a:r>
              <a:t/>
            </a:r>
            <a:endParaRPr b="1" i="1" sz="2800" u="none" cap="none" strike="noStrike">
              <a:solidFill>
                <a:schemeClr val="dk1"/>
              </a:solidFill>
              <a:latin typeface="Times"/>
              <a:ea typeface="Times"/>
              <a:cs typeface="Times"/>
              <a:sym typeface="Times"/>
            </a:endParaRPr>
          </a:p>
          <a:p>
            <a:pPr indent="0" lvl="0" marL="0" marR="0" rtl="0" algn="l">
              <a:lnSpc>
                <a:spcPct val="100000"/>
              </a:lnSpc>
              <a:spcBef>
                <a:spcPts val="0"/>
              </a:spcBef>
              <a:spcAft>
                <a:spcPts val="0"/>
              </a:spcAft>
              <a:buClr>
                <a:srgbClr val="000000"/>
              </a:buClr>
              <a:buSzPts val="2800"/>
              <a:buFont typeface="Arial"/>
              <a:buNone/>
            </a:pPr>
            <a:r>
              <a:t/>
            </a:r>
            <a:endParaRPr b="1" i="1" sz="2800" u="none" cap="none" strike="noStrike">
              <a:solidFill>
                <a:schemeClr val="dk1"/>
              </a:solidFill>
              <a:latin typeface="Times"/>
              <a:ea typeface="Times"/>
              <a:cs typeface="Times"/>
              <a:sym typeface="Times"/>
            </a:endParaRPr>
          </a:p>
          <a:p>
            <a:pPr indent="0" lvl="0" marL="0" marR="0" rtl="0" algn="l">
              <a:lnSpc>
                <a:spcPct val="100000"/>
              </a:lnSpc>
              <a:spcBef>
                <a:spcPts val="0"/>
              </a:spcBef>
              <a:spcAft>
                <a:spcPts val="0"/>
              </a:spcAft>
              <a:buClr>
                <a:srgbClr val="000000"/>
              </a:buClr>
              <a:buSzPts val="2800"/>
              <a:buFont typeface="Arial"/>
              <a:buNone/>
            </a:pPr>
            <a:r>
              <a:rPr b="1" i="1" lang="en-US" sz="2800" u="none" cap="none" strike="noStrike">
                <a:solidFill>
                  <a:schemeClr val="dk1"/>
                </a:solidFill>
                <a:latin typeface="Times"/>
                <a:ea typeface="Times"/>
                <a:cs typeface="Times"/>
                <a:sym typeface="Times"/>
              </a:rPr>
              <a:t>Ordered List Attributes</a:t>
            </a:r>
            <a:r>
              <a:rPr b="1" i="0" lang="en-US" sz="2800" u="none" cap="none" strike="noStrike">
                <a:solidFill>
                  <a:schemeClr val="dk1"/>
                </a:solidFill>
                <a:latin typeface="Times"/>
                <a:ea typeface="Times"/>
                <a:cs typeface="Times"/>
                <a:sym typeface="Times"/>
              </a:rPr>
              <a:t>:</a:t>
            </a:r>
            <a:endParaRPr b="0" i="0" sz="2800" u="none" cap="none" strike="noStrike">
              <a:solidFill>
                <a:schemeClr val="dk1"/>
              </a:solidFill>
              <a:latin typeface="Times"/>
              <a:ea typeface="Times"/>
              <a:cs typeface="Times"/>
              <a:sym typeface="Times"/>
            </a:endParaRPr>
          </a:p>
        </p:txBody>
      </p:sp>
      <p:pic>
        <p:nvPicPr>
          <p:cNvPr descr="C:\Users\GANGA\Desktop\download.jpg" id="384" name="Google Shape;384;p30"/>
          <p:cNvPicPr preferRelativeResize="0"/>
          <p:nvPr/>
        </p:nvPicPr>
        <p:blipFill rotWithShape="1">
          <a:blip r:embed="rId3">
            <a:alphaModFix/>
          </a:blip>
          <a:srcRect b="0" l="0" r="0" t="0"/>
          <a:stretch/>
        </p:blipFill>
        <p:spPr>
          <a:xfrm>
            <a:off x="11333408" y="68781"/>
            <a:ext cx="746975" cy="660699"/>
          </a:xfrm>
          <a:prstGeom prst="rect">
            <a:avLst/>
          </a:prstGeom>
          <a:noFill/>
          <a:ln cap="flat" cmpd="sng" w="9525">
            <a:solidFill>
              <a:srgbClr val="860000"/>
            </a:solidFill>
            <a:prstDash val="solid"/>
            <a:round/>
            <a:headEnd len="sm" w="sm" type="none"/>
            <a:tailEnd len="sm" w="sm" type="none"/>
          </a:ln>
        </p:spPr>
      </p:pic>
      <p:sp>
        <p:nvSpPr>
          <p:cNvPr id="385" name="Google Shape;385;p30"/>
          <p:cNvSpPr/>
          <p:nvPr/>
        </p:nvSpPr>
        <p:spPr>
          <a:xfrm>
            <a:off x="0" y="6564573"/>
            <a:ext cx="12192000" cy="293427"/>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6" name="Google Shape;386;p30"/>
          <p:cNvSpPr/>
          <p:nvPr/>
        </p:nvSpPr>
        <p:spPr>
          <a:xfrm>
            <a:off x="1" y="6359859"/>
            <a:ext cx="10276764" cy="19335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7" name="Google Shape;387;p30"/>
          <p:cNvSpPr txBox="1"/>
          <p:nvPr/>
        </p:nvSpPr>
        <p:spPr>
          <a:xfrm>
            <a:off x="651230" y="1080274"/>
            <a:ext cx="2932798" cy="25545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Ordered (Numbered) Lists: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&lt;OL&gt;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	&lt;LI&gt; Item One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	&lt;LI&gt; Item Two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	&lt;LI&gt; Item Three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	&lt;LI&gt; Item Four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&lt;/OL&gt;</a:t>
            </a:r>
            <a:endParaRPr b="0" i="0" sz="2000" u="none" cap="none" strike="noStrike">
              <a:solidFill>
                <a:schemeClr val="dk1"/>
              </a:solidFill>
              <a:latin typeface="Times New Roman"/>
              <a:ea typeface="Times New Roman"/>
              <a:cs typeface="Times New Roman"/>
              <a:sym typeface="Times New Roman"/>
            </a:endParaRPr>
          </a:p>
        </p:txBody>
      </p:sp>
      <p:sp>
        <p:nvSpPr>
          <p:cNvPr id="388" name="Google Shape;388;p30"/>
          <p:cNvSpPr/>
          <p:nvPr/>
        </p:nvSpPr>
        <p:spPr>
          <a:xfrm>
            <a:off x="4523704" y="1871772"/>
            <a:ext cx="976313" cy="485775"/>
          </a:xfrm>
          <a:prstGeom prst="rightArrow">
            <a:avLst>
              <a:gd fmla="val 50000" name="adj1"/>
              <a:gd fmla="val 50245" name="adj2"/>
            </a:avLst>
          </a:prstGeom>
          <a:solidFill>
            <a:schemeClr val="accent1"/>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30"/>
          <p:cNvSpPr txBox="1"/>
          <p:nvPr/>
        </p:nvSpPr>
        <p:spPr>
          <a:xfrm>
            <a:off x="7472185" y="1396314"/>
            <a:ext cx="2057400" cy="14366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a:ea typeface="Times"/>
                <a:cs typeface="Times"/>
                <a:sym typeface="Times"/>
              </a:rPr>
              <a:t>1. Item One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chemeClr val="dk1"/>
                </a:solidFill>
                <a:latin typeface="Times"/>
                <a:ea typeface="Times"/>
                <a:cs typeface="Times"/>
                <a:sym typeface="Times"/>
              </a:rPr>
              <a:t>2. Item Two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chemeClr val="dk1"/>
                </a:solidFill>
                <a:latin typeface="Times"/>
                <a:ea typeface="Times"/>
                <a:cs typeface="Times"/>
                <a:sym typeface="Times"/>
              </a:rPr>
              <a:t>3. Item Three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US" sz="1600" u="none" cap="none" strike="noStrike">
                <a:solidFill>
                  <a:schemeClr val="dk1"/>
                </a:solidFill>
                <a:latin typeface="Times"/>
                <a:ea typeface="Times"/>
                <a:cs typeface="Times"/>
                <a:sym typeface="Times"/>
              </a:rPr>
              <a:t>4. Item Four</a:t>
            </a:r>
            <a:endParaRPr b="0" i="0" sz="1800" u="none" cap="none" strike="noStrike">
              <a:solidFill>
                <a:schemeClr val="dk1"/>
              </a:solidFill>
              <a:latin typeface="Times"/>
              <a:ea typeface="Times"/>
              <a:cs typeface="Times"/>
              <a:sym typeface="Times"/>
            </a:endParaRPr>
          </a:p>
        </p:txBody>
      </p:sp>
      <p:sp>
        <p:nvSpPr>
          <p:cNvPr id="390" name="Google Shape;390;p30"/>
          <p:cNvSpPr txBox="1"/>
          <p:nvPr/>
        </p:nvSpPr>
        <p:spPr>
          <a:xfrm>
            <a:off x="407830" y="3921422"/>
            <a:ext cx="11543700" cy="14259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600000"/>
                </a:solidFill>
                <a:latin typeface="Times"/>
                <a:ea typeface="Times"/>
                <a:cs typeface="Times"/>
                <a:sym typeface="Times"/>
              </a:rPr>
              <a:t>type="i/I/a/A/1"	</a:t>
            </a:r>
            <a:r>
              <a:rPr b="0" i="0" lang="en-US" sz="1200" u="none" cap="none" strike="noStrike">
                <a:solidFill>
                  <a:schemeClr val="dk1"/>
                </a:solidFill>
                <a:latin typeface="Times"/>
                <a:ea typeface="Times"/>
                <a:cs typeface="Times"/>
                <a:sym typeface="Times"/>
              </a:rPr>
              <a:t>							(default)</a:t>
            </a:r>
            <a:endParaRPr b="0" i="0" sz="1200" u="none" cap="none" strike="noStrike">
              <a:solidFill>
                <a:schemeClr val="dk1"/>
              </a:solidFill>
              <a:latin typeface="Times"/>
              <a:ea typeface="Times"/>
              <a:cs typeface="Times"/>
              <a:sym typeface="Times"/>
            </a:endParaRPr>
          </a:p>
          <a:p>
            <a:pPr indent="0" lvl="0" marL="0" marR="0" rtl="0" algn="l">
              <a:lnSpc>
                <a:spcPct val="100000"/>
              </a:lnSpc>
              <a:spcBef>
                <a:spcPts val="800"/>
              </a:spcBef>
              <a:spcAft>
                <a:spcPts val="0"/>
              </a:spcAft>
              <a:buClr>
                <a:srgbClr val="000000"/>
              </a:buClr>
              <a:buSzPts val="1200"/>
              <a:buFont typeface="Arial"/>
              <a:buNone/>
            </a:pPr>
            <a:r>
              <a:rPr b="0" i="0" lang="en-US" sz="1200" u="none" cap="none" strike="noStrike">
                <a:solidFill>
                  <a:srgbClr val="600000"/>
                </a:solidFill>
                <a:latin typeface="Times"/>
                <a:ea typeface="Times"/>
                <a:cs typeface="Times"/>
                <a:sym typeface="Times"/>
              </a:rPr>
              <a:t>i = 	i. Item One		I =I. Item One			a =a. Item One		A =A. Item One		1 =1.Item One</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z="1200" u="none" cap="none" strike="noStrike">
                <a:solidFill>
                  <a:schemeClr val="dk1"/>
                </a:solidFill>
                <a:latin typeface="Times"/>
                <a:ea typeface="Times"/>
                <a:cs typeface="Times"/>
                <a:sym typeface="Times"/>
              </a:rPr>
              <a:t>	ii. Item Two      	II. Item Two			b. Item Two		B. Item Two			2. Item Two</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200"/>
              <a:buFont typeface="Arial"/>
              <a:buNone/>
            </a:pPr>
            <a:r>
              <a:rPr b="0" i="0" lang="en-US" sz="1200" u="none" cap="none" strike="noStrike">
                <a:solidFill>
                  <a:schemeClr val="dk1"/>
                </a:solidFill>
                <a:latin typeface="Times"/>
                <a:ea typeface="Times"/>
                <a:cs typeface="Times"/>
                <a:sym typeface="Times"/>
              </a:rPr>
              <a:t>	iii. Item Three  	III. Item Three			c. Item Three		C. Item Three			3. Item Three</a:t>
            </a:r>
            <a:endParaRPr b="0" i="0" sz="1200" u="none" cap="none" strike="noStrike">
              <a:solidFill>
                <a:schemeClr val="dk1"/>
              </a:solidFill>
              <a:latin typeface="Times"/>
              <a:ea typeface="Times"/>
              <a:cs typeface="Times"/>
              <a:sym typeface="Times"/>
            </a:endParaRPr>
          </a:p>
          <a:p>
            <a:pPr indent="0" lvl="0" marL="0" marR="0" rtl="0" algn="l">
              <a:lnSpc>
                <a:spcPct val="100000"/>
              </a:lnSpc>
              <a:spcBef>
                <a:spcPts val="800"/>
              </a:spcBef>
              <a:spcAft>
                <a:spcPts val="0"/>
              </a:spcAft>
              <a:buClr>
                <a:srgbClr val="000000"/>
              </a:buClr>
              <a:buSzPts val="1200"/>
              <a:buFont typeface="Arial"/>
              <a:buNone/>
            </a:pPr>
            <a:r>
              <a:rPr b="0" i="0" lang="en-US" sz="1200" u="none" cap="none" strike="noStrike">
                <a:solidFill>
                  <a:schemeClr val="dk1"/>
                </a:solidFill>
                <a:latin typeface="Times"/>
                <a:ea typeface="Times"/>
                <a:cs typeface="Times"/>
                <a:sym typeface="Times"/>
              </a:rPr>
              <a:t>	iv. Item Four		IV. Item Four			d. Item Four		D. Item Four			4. Item Four</a:t>
            </a:r>
            <a:endParaRPr b="0" i="0" sz="1200" u="none" cap="none" strike="noStrike">
              <a:solidFill>
                <a:schemeClr val="dk1"/>
              </a:solidFill>
              <a:latin typeface="Times"/>
              <a:ea typeface="Times"/>
              <a:cs typeface="Times"/>
              <a:sym typeface="Times"/>
            </a:endParaRPr>
          </a:p>
        </p:txBody>
      </p:sp>
      <p:pic>
        <p:nvPicPr>
          <p:cNvPr id="391" name="Google Shape;391;p30"/>
          <p:cNvPicPr preferRelativeResize="0"/>
          <p:nvPr/>
        </p:nvPicPr>
        <p:blipFill rotWithShape="1">
          <a:blip r:embed="rId4">
            <a:alphaModFix/>
          </a:blip>
          <a:srcRect b="0" l="0" r="0" t="0"/>
          <a:stretch/>
        </p:blipFill>
        <p:spPr>
          <a:xfrm>
            <a:off x="5138383" y="928796"/>
            <a:ext cx="1619250" cy="23717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1"/>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860000"/>
              </a:buClr>
              <a:buSzPts val="3600"/>
              <a:buFont typeface="Times New Roman"/>
              <a:buNone/>
            </a:pPr>
            <a:r>
              <a:rPr b="1" lang="en-US" sz="3600">
                <a:solidFill>
                  <a:srgbClr val="860000"/>
                </a:solidFill>
                <a:latin typeface="Times New Roman"/>
                <a:ea typeface="Times New Roman"/>
                <a:cs typeface="Times New Roman"/>
                <a:sym typeface="Times New Roman"/>
              </a:rPr>
              <a:t>Lists -- Unordered Lists</a:t>
            </a:r>
            <a:endParaRPr b="1" sz="3600">
              <a:solidFill>
                <a:srgbClr val="860000"/>
              </a:solidFill>
              <a:latin typeface="Times New Roman"/>
              <a:ea typeface="Times New Roman"/>
              <a:cs typeface="Times New Roman"/>
              <a:sym typeface="Times New Roman"/>
            </a:endParaRPr>
          </a:p>
        </p:txBody>
      </p:sp>
      <p:pic>
        <p:nvPicPr>
          <p:cNvPr descr="C:\Users\GANGA\Desktop\download.jpg" id="397" name="Google Shape;397;p31"/>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398" name="Google Shape;398;p31"/>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9" name="Google Shape;399;p31"/>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0" name="Google Shape;400;p31"/>
          <p:cNvSpPr txBox="1"/>
          <p:nvPr/>
        </p:nvSpPr>
        <p:spPr>
          <a:xfrm>
            <a:off x="818866" y="92491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just">
              <a:lnSpc>
                <a:spcPct val="15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401" name="Google Shape;401;p31"/>
          <p:cNvSpPr txBox="1"/>
          <p:nvPr>
            <p:ph idx="1" type="body"/>
          </p:nvPr>
        </p:nvSpPr>
        <p:spPr>
          <a:xfrm>
            <a:off x="1843825" y="927282"/>
            <a:ext cx="3124200" cy="25908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90000"/>
              </a:lnSpc>
              <a:spcBef>
                <a:spcPts val="0"/>
              </a:spcBef>
              <a:spcAft>
                <a:spcPts val="0"/>
              </a:spcAft>
              <a:buClr>
                <a:schemeClr val="dk1"/>
              </a:buClr>
              <a:buSzPct val="100000"/>
              <a:buFont typeface="Calibri"/>
              <a:buNone/>
            </a:pPr>
            <a:r>
              <a:rPr b="1" lang="en-US"/>
              <a:t>Unordered lists:</a:t>
            </a:r>
            <a:endParaRPr/>
          </a:p>
          <a:p>
            <a:pPr indent="0" lvl="0" marL="0" rtl="0" algn="l">
              <a:lnSpc>
                <a:spcPct val="90000"/>
              </a:lnSpc>
              <a:spcBef>
                <a:spcPts val="1000"/>
              </a:spcBef>
              <a:spcAft>
                <a:spcPts val="0"/>
              </a:spcAft>
              <a:buClr>
                <a:schemeClr val="dk1"/>
              </a:buClr>
              <a:buSzPct val="100000"/>
              <a:buFont typeface="Calibri"/>
              <a:buNone/>
            </a:pPr>
            <a:r>
              <a:rPr lang="en-US"/>
              <a:t>&lt;UL&gt;</a:t>
            </a:r>
            <a:endParaRPr/>
          </a:p>
          <a:p>
            <a:pPr indent="0" lvl="0" marL="0" rtl="0" algn="l">
              <a:lnSpc>
                <a:spcPct val="90000"/>
              </a:lnSpc>
              <a:spcBef>
                <a:spcPts val="1000"/>
              </a:spcBef>
              <a:spcAft>
                <a:spcPts val="0"/>
              </a:spcAft>
              <a:buClr>
                <a:schemeClr val="dk1"/>
              </a:buClr>
              <a:buSzPct val="100000"/>
              <a:buFont typeface="Calibri"/>
              <a:buNone/>
            </a:pPr>
            <a:r>
              <a:rPr lang="en-US"/>
              <a:t>	&lt;LI&gt;Item One</a:t>
            </a:r>
            <a:endParaRPr/>
          </a:p>
          <a:p>
            <a:pPr indent="0" lvl="0" marL="0" rtl="0" algn="l">
              <a:lnSpc>
                <a:spcPct val="90000"/>
              </a:lnSpc>
              <a:spcBef>
                <a:spcPts val="1000"/>
              </a:spcBef>
              <a:spcAft>
                <a:spcPts val="0"/>
              </a:spcAft>
              <a:buClr>
                <a:schemeClr val="dk1"/>
              </a:buClr>
              <a:buSzPct val="100000"/>
              <a:buFont typeface="Calibri"/>
              <a:buNone/>
            </a:pPr>
            <a:r>
              <a:rPr lang="en-US"/>
              <a:t>	&lt;LI&gt;Item Two</a:t>
            </a:r>
            <a:endParaRPr/>
          </a:p>
          <a:p>
            <a:pPr indent="0" lvl="0" marL="0" rtl="0" algn="l">
              <a:lnSpc>
                <a:spcPct val="90000"/>
              </a:lnSpc>
              <a:spcBef>
                <a:spcPts val="1000"/>
              </a:spcBef>
              <a:spcAft>
                <a:spcPts val="0"/>
              </a:spcAft>
              <a:buClr>
                <a:schemeClr val="dk1"/>
              </a:buClr>
              <a:buSzPct val="100000"/>
              <a:buFont typeface="Calibri"/>
              <a:buNone/>
            </a:pPr>
            <a:r>
              <a:rPr lang="en-US"/>
              <a:t>	&lt;LI&gt;Item Three</a:t>
            </a:r>
            <a:endParaRPr/>
          </a:p>
          <a:p>
            <a:pPr indent="0" lvl="0" marL="0" rtl="0" algn="l">
              <a:lnSpc>
                <a:spcPct val="90000"/>
              </a:lnSpc>
              <a:spcBef>
                <a:spcPts val="1000"/>
              </a:spcBef>
              <a:spcAft>
                <a:spcPts val="0"/>
              </a:spcAft>
              <a:buClr>
                <a:schemeClr val="dk1"/>
              </a:buClr>
              <a:buSzPct val="100000"/>
              <a:buFont typeface="Calibri"/>
              <a:buNone/>
            </a:pPr>
            <a:r>
              <a:rPr lang="en-US"/>
              <a:t>	&lt;LI&gt;Item Four</a:t>
            </a:r>
            <a:endParaRPr/>
          </a:p>
          <a:p>
            <a:pPr indent="0" lvl="0" marL="0" rtl="0" algn="l">
              <a:lnSpc>
                <a:spcPct val="90000"/>
              </a:lnSpc>
              <a:spcBef>
                <a:spcPts val="1000"/>
              </a:spcBef>
              <a:spcAft>
                <a:spcPts val="0"/>
              </a:spcAft>
              <a:buClr>
                <a:schemeClr val="dk1"/>
              </a:buClr>
              <a:buSzPct val="100000"/>
              <a:buFont typeface="Calibri"/>
              <a:buNone/>
            </a:pPr>
            <a:r>
              <a:rPr lang="en-US"/>
              <a:t>&lt;/UL&gt;</a:t>
            </a:r>
            <a:endParaRPr/>
          </a:p>
          <a:p>
            <a:pPr indent="0" lvl="0" marL="0" rtl="0" algn="l">
              <a:lnSpc>
                <a:spcPct val="90000"/>
              </a:lnSpc>
              <a:spcBef>
                <a:spcPts val="1000"/>
              </a:spcBef>
              <a:spcAft>
                <a:spcPts val="0"/>
              </a:spcAft>
              <a:buClr>
                <a:schemeClr val="dk1"/>
              </a:buClr>
              <a:buSzPct val="100000"/>
              <a:buFont typeface="Calibri"/>
              <a:buNone/>
            </a:pPr>
            <a:r>
              <a:t/>
            </a:r>
            <a:endParaRPr/>
          </a:p>
          <a:p>
            <a:pPr indent="0" lvl="0" marL="0" rtl="0" algn="l">
              <a:lnSpc>
                <a:spcPct val="90000"/>
              </a:lnSpc>
              <a:spcBef>
                <a:spcPts val="1000"/>
              </a:spcBef>
              <a:spcAft>
                <a:spcPts val="0"/>
              </a:spcAft>
              <a:buClr>
                <a:schemeClr val="dk1"/>
              </a:buClr>
              <a:buSzPct val="100000"/>
              <a:buFont typeface="Calibri"/>
              <a:buNone/>
            </a:pPr>
            <a:r>
              <a:t/>
            </a:r>
            <a:endParaRPr/>
          </a:p>
        </p:txBody>
      </p:sp>
      <p:sp>
        <p:nvSpPr>
          <p:cNvPr id="402" name="Google Shape;402;p31"/>
          <p:cNvSpPr txBox="1"/>
          <p:nvPr/>
        </p:nvSpPr>
        <p:spPr>
          <a:xfrm>
            <a:off x="6569299" y="1613082"/>
            <a:ext cx="1752600" cy="1768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a:buChar char="•"/>
            </a:pPr>
            <a:r>
              <a:rPr b="0" i="0" lang="en-US" sz="2000" u="none" cap="none" strike="noStrike">
                <a:solidFill>
                  <a:schemeClr val="dk1"/>
                </a:solidFill>
                <a:latin typeface="Times"/>
                <a:ea typeface="Times"/>
                <a:cs typeface="Times"/>
                <a:sym typeface="Times"/>
              </a:rPr>
              <a:t> Item One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dk1"/>
              </a:buClr>
              <a:buSzPts val="2000"/>
              <a:buFont typeface="Times"/>
              <a:buChar char="•"/>
            </a:pPr>
            <a:r>
              <a:rPr b="0" i="0" lang="en-US" sz="2000" u="none" cap="none" strike="noStrike">
                <a:solidFill>
                  <a:schemeClr val="dk1"/>
                </a:solidFill>
                <a:latin typeface="Times"/>
                <a:ea typeface="Times"/>
                <a:cs typeface="Times"/>
                <a:sym typeface="Times"/>
              </a:rPr>
              <a:t> Item Two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dk1"/>
              </a:buClr>
              <a:buSzPts val="2000"/>
              <a:buFont typeface="Times"/>
              <a:buChar char="•"/>
            </a:pPr>
            <a:r>
              <a:rPr b="0" i="0" lang="en-US" sz="2000" u="none" cap="none" strike="noStrike">
                <a:solidFill>
                  <a:schemeClr val="dk1"/>
                </a:solidFill>
                <a:latin typeface="Times"/>
                <a:ea typeface="Times"/>
                <a:cs typeface="Times"/>
                <a:sym typeface="Times"/>
              </a:rPr>
              <a:t> Item Three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dk1"/>
              </a:buClr>
              <a:buSzPts val="2000"/>
              <a:buFont typeface="Times"/>
              <a:buChar char="•"/>
            </a:pPr>
            <a:r>
              <a:rPr b="0" i="0" lang="en-US" sz="2000" u="none" cap="none" strike="noStrike">
                <a:solidFill>
                  <a:schemeClr val="dk1"/>
                </a:solidFill>
                <a:latin typeface="Times"/>
                <a:ea typeface="Times"/>
                <a:cs typeface="Times"/>
                <a:sym typeface="Times"/>
              </a:rPr>
              <a:t> Item Four</a:t>
            </a:r>
            <a:endParaRPr b="0" i="0" sz="1800" u="none" cap="none" strike="noStrike">
              <a:solidFill>
                <a:schemeClr val="dk1"/>
              </a:solidFill>
              <a:latin typeface="Times"/>
              <a:ea typeface="Times"/>
              <a:cs typeface="Times"/>
              <a:sym typeface="Times"/>
            </a:endParaRPr>
          </a:p>
        </p:txBody>
      </p:sp>
      <p:sp>
        <p:nvSpPr>
          <p:cNvPr id="403" name="Google Shape;403;p31"/>
          <p:cNvSpPr/>
          <p:nvPr/>
        </p:nvSpPr>
        <p:spPr>
          <a:xfrm>
            <a:off x="5122908" y="2222682"/>
            <a:ext cx="976312" cy="485775"/>
          </a:xfrm>
          <a:prstGeom prst="rightArrow">
            <a:avLst>
              <a:gd fmla="val 50000" name="adj1"/>
              <a:gd fmla="val 50245" name="adj2"/>
            </a:avLst>
          </a:prstGeom>
          <a:solidFill>
            <a:schemeClr val="accent1"/>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04" name="Google Shape;404;p31"/>
          <p:cNvCxnSpPr/>
          <p:nvPr/>
        </p:nvCxnSpPr>
        <p:spPr>
          <a:xfrm>
            <a:off x="1679620" y="3542767"/>
            <a:ext cx="8839200" cy="0"/>
          </a:xfrm>
          <a:prstGeom prst="straightConnector1">
            <a:avLst/>
          </a:prstGeom>
          <a:noFill/>
          <a:ln cap="flat" cmpd="sng" w="28575">
            <a:solidFill>
              <a:srgbClr val="600000"/>
            </a:solidFill>
            <a:prstDash val="solid"/>
            <a:round/>
            <a:headEnd len="sm" w="sm" type="none"/>
            <a:tailEnd len="sm" w="sm" type="none"/>
          </a:ln>
        </p:spPr>
      </p:cxnSp>
      <p:sp>
        <p:nvSpPr>
          <p:cNvPr id="405" name="Google Shape;405;p31"/>
          <p:cNvSpPr txBox="1"/>
          <p:nvPr/>
        </p:nvSpPr>
        <p:spPr>
          <a:xfrm>
            <a:off x="1458164" y="4016739"/>
            <a:ext cx="8305800" cy="13112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chemeClr val="dk1"/>
                </a:solidFill>
                <a:latin typeface="Times"/>
                <a:ea typeface="Times"/>
                <a:cs typeface="Times"/>
                <a:sym typeface="Times"/>
              </a:rPr>
              <a:t>Unordered List Attributes:</a:t>
            </a:r>
            <a:endParaRPr b="0" i="0" sz="2000" u="none" cap="none" strike="noStrike">
              <a:solidFill>
                <a:schemeClr val="dk1"/>
              </a:solidFill>
              <a:latin typeface="Times"/>
              <a:ea typeface="Times"/>
              <a:cs typeface="Times"/>
              <a:sym typeface="Times"/>
            </a:endParaRPr>
          </a:p>
          <a:p>
            <a:pPr indent="0" lvl="1" marL="457200" marR="0" rtl="0" algn="l">
              <a:lnSpc>
                <a:spcPct val="100000"/>
              </a:lnSpc>
              <a:spcBef>
                <a:spcPts val="1000"/>
              </a:spcBef>
              <a:spcAft>
                <a:spcPts val="0"/>
              </a:spcAft>
              <a:buClr>
                <a:srgbClr val="000000"/>
              </a:buClr>
              <a:buSzPts val="2000"/>
              <a:buFont typeface="Arial"/>
              <a:buNone/>
            </a:pPr>
            <a:r>
              <a:rPr b="0" i="0" lang="en-US" sz="2000" u="none" cap="none" strike="noStrike">
                <a:solidFill>
                  <a:schemeClr val="dk1"/>
                </a:solidFill>
                <a:latin typeface="Times"/>
                <a:ea typeface="Times"/>
                <a:cs typeface="Times"/>
                <a:sym typeface="Times"/>
              </a:rPr>
              <a:t>type="disc/circle/square"</a:t>
            </a:r>
            <a:endParaRPr b="0" i="0" sz="1400" u="none" cap="none" strike="noStrike">
              <a:solidFill>
                <a:srgbClr val="000000"/>
              </a:solidFill>
              <a:latin typeface="Arial"/>
              <a:ea typeface="Arial"/>
              <a:cs typeface="Arial"/>
              <a:sym typeface="Arial"/>
            </a:endParaRPr>
          </a:p>
          <a:p>
            <a:pPr indent="-127000" lvl="1" marL="457200" marR="0" rtl="0" algn="l">
              <a:lnSpc>
                <a:spcPct val="100000"/>
              </a:lnSpc>
              <a:spcBef>
                <a:spcPts val="1000"/>
              </a:spcBef>
              <a:spcAft>
                <a:spcPts val="0"/>
              </a:spcAft>
              <a:buClr>
                <a:schemeClr val="dk1"/>
              </a:buClr>
              <a:buSzPts val="2000"/>
              <a:buFont typeface="Times"/>
              <a:buChar char="•"/>
            </a:pPr>
            <a:r>
              <a:rPr b="0" i="0" lang="en-US" sz="2000" u="none" cap="none" strike="noStrike">
                <a:solidFill>
                  <a:schemeClr val="dk1"/>
                </a:solidFill>
                <a:latin typeface="Times"/>
                <a:ea typeface="Times"/>
                <a:cs typeface="Times"/>
                <a:sym typeface="Times"/>
              </a:rPr>
              <a:t> Disc (default)      </a:t>
            </a:r>
            <a:r>
              <a:rPr b="0" i="0" lang="en-US" sz="1600" u="none" cap="none" strike="noStrike">
                <a:solidFill>
                  <a:schemeClr val="dk1"/>
                </a:solidFill>
                <a:latin typeface="Times"/>
                <a:ea typeface="Times"/>
                <a:cs typeface="Times"/>
                <a:sym typeface="Times"/>
              </a:rPr>
              <a:t>⚪</a:t>
            </a:r>
            <a:r>
              <a:rPr b="0" i="0" lang="en-US" sz="2000" u="none" cap="none" strike="noStrike">
                <a:solidFill>
                  <a:schemeClr val="dk1"/>
                </a:solidFill>
                <a:latin typeface="Times"/>
                <a:ea typeface="Times"/>
                <a:cs typeface="Times"/>
                <a:sym typeface="Times"/>
              </a:rPr>
              <a:t> Circle     </a:t>
            </a:r>
            <a:r>
              <a:rPr b="0" i="0" lang="en-US" sz="1600" u="none" cap="none" strike="noStrike">
                <a:solidFill>
                  <a:schemeClr val="dk1"/>
                </a:solidFill>
                <a:latin typeface="Times"/>
                <a:ea typeface="Times"/>
                <a:cs typeface="Times"/>
                <a:sym typeface="Times"/>
              </a:rPr>
              <a:t>■</a:t>
            </a:r>
            <a:r>
              <a:rPr b="0" i="0" lang="en-US" sz="2000" u="none" cap="none" strike="noStrike">
                <a:solidFill>
                  <a:schemeClr val="dk1"/>
                </a:solidFill>
                <a:latin typeface="Times"/>
                <a:ea typeface="Times"/>
                <a:cs typeface="Times"/>
                <a:sym typeface="Times"/>
              </a:rPr>
              <a:t> Square</a:t>
            </a:r>
            <a:endParaRPr b="0" i="0" sz="1400" u="none" cap="none" strike="noStrike">
              <a:solidFill>
                <a:srgbClr val="000000"/>
              </a:solidFill>
              <a:latin typeface="Arial"/>
              <a:ea typeface="Arial"/>
              <a:cs typeface="Arial"/>
              <a:sym typeface="Arial"/>
            </a:endParaRPr>
          </a:p>
        </p:txBody>
      </p:sp>
      <p:pic>
        <p:nvPicPr>
          <p:cNvPr id="406" name="Google Shape;406;p31"/>
          <p:cNvPicPr preferRelativeResize="0"/>
          <p:nvPr/>
        </p:nvPicPr>
        <p:blipFill rotWithShape="1">
          <a:blip r:embed="rId4">
            <a:alphaModFix/>
          </a:blip>
          <a:srcRect b="0" l="0" r="0" t="0"/>
          <a:stretch/>
        </p:blipFill>
        <p:spPr>
          <a:xfrm>
            <a:off x="6193061" y="3812146"/>
            <a:ext cx="2505075" cy="2532599"/>
          </a:xfrm>
          <a:prstGeom prst="rect">
            <a:avLst/>
          </a:prstGeom>
          <a:noFill/>
          <a:ln>
            <a:noFill/>
          </a:ln>
        </p:spPr>
      </p:pic>
      <p:pic>
        <p:nvPicPr>
          <p:cNvPr id="407" name="Google Shape;407;p31"/>
          <p:cNvPicPr preferRelativeResize="0"/>
          <p:nvPr/>
        </p:nvPicPr>
        <p:blipFill rotWithShape="1">
          <a:blip r:embed="rId5">
            <a:alphaModFix/>
          </a:blip>
          <a:srcRect b="0" l="0" r="0" t="0"/>
          <a:stretch/>
        </p:blipFill>
        <p:spPr>
          <a:xfrm>
            <a:off x="8985687" y="4416457"/>
            <a:ext cx="2628900" cy="13239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2"/>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860000"/>
              </a:buClr>
              <a:buSzPts val="3600"/>
              <a:buFont typeface="Times New Roman"/>
              <a:buNone/>
            </a:pPr>
            <a:r>
              <a:rPr b="1" lang="en-US" sz="3600">
                <a:solidFill>
                  <a:srgbClr val="860000"/>
                </a:solidFill>
                <a:latin typeface="Times New Roman"/>
                <a:ea typeface="Times New Roman"/>
                <a:cs typeface="Times New Roman"/>
                <a:sym typeface="Times New Roman"/>
              </a:rPr>
              <a:t>HTML Lists</a:t>
            </a:r>
            <a:endParaRPr b="1" sz="3600">
              <a:solidFill>
                <a:srgbClr val="860000"/>
              </a:solidFill>
              <a:latin typeface="Times New Roman"/>
              <a:ea typeface="Times New Roman"/>
              <a:cs typeface="Times New Roman"/>
              <a:sym typeface="Times New Roman"/>
            </a:endParaRPr>
          </a:p>
        </p:txBody>
      </p:sp>
      <p:pic>
        <p:nvPicPr>
          <p:cNvPr descr="C:\Users\GANGA\Desktop\download.jpg" id="413" name="Google Shape;413;p32"/>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414" name="Google Shape;414;p32"/>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5" name="Google Shape;415;p32"/>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6" name="Google Shape;416;p32"/>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77500" lnSpcReduction="20000"/>
          </a:bodyPr>
          <a:lstStyle/>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&lt;h2&gt;HTML Lists&lt;/h2&gt;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a:t>
            </a:r>
            <a:r>
              <a:rPr b="1" i="0" lang="en-US" sz="2800" u="none" cap="none" strike="noStrike">
                <a:solidFill>
                  <a:srgbClr val="003300"/>
                </a:solidFill>
                <a:latin typeface="Times New Roman"/>
                <a:ea typeface="Times New Roman"/>
                <a:cs typeface="Times New Roman"/>
                <a:sym typeface="Times New Roman"/>
              </a:rPr>
              <a:t>&lt;ul&gt;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&lt;li&gt;UNIT 1&lt;/li&gt;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a:t>
            </a:r>
            <a:r>
              <a:rPr b="1" i="0" lang="en-US" sz="2800" u="none" cap="none" strike="noStrike">
                <a:solidFill>
                  <a:srgbClr val="003300"/>
                </a:solidFill>
                <a:latin typeface="Times New Roman"/>
                <a:ea typeface="Times New Roman"/>
                <a:cs typeface="Times New Roman"/>
                <a:sym typeface="Times New Roman"/>
              </a:rPr>
              <a:t>&lt;ol&gt;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&lt;li&gt;Introduction&lt;/li&gt;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&lt;li&gt;Basic HTML Tags&lt;/li&gt;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&lt;li&gt;HTML 5&lt;/li&gt;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&lt;li&gt;JQuery&lt;/li&gt;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&lt;li&gt;Json &lt;/li&gt;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a:t>
            </a:r>
            <a:r>
              <a:rPr b="1" i="0" lang="en-US" sz="2800" u="none" cap="none" strike="noStrike">
                <a:solidFill>
                  <a:srgbClr val="003300"/>
                </a:solidFill>
                <a:latin typeface="Times New Roman"/>
                <a:ea typeface="Times New Roman"/>
                <a:cs typeface="Times New Roman"/>
                <a:sym typeface="Times New Roman"/>
              </a:rPr>
              <a:t>&lt;/ol&gt;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&lt;li&gt;UNIT 2&lt;/li&gt;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a:t>
            </a:r>
            <a:r>
              <a:rPr b="1" i="0" lang="en-US" sz="2800" u="none" cap="none" strike="noStrike">
                <a:solidFill>
                  <a:srgbClr val="003300"/>
                </a:solidFill>
                <a:latin typeface="Times New Roman"/>
                <a:ea typeface="Times New Roman"/>
                <a:cs typeface="Times New Roman"/>
                <a:sym typeface="Times New Roman"/>
              </a:rPr>
              <a:t>&lt;ol&gt;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&lt;li&gt;XML&lt;/li&gt;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&lt;li&gt;Web Services&lt;/li&gt;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a:t>
            </a:r>
            <a:r>
              <a:rPr b="1" i="0" lang="en-US" sz="2800" u="none" cap="none" strike="noStrike">
                <a:solidFill>
                  <a:srgbClr val="003300"/>
                </a:solidFill>
                <a:latin typeface="Times New Roman"/>
                <a:ea typeface="Times New Roman"/>
                <a:cs typeface="Times New Roman"/>
                <a:sym typeface="Times New Roman"/>
              </a:rPr>
              <a:t>&lt;/ol&gt;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a:t>
            </a:r>
            <a:r>
              <a:rPr b="1" i="0" lang="en-US" sz="2800" u="none" cap="none" strike="noStrike">
                <a:solidFill>
                  <a:srgbClr val="003300"/>
                </a:solidFill>
                <a:latin typeface="Times New Roman"/>
                <a:ea typeface="Times New Roman"/>
                <a:cs typeface="Times New Roman"/>
                <a:sym typeface="Times New Roman"/>
              </a:rPr>
              <a:t>&lt;/ul&gt;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file14.jpg" id="417" name="Google Shape;417;p32"/>
          <p:cNvPicPr preferRelativeResize="0"/>
          <p:nvPr/>
        </p:nvPicPr>
        <p:blipFill rotWithShape="1">
          <a:blip r:embed="rId4">
            <a:alphaModFix/>
          </a:blip>
          <a:srcRect b="0" l="0" r="0" t="0"/>
          <a:stretch/>
        </p:blipFill>
        <p:spPr>
          <a:xfrm>
            <a:off x="8255591" y="2582118"/>
            <a:ext cx="2974427" cy="349994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3"/>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a:buNone/>
            </a:pPr>
            <a:r>
              <a:rPr b="1" lang="en-US" sz="3600">
                <a:solidFill>
                  <a:srgbClr val="600000"/>
                </a:solidFill>
                <a:latin typeface="Times"/>
                <a:ea typeface="Times"/>
                <a:cs typeface="Times"/>
                <a:sym typeface="Times"/>
              </a:rPr>
              <a:t>HTML 5  Elements</a:t>
            </a:r>
            <a:endParaRPr/>
          </a:p>
        </p:txBody>
      </p:sp>
      <p:pic>
        <p:nvPicPr>
          <p:cNvPr descr="C:\Users\GANGA\Desktop\download.jpg" id="423" name="Google Shape;423;p33"/>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424" name="Google Shape;424;p33"/>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5" name="Google Shape;425;p33"/>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6" name="Google Shape;426;p33"/>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457200" lvl="0" marL="457200" marR="0" rtl="0" algn="l">
              <a:lnSpc>
                <a:spcPct val="2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a:ea typeface="Times"/>
                <a:cs typeface="Times"/>
                <a:sym typeface="Times"/>
              </a:rPr>
              <a:t>Form controls </a:t>
            </a:r>
            <a:endParaRPr b="0" i="0" sz="1400" u="none" cap="none" strike="noStrike">
              <a:solidFill>
                <a:srgbClr val="000000"/>
              </a:solidFill>
              <a:latin typeface="Arial"/>
              <a:ea typeface="Arial"/>
              <a:cs typeface="Arial"/>
              <a:sym typeface="Arial"/>
            </a:endParaRPr>
          </a:p>
          <a:p>
            <a:pPr indent="-457200" lvl="0" marL="457200" marR="0" rtl="0" algn="l">
              <a:lnSpc>
                <a:spcPct val="2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a:ea typeface="Times"/>
                <a:cs typeface="Times"/>
                <a:sym typeface="Times"/>
              </a:rPr>
              <a:t>Layout Management </a:t>
            </a:r>
            <a:endParaRPr b="0" i="0" sz="1400" u="none" cap="none" strike="noStrike">
              <a:solidFill>
                <a:srgbClr val="000000"/>
              </a:solidFill>
              <a:latin typeface="Arial"/>
              <a:ea typeface="Arial"/>
              <a:cs typeface="Arial"/>
              <a:sym typeface="Arial"/>
            </a:endParaRPr>
          </a:p>
          <a:p>
            <a:pPr indent="-457200" lvl="0" marL="457200" marR="0" rtl="0" algn="l">
              <a:lnSpc>
                <a:spcPct val="2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a:ea typeface="Times"/>
                <a:cs typeface="Times"/>
                <a:sym typeface="Times"/>
              </a:rPr>
              <a:t>Graphics</a:t>
            </a:r>
            <a:endParaRPr b="0" i="0" sz="1400" u="none" cap="none" strike="noStrike">
              <a:solidFill>
                <a:srgbClr val="000000"/>
              </a:solidFill>
              <a:latin typeface="Arial"/>
              <a:ea typeface="Arial"/>
              <a:cs typeface="Arial"/>
              <a:sym typeface="Arial"/>
            </a:endParaRPr>
          </a:p>
          <a:p>
            <a:pPr indent="-457200" lvl="0" marL="457200" marR="0" rtl="0" algn="l">
              <a:lnSpc>
                <a:spcPct val="2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a:ea typeface="Times"/>
                <a:cs typeface="Times"/>
                <a:sym typeface="Times"/>
              </a:rPr>
              <a:t>Media</a:t>
            </a:r>
            <a:endParaRPr b="0" i="0" sz="1400" u="none" cap="none" strike="noStrike">
              <a:solidFill>
                <a:srgbClr val="000000"/>
              </a:solidFill>
              <a:latin typeface="Arial"/>
              <a:ea typeface="Arial"/>
              <a:cs typeface="Arial"/>
              <a:sym typeface="Arial"/>
            </a:endParaRPr>
          </a:p>
          <a:p>
            <a:pPr indent="-457200" lvl="0" marL="457200" marR="0" rtl="0" algn="l">
              <a:lnSpc>
                <a:spcPct val="2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a:ea typeface="Times"/>
                <a:cs typeface="Times"/>
                <a:sym typeface="Times"/>
              </a:rPr>
              <a:t>Span and div tags</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4"/>
          <p:cNvSpPr txBox="1"/>
          <p:nvPr/>
        </p:nvSpPr>
        <p:spPr>
          <a:xfrm>
            <a:off x="163772" y="204716"/>
            <a:ext cx="10781732"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a:ea typeface="Times"/>
                <a:cs typeface="Times"/>
                <a:sym typeface="Times"/>
              </a:rPr>
              <a:t>HTML Form Controls</a:t>
            </a:r>
            <a:endParaRPr b="1" i="0" sz="3600" u="none" cap="none" strike="noStrike">
              <a:solidFill>
                <a:srgbClr val="600000"/>
              </a:solidFill>
              <a:latin typeface="Times"/>
              <a:ea typeface="Times"/>
              <a:cs typeface="Times"/>
              <a:sym typeface="Times"/>
            </a:endParaRPr>
          </a:p>
        </p:txBody>
      </p:sp>
      <p:sp>
        <p:nvSpPr>
          <p:cNvPr id="432" name="Google Shape;432;p34"/>
          <p:cNvSpPr txBox="1"/>
          <p:nvPr/>
        </p:nvSpPr>
        <p:spPr>
          <a:xfrm>
            <a:off x="163772" y="1017732"/>
            <a:ext cx="10781731" cy="567928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457200" lvl="0" marL="457200" marR="0" rtl="0" algn="l">
              <a:lnSpc>
                <a:spcPct val="250000"/>
              </a:lnSpc>
              <a:spcBef>
                <a:spcPts val="0"/>
              </a:spcBef>
              <a:spcAft>
                <a:spcPts val="0"/>
              </a:spcAft>
              <a:buClr>
                <a:srgbClr val="003300"/>
              </a:buClr>
              <a:buSzPts val="2800"/>
              <a:buFont typeface="Times"/>
              <a:buAutoNum type="arabicPeriod"/>
            </a:pPr>
            <a:r>
              <a:rPr b="0" i="0" lang="en-US" sz="2800" u="none" cap="none" strike="noStrike">
                <a:solidFill>
                  <a:srgbClr val="003300"/>
                </a:solidFill>
                <a:latin typeface="Times"/>
                <a:ea typeface="Times"/>
                <a:cs typeface="Times"/>
                <a:sym typeface="Times"/>
              </a:rPr>
              <a:t>Text input(one line or multiple lines)</a:t>
            </a:r>
            <a:endParaRPr b="0" i="0" sz="1400" u="none" cap="none" strike="noStrike">
              <a:solidFill>
                <a:srgbClr val="000000"/>
              </a:solidFill>
              <a:latin typeface="Arial"/>
              <a:ea typeface="Arial"/>
              <a:cs typeface="Arial"/>
              <a:sym typeface="Arial"/>
            </a:endParaRPr>
          </a:p>
          <a:p>
            <a:pPr indent="-457200" lvl="0" marL="457200" marR="0" rtl="0" algn="l">
              <a:lnSpc>
                <a:spcPct val="250000"/>
              </a:lnSpc>
              <a:spcBef>
                <a:spcPts val="0"/>
              </a:spcBef>
              <a:spcAft>
                <a:spcPts val="0"/>
              </a:spcAft>
              <a:buClr>
                <a:srgbClr val="003300"/>
              </a:buClr>
              <a:buSzPts val="2800"/>
              <a:buFont typeface="Times"/>
              <a:buAutoNum type="arabicPeriod"/>
            </a:pPr>
            <a:r>
              <a:rPr b="0" i="0" lang="en-US" sz="2800" u="none" cap="none" strike="noStrike">
                <a:solidFill>
                  <a:srgbClr val="003300"/>
                </a:solidFill>
                <a:latin typeface="Times"/>
                <a:ea typeface="Times"/>
                <a:cs typeface="Times"/>
                <a:sym typeface="Times"/>
              </a:rPr>
              <a:t>Checkboxes</a:t>
            </a:r>
            <a:endParaRPr b="0" i="0" sz="1400" u="none" cap="none" strike="noStrike">
              <a:solidFill>
                <a:srgbClr val="000000"/>
              </a:solidFill>
              <a:latin typeface="Arial"/>
              <a:ea typeface="Arial"/>
              <a:cs typeface="Arial"/>
              <a:sym typeface="Arial"/>
            </a:endParaRPr>
          </a:p>
          <a:p>
            <a:pPr indent="-457200" lvl="0" marL="457200" marR="0" rtl="0" algn="l">
              <a:lnSpc>
                <a:spcPct val="250000"/>
              </a:lnSpc>
              <a:spcBef>
                <a:spcPts val="0"/>
              </a:spcBef>
              <a:spcAft>
                <a:spcPts val="0"/>
              </a:spcAft>
              <a:buClr>
                <a:srgbClr val="003300"/>
              </a:buClr>
              <a:buSzPts val="2800"/>
              <a:buFont typeface="Times"/>
              <a:buAutoNum type="arabicPeriod"/>
            </a:pPr>
            <a:r>
              <a:rPr b="0" i="0" lang="en-US" sz="2800" u="none" cap="none" strike="noStrike">
                <a:solidFill>
                  <a:srgbClr val="003300"/>
                </a:solidFill>
                <a:latin typeface="Times"/>
                <a:ea typeface="Times"/>
                <a:cs typeface="Times"/>
                <a:sym typeface="Times"/>
              </a:rPr>
              <a:t>Radio buttons</a:t>
            </a:r>
            <a:endParaRPr b="0" i="0" sz="1400" u="none" cap="none" strike="noStrike">
              <a:solidFill>
                <a:srgbClr val="000000"/>
              </a:solidFill>
              <a:latin typeface="Arial"/>
              <a:ea typeface="Arial"/>
              <a:cs typeface="Arial"/>
              <a:sym typeface="Arial"/>
            </a:endParaRPr>
          </a:p>
          <a:p>
            <a:pPr indent="-457200" lvl="0" marL="457200" marR="0" rtl="0" algn="l">
              <a:lnSpc>
                <a:spcPct val="250000"/>
              </a:lnSpc>
              <a:spcBef>
                <a:spcPts val="0"/>
              </a:spcBef>
              <a:spcAft>
                <a:spcPts val="0"/>
              </a:spcAft>
              <a:buClr>
                <a:srgbClr val="003300"/>
              </a:buClr>
              <a:buSzPts val="2800"/>
              <a:buFont typeface="Times"/>
              <a:buAutoNum type="arabicPeriod"/>
            </a:pPr>
            <a:r>
              <a:rPr b="0" i="0" lang="en-US" sz="2800" u="none" cap="none" strike="noStrike">
                <a:solidFill>
                  <a:srgbClr val="003300"/>
                </a:solidFill>
                <a:latin typeface="Times"/>
                <a:ea typeface="Times"/>
                <a:cs typeface="Times"/>
                <a:sym typeface="Times"/>
              </a:rPr>
              <a:t>Dropdowns</a:t>
            </a:r>
            <a:endParaRPr b="0" i="0" sz="1400" u="none" cap="none" strike="noStrike">
              <a:solidFill>
                <a:srgbClr val="000000"/>
              </a:solidFill>
              <a:latin typeface="Arial"/>
              <a:ea typeface="Arial"/>
              <a:cs typeface="Arial"/>
              <a:sym typeface="Arial"/>
            </a:endParaRPr>
          </a:p>
          <a:p>
            <a:pPr indent="-457200" lvl="0" marL="457200" marR="0" rtl="0" algn="l">
              <a:lnSpc>
                <a:spcPct val="250000"/>
              </a:lnSpc>
              <a:spcBef>
                <a:spcPts val="0"/>
              </a:spcBef>
              <a:spcAft>
                <a:spcPts val="0"/>
              </a:spcAft>
              <a:buClr>
                <a:srgbClr val="003300"/>
              </a:buClr>
              <a:buSzPts val="2800"/>
              <a:buFont typeface="Times"/>
              <a:buAutoNum type="arabicPeriod"/>
            </a:pPr>
            <a:r>
              <a:rPr b="0" i="0" lang="en-US" sz="2800" u="none" cap="none" strike="noStrike">
                <a:solidFill>
                  <a:srgbClr val="003300"/>
                </a:solidFill>
                <a:latin typeface="Times"/>
                <a:ea typeface="Times"/>
                <a:cs typeface="Times"/>
                <a:sym typeface="Times"/>
              </a:rPr>
              <a:t>Submit and reset buttons</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433" name="Google Shape;433;p34"/>
          <p:cNvSpPr/>
          <p:nvPr/>
        </p:nvSpPr>
        <p:spPr>
          <a:xfrm>
            <a:off x="11191167" y="0"/>
            <a:ext cx="259311" cy="551369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4" name="Google Shape;434;p34"/>
          <p:cNvSpPr/>
          <p:nvPr/>
        </p:nvSpPr>
        <p:spPr>
          <a:xfrm>
            <a:off x="11450472" y="0"/>
            <a:ext cx="741528" cy="5882183"/>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435" name="Google Shape;435;p34"/>
          <p:cNvPicPr preferRelativeResize="0"/>
          <p:nvPr/>
        </p:nvPicPr>
        <p:blipFill rotWithShape="1">
          <a:blip r:embed="rId3">
            <a:alphaModFix/>
          </a:blip>
          <a:srcRect b="0" l="0" r="0" t="0"/>
          <a:stretch/>
        </p:blipFill>
        <p:spPr>
          <a:xfrm>
            <a:off x="11191166" y="5915467"/>
            <a:ext cx="1000833" cy="915237"/>
          </a:xfrm>
          <a:prstGeom prst="rect">
            <a:avLst/>
          </a:prstGeom>
          <a:noFill/>
          <a:ln cap="flat" cmpd="sng" w="9525">
            <a:solidFill>
              <a:srgbClr val="860000"/>
            </a:solidFill>
            <a:prstDash val="solid"/>
            <a:round/>
            <a:headEnd len="sm" w="sm" type="none"/>
            <a:tailEnd len="sm" w="sm" type="none"/>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5"/>
          <p:cNvSpPr txBox="1"/>
          <p:nvPr/>
        </p:nvSpPr>
        <p:spPr>
          <a:xfrm>
            <a:off x="163772" y="204716"/>
            <a:ext cx="11136574"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a:ea typeface="Times"/>
                <a:cs typeface="Times"/>
                <a:sym typeface="Times"/>
              </a:rPr>
              <a:t>&lt;input&gt; Tag</a:t>
            </a:r>
            <a:endParaRPr b="1" i="0" sz="3600" u="none" cap="none" strike="noStrike">
              <a:solidFill>
                <a:srgbClr val="600000"/>
              </a:solidFill>
              <a:latin typeface="Times"/>
              <a:ea typeface="Times"/>
              <a:cs typeface="Times"/>
              <a:sym typeface="Times"/>
            </a:endParaRPr>
          </a:p>
        </p:txBody>
      </p:sp>
      <p:sp>
        <p:nvSpPr>
          <p:cNvPr id="441" name="Google Shape;441;p35"/>
          <p:cNvSpPr txBox="1"/>
          <p:nvPr/>
        </p:nvSpPr>
        <p:spPr>
          <a:xfrm>
            <a:off x="163772" y="1017733"/>
            <a:ext cx="11122927" cy="5073974"/>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457200" lvl="0" marL="457200" marR="0" rtl="0" algn="l">
              <a:lnSpc>
                <a:spcPct val="1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Form elements use the &lt;input&gt; tag, with a type="..." attributes to tell which kind of element it 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600000"/>
                </a:solidFill>
                <a:latin typeface="Times New Roman"/>
                <a:ea typeface="Times New Roman"/>
                <a:cs typeface="Times New Roman"/>
                <a:sym typeface="Times New Roman"/>
              </a:rPr>
              <a:t>Input tag attributes</a:t>
            </a:r>
            <a:endParaRPr b="0" i="0" sz="1400" u="none" cap="none" strike="noStrike">
              <a:solidFill>
                <a:srgbClr val="000000"/>
              </a:solidFill>
              <a:latin typeface="Arial"/>
              <a:ea typeface="Arial"/>
              <a:cs typeface="Arial"/>
              <a:sym typeface="Arial"/>
            </a:endParaRPr>
          </a:p>
          <a:p>
            <a:pPr indent="-342900" lvl="0" marL="452437" marR="0" rtl="0" algn="l">
              <a:lnSpc>
                <a:spcPct val="100000"/>
              </a:lnSpc>
              <a:spcBef>
                <a:spcPts val="0"/>
              </a:spcBef>
              <a:spcAft>
                <a:spcPts val="0"/>
              </a:spcAft>
              <a:buClr>
                <a:srgbClr val="003300"/>
              </a:buClr>
              <a:buSzPts val="2800"/>
              <a:buFont typeface="Times New Roman"/>
              <a:buAutoNum type="arabicPeriod"/>
            </a:pPr>
            <a:r>
              <a:rPr b="0" i="0" lang="en-US" sz="2800" u="none" cap="none" strike="noStrike">
                <a:solidFill>
                  <a:srgbClr val="003300"/>
                </a:solidFill>
                <a:latin typeface="Times New Roman"/>
                <a:ea typeface="Times New Roman"/>
                <a:cs typeface="Times New Roman"/>
                <a:sym typeface="Times New Roman"/>
              </a:rPr>
              <a:t>Type  - specifies type of the input control</a:t>
            </a:r>
            <a:endParaRPr b="0" i="0" sz="1400" u="none" cap="none" strike="noStrike">
              <a:solidFill>
                <a:srgbClr val="000000"/>
              </a:solidFill>
              <a:latin typeface="Arial"/>
              <a:ea typeface="Arial"/>
              <a:cs typeface="Arial"/>
              <a:sym typeface="Arial"/>
            </a:endParaRPr>
          </a:p>
          <a:p>
            <a:pPr indent="-342900" lvl="0" marL="452437" marR="0" rtl="0" algn="l">
              <a:lnSpc>
                <a:spcPct val="100000"/>
              </a:lnSpc>
              <a:spcBef>
                <a:spcPts val="0"/>
              </a:spcBef>
              <a:spcAft>
                <a:spcPts val="0"/>
              </a:spcAft>
              <a:buClr>
                <a:srgbClr val="003300"/>
              </a:buClr>
              <a:buSzPts val="2800"/>
              <a:buFont typeface="Times New Roman"/>
              <a:buAutoNum type="arabicPeriod"/>
            </a:pPr>
            <a:r>
              <a:rPr b="0" i="0" lang="en-US" sz="2800" u="none" cap="none" strike="noStrike">
                <a:solidFill>
                  <a:srgbClr val="003300"/>
                </a:solidFill>
                <a:latin typeface="Times New Roman"/>
                <a:ea typeface="Times New Roman"/>
                <a:cs typeface="Times New Roman"/>
                <a:sym typeface="Times New Roman"/>
              </a:rPr>
              <a:t>Name – name of the control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00000"/>
              </a:buClr>
              <a:buSzPts val="3600"/>
              <a:buFont typeface="Times New Roman"/>
              <a:buNone/>
            </a:pPr>
            <a:r>
              <a:rPr b="1" i="0" lang="en-US" sz="3600" u="none" cap="none" strike="noStrike">
                <a:solidFill>
                  <a:srgbClr val="600000"/>
                </a:solidFill>
                <a:latin typeface="Times New Roman"/>
                <a:ea typeface="Times New Roman"/>
                <a:cs typeface="Times New Roman"/>
                <a:sym typeface="Times New Roman"/>
              </a:rPr>
              <a:t>Textfield</a:t>
            </a:r>
            <a:endParaRPr b="1" i="0" sz="3600" u="none" cap="none" strike="noStrike">
              <a:solidFill>
                <a:srgbClr val="600000"/>
              </a:solidFill>
              <a:latin typeface="Times New Roman"/>
              <a:ea typeface="Times New Roman"/>
              <a:cs typeface="Times New Roman"/>
              <a:sym typeface="Times New Roman"/>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442" name="Google Shape;442;p35"/>
          <p:cNvSpPr/>
          <p:nvPr/>
        </p:nvSpPr>
        <p:spPr>
          <a:xfrm>
            <a:off x="11477767" y="0"/>
            <a:ext cx="714233" cy="68580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443" name="Google Shape;443;p35"/>
          <p:cNvPicPr preferRelativeResize="0"/>
          <p:nvPr/>
        </p:nvPicPr>
        <p:blipFill rotWithShape="1">
          <a:blip r:embed="rId3">
            <a:alphaModFix/>
          </a:blip>
          <a:srcRect b="0" l="0" r="0" t="0"/>
          <a:stretch/>
        </p:blipFill>
        <p:spPr>
          <a:xfrm>
            <a:off x="163772" y="6209730"/>
            <a:ext cx="778199" cy="593679"/>
          </a:xfrm>
          <a:prstGeom prst="rect">
            <a:avLst/>
          </a:prstGeom>
          <a:noFill/>
          <a:ln cap="flat" cmpd="sng" w="9525">
            <a:solidFill>
              <a:srgbClr val="860000"/>
            </a:solidFill>
            <a:prstDash val="solid"/>
            <a:round/>
            <a:headEnd len="sm" w="sm" type="none"/>
            <a:tailEnd len="sm" w="sm" type="none"/>
          </a:ln>
        </p:spPr>
      </p:pic>
      <p:sp>
        <p:nvSpPr>
          <p:cNvPr id="444" name="Google Shape;444;p35"/>
          <p:cNvSpPr/>
          <p:nvPr/>
        </p:nvSpPr>
        <p:spPr>
          <a:xfrm>
            <a:off x="3346973" y="6209731"/>
            <a:ext cx="8144442" cy="648269"/>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5" name="Google Shape;445;p35"/>
          <p:cNvSpPr/>
          <p:nvPr/>
        </p:nvSpPr>
        <p:spPr>
          <a:xfrm>
            <a:off x="2646389" y="6209730"/>
            <a:ext cx="700584" cy="64827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6" name="Google Shape;446;p35"/>
          <p:cNvSpPr txBox="1"/>
          <p:nvPr/>
        </p:nvSpPr>
        <p:spPr>
          <a:xfrm>
            <a:off x="643804" y="3862145"/>
            <a:ext cx="8229600" cy="1939500"/>
          </a:xfrm>
          <a:prstGeom prst="rect">
            <a:avLst/>
          </a:prstGeom>
          <a:solidFill>
            <a:schemeClr val="lt2"/>
          </a:solid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3300"/>
              </a:buClr>
              <a:buSzPts val="1600"/>
              <a:buFont typeface="Times New Roman"/>
              <a:buNone/>
            </a:pPr>
            <a:r>
              <a:rPr b="1" i="0" lang="en-US" sz="1600" u="none" cap="none" strike="noStrike">
                <a:solidFill>
                  <a:srgbClr val="003300"/>
                </a:solidFill>
                <a:latin typeface="Times New Roman"/>
                <a:ea typeface="Times New Roman"/>
                <a:cs typeface="Times New Roman"/>
                <a:sym typeface="Times New Roman"/>
              </a:rPr>
              <a:t>&lt;form&gt;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1600"/>
              <a:buFont typeface="Times New Roman"/>
              <a:buNone/>
            </a:pPr>
            <a:r>
              <a:rPr b="1" i="0" lang="en-US" sz="1600" u="none" cap="none" strike="noStrike">
                <a:solidFill>
                  <a:srgbClr val="003300"/>
                </a:solidFill>
                <a:latin typeface="Times New Roman"/>
                <a:ea typeface="Times New Roman"/>
                <a:cs typeface="Times New Roman"/>
                <a:sym typeface="Times New Roman"/>
              </a:rPr>
              <a:t>	Rollno&lt;input type="text" name="rollno" size="20” maxsize=“10”/&gt;&lt;br/&gt;</a:t>
            </a:r>
            <a:endParaRPr b="1" i="0" sz="1600" u="none" cap="none" strike="noStrike">
              <a:solidFill>
                <a:srgbClr val="0033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3300"/>
              </a:buClr>
              <a:buSzPts val="1600"/>
              <a:buFont typeface="Times New Roman"/>
              <a:buNone/>
            </a:pPr>
            <a:r>
              <a:rPr b="1" i="0" lang="en-US" sz="1600" u="none" cap="none" strike="noStrike">
                <a:solidFill>
                  <a:srgbClr val="003300"/>
                </a:solidFill>
                <a:latin typeface="Times New Roman"/>
                <a:ea typeface="Times New Roman"/>
                <a:cs typeface="Times New Roman"/>
                <a:sym typeface="Times New Roman"/>
              </a:rPr>
              <a:t>	stuname&lt;input type="text" name="studentname" size="30“/&gt;&lt;br/&gt;</a:t>
            </a:r>
            <a:endParaRPr b="1" i="0" sz="1600" u="none" cap="none" strike="noStrike">
              <a:solidFill>
                <a:srgbClr val="0033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3300"/>
              </a:buClr>
              <a:buSzPts val="1600"/>
              <a:buFont typeface="Times New Roman"/>
              <a:buNone/>
            </a:pPr>
            <a:r>
              <a:rPr b="1" i="0" lang="en-US" sz="1600" u="none" cap="none" strike="noStrike">
                <a:solidFill>
                  <a:srgbClr val="003300"/>
                </a:solidFill>
                <a:latin typeface="Times New Roman"/>
                <a:ea typeface="Times New Roman"/>
                <a:cs typeface="Times New Roman"/>
                <a:sym typeface="Times New Roman"/>
              </a:rPr>
              <a:t>&lt;/form&gt;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p:txBody>
      </p:sp>
      <p:pic>
        <p:nvPicPr>
          <p:cNvPr id="447" name="Google Shape;447;p35"/>
          <p:cNvPicPr preferRelativeResize="0"/>
          <p:nvPr/>
        </p:nvPicPr>
        <p:blipFill rotWithShape="1">
          <a:blip r:embed="rId4">
            <a:alphaModFix/>
          </a:blip>
          <a:srcRect b="0" l="0" r="0" t="0"/>
          <a:stretch/>
        </p:blipFill>
        <p:spPr>
          <a:xfrm>
            <a:off x="6934200" y="2154616"/>
            <a:ext cx="4254500" cy="1541084"/>
          </a:xfrm>
          <a:prstGeom prst="rect">
            <a:avLst/>
          </a:prstGeom>
          <a:solidFill>
            <a:schemeClr val="lt2"/>
          </a:solid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500"/>
                                        <p:tgtEl>
                                          <p:spTgt spid="4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6"/>
          <p:cNvSpPr txBox="1"/>
          <p:nvPr/>
        </p:nvSpPr>
        <p:spPr>
          <a:xfrm>
            <a:off x="163771" y="204716"/>
            <a:ext cx="11778019"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a:ea typeface="Times"/>
                <a:cs typeface="Times"/>
                <a:sym typeface="Times"/>
              </a:rPr>
              <a:t>HTML Form Controls</a:t>
            </a:r>
            <a:endParaRPr b="1" i="0" sz="3600" u="none" cap="none" strike="noStrike">
              <a:solidFill>
                <a:srgbClr val="600000"/>
              </a:solidFill>
              <a:latin typeface="Times"/>
              <a:ea typeface="Times"/>
              <a:cs typeface="Times"/>
              <a:sym typeface="Times"/>
            </a:endParaRPr>
          </a:p>
        </p:txBody>
      </p:sp>
      <p:sp>
        <p:nvSpPr>
          <p:cNvPr id="453" name="Google Shape;453;p36"/>
          <p:cNvSpPr txBox="1"/>
          <p:nvPr/>
        </p:nvSpPr>
        <p:spPr>
          <a:xfrm>
            <a:off x="163772" y="979096"/>
            <a:ext cx="11764371" cy="5225185"/>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Clr>
                <a:srgbClr val="600000"/>
              </a:buClr>
              <a:buSzPts val="4000"/>
              <a:buFont typeface="Times New Roman"/>
              <a:buNone/>
            </a:pPr>
            <a:r>
              <a:rPr b="1" i="0" lang="en-US" sz="4000" u="none" cap="none" strike="noStrike">
                <a:solidFill>
                  <a:srgbClr val="600000"/>
                </a:solidFill>
                <a:latin typeface="Times New Roman"/>
                <a:ea typeface="Times New Roman"/>
                <a:cs typeface="Times New Roman"/>
                <a:sym typeface="Times New Roman"/>
              </a:rPr>
              <a:t>Checkbox</a:t>
            </a:r>
            <a:endParaRPr b="1" i="0" sz="4000" u="none" cap="none" strike="noStrike">
              <a:solidFill>
                <a:srgbClr val="6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3300"/>
              </a:buClr>
              <a:buSzPts val="2400"/>
              <a:buFont typeface="Times New Roman"/>
              <a:buNone/>
            </a:pPr>
            <a:r>
              <a:rPr b="0" i="0" lang="en-US" sz="2400" u="none" cap="none" strike="noStrike">
                <a:solidFill>
                  <a:srgbClr val="003300"/>
                </a:solidFill>
                <a:latin typeface="Times New Roman"/>
                <a:ea typeface="Times New Roman"/>
                <a:cs typeface="Times New Roman"/>
                <a:sym typeface="Times New Roman"/>
              </a:rPr>
              <a:t>&lt;form&gt;</a:t>
            </a:r>
            <a:br>
              <a:rPr b="0" i="0" lang="en-US" sz="2400" u="none" cap="none" strike="noStrike">
                <a:solidFill>
                  <a:srgbClr val="003300"/>
                </a:solidFill>
                <a:latin typeface="Times New Roman"/>
                <a:ea typeface="Times New Roman"/>
                <a:cs typeface="Times New Roman"/>
                <a:sym typeface="Times New Roman"/>
              </a:rPr>
            </a:br>
            <a:r>
              <a:rPr b="0" i="0" lang="en-US" sz="2400" u="none" cap="none" strike="noStrike">
                <a:solidFill>
                  <a:srgbClr val="003300"/>
                </a:solidFill>
                <a:latin typeface="Times New Roman"/>
                <a:ea typeface="Times New Roman"/>
                <a:cs typeface="Times New Roman"/>
                <a:sym typeface="Times New Roman"/>
              </a:rPr>
              <a:t>	&lt;input type=“checkbox” name=“branch” value=“cse” checked=“checked”/&gt;CSE&lt;br/&gt;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400"/>
              <a:buFont typeface="Times New Roman"/>
              <a:buNone/>
            </a:pPr>
            <a:r>
              <a:rPr b="0" i="0" lang="en-US" sz="2400" u="none" cap="none" strike="noStrike">
                <a:solidFill>
                  <a:srgbClr val="003300"/>
                </a:solidFill>
                <a:latin typeface="Times New Roman"/>
                <a:ea typeface="Times New Roman"/>
                <a:cs typeface="Times New Roman"/>
                <a:sym typeface="Times New Roman"/>
              </a:rPr>
              <a:t>	&lt;input type=“checkbox” name=“branch” value=“it”/&gt;IT&lt;br/&gt;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400"/>
              <a:buFont typeface="Times New Roman"/>
              <a:buNone/>
            </a:pPr>
            <a:r>
              <a:rPr b="0" i="0" lang="en-US" sz="2400" u="none" cap="none" strike="noStrike">
                <a:solidFill>
                  <a:srgbClr val="003300"/>
                </a:solidFill>
                <a:latin typeface="Times New Roman"/>
                <a:ea typeface="Times New Roman"/>
                <a:cs typeface="Times New Roman"/>
                <a:sym typeface="Times New Roman"/>
              </a:rPr>
              <a:t>&lt;/form&gt; </a:t>
            </a:r>
            <a:endParaRPr b="0" i="0" sz="2400" u="none" cap="none" strike="noStrike">
              <a:solidFill>
                <a:srgbClr val="0033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0000"/>
              </a:buClr>
              <a:buSzPts val="4000"/>
              <a:buFont typeface="Arial"/>
              <a:buNone/>
            </a:pPr>
            <a:r>
              <a:rPr b="1" i="0" lang="en-US" sz="4000" u="none" cap="none" strike="noStrike">
                <a:solidFill>
                  <a:srgbClr val="600000"/>
                </a:solidFill>
                <a:latin typeface="Times New Roman"/>
                <a:ea typeface="Times New Roman"/>
                <a:cs typeface="Times New Roman"/>
                <a:sym typeface="Times New Roman"/>
              </a:rPr>
              <a:t>Radio buttons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400"/>
              <a:buFont typeface="Arial"/>
              <a:buNone/>
            </a:pPr>
            <a:r>
              <a:rPr b="0" i="0" lang="en-US" sz="2400" u="none" cap="none" strike="noStrike">
                <a:solidFill>
                  <a:srgbClr val="003300"/>
                </a:solidFill>
                <a:latin typeface="Times New Roman"/>
                <a:ea typeface="Times New Roman"/>
                <a:cs typeface="Times New Roman"/>
                <a:sym typeface="Times New Roman"/>
              </a:rPr>
              <a:t>&lt;input type="radio" name="radiobutton" value="1“/&gt;male&lt;br/&gt;</a:t>
            </a:r>
            <a:br>
              <a:rPr b="0" i="0" lang="en-US" sz="2400" u="none" cap="none" strike="noStrike">
                <a:solidFill>
                  <a:srgbClr val="003300"/>
                </a:solidFill>
                <a:latin typeface="Times New Roman"/>
                <a:ea typeface="Times New Roman"/>
                <a:cs typeface="Times New Roman"/>
                <a:sym typeface="Times New Roman"/>
              </a:rPr>
            </a:br>
            <a:r>
              <a:rPr b="0" i="0" lang="en-US" sz="2400" u="none" cap="none" strike="noStrike">
                <a:solidFill>
                  <a:srgbClr val="003300"/>
                </a:solidFill>
                <a:latin typeface="Times New Roman"/>
                <a:ea typeface="Times New Roman"/>
                <a:cs typeface="Times New Roman"/>
                <a:sym typeface="Times New Roman"/>
              </a:rPr>
              <a:t>&lt;input type="radio" name="radiobutton" value=“2”checked=“checked”/&gt; female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t/>
            </a:r>
            <a:endParaRPr b="1" i="0" sz="4000" u="none" cap="none" strike="noStrike">
              <a:solidFill>
                <a:srgbClr val="6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Times New Roman"/>
              <a:ea typeface="Times New Roman"/>
              <a:cs typeface="Times New Roman"/>
              <a:sym typeface="Times New Roman"/>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454" name="Google Shape;454;p36"/>
          <p:cNvPicPr preferRelativeResize="0"/>
          <p:nvPr/>
        </p:nvPicPr>
        <p:blipFill rotWithShape="1">
          <a:blip r:embed="rId3">
            <a:alphaModFix/>
          </a:blip>
          <a:srcRect b="0" l="0" r="0" t="0"/>
          <a:stretch/>
        </p:blipFill>
        <p:spPr>
          <a:xfrm>
            <a:off x="11305780" y="6242918"/>
            <a:ext cx="622363" cy="615082"/>
          </a:xfrm>
          <a:prstGeom prst="rect">
            <a:avLst/>
          </a:prstGeom>
          <a:noFill/>
          <a:ln cap="flat" cmpd="sng" w="9525">
            <a:solidFill>
              <a:srgbClr val="860000"/>
            </a:solidFill>
            <a:prstDash val="solid"/>
            <a:round/>
            <a:headEnd len="sm" w="sm" type="none"/>
            <a:tailEnd len="sm" w="sm" type="none"/>
          </a:ln>
        </p:spPr>
      </p:pic>
      <p:sp>
        <p:nvSpPr>
          <p:cNvPr id="455" name="Google Shape;455;p36"/>
          <p:cNvSpPr/>
          <p:nvPr/>
        </p:nvSpPr>
        <p:spPr>
          <a:xfrm>
            <a:off x="0" y="6553209"/>
            <a:ext cx="11305780" cy="304791"/>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6" name="Google Shape;456;p36"/>
          <p:cNvSpPr/>
          <p:nvPr/>
        </p:nvSpPr>
        <p:spPr>
          <a:xfrm>
            <a:off x="1" y="6336406"/>
            <a:ext cx="10683416" cy="216803"/>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57" name="Google Shape;457;p36"/>
          <p:cNvPicPr preferRelativeResize="0"/>
          <p:nvPr/>
        </p:nvPicPr>
        <p:blipFill rotWithShape="1">
          <a:blip r:embed="rId4">
            <a:alphaModFix/>
          </a:blip>
          <a:srcRect b="0" l="0" r="0" t="0"/>
          <a:stretch/>
        </p:blipFill>
        <p:spPr>
          <a:xfrm>
            <a:off x="9364718" y="1596500"/>
            <a:ext cx="1734206" cy="774700"/>
          </a:xfrm>
          <a:prstGeom prst="rect">
            <a:avLst/>
          </a:prstGeom>
          <a:noFill/>
          <a:ln>
            <a:noFill/>
          </a:ln>
        </p:spPr>
      </p:pic>
      <p:pic>
        <p:nvPicPr>
          <p:cNvPr id="458" name="Google Shape;458;p36"/>
          <p:cNvPicPr preferRelativeResize="0"/>
          <p:nvPr/>
        </p:nvPicPr>
        <p:blipFill rotWithShape="1">
          <a:blip r:embed="rId5">
            <a:alphaModFix/>
          </a:blip>
          <a:srcRect b="0" l="0" r="0" t="0"/>
          <a:stretch/>
        </p:blipFill>
        <p:spPr>
          <a:xfrm>
            <a:off x="9982200" y="4553720"/>
            <a:ext cx="1634761" cy="1206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500"/>
                                        <p:tgtEl>
                                          <p:spTgt spid="4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500"/>
                                        <p:tgtEl>
                                          <p:spTgt spid="4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37"/>
          <p:cNvSpPr txBox="1"/>
          <p:nvPr/>
        </p:nvSpPr>
        <p:spPr>
          <a:xfrm>
            <a:off x="68236" y="43974"/>
            <a:ext cx="11123505"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a:ea typeface="Times"/>
                <a:cs typeface="Times"/>
                <a:sym typeface="Times"/>
              </a:rPr>
              <a:t>HTML Form Controls-Buttons</a:t>
            </a:r>
            <a:endParaRPr b="1" i="0" sz="3600" u="none" cap="none" strike="noStrike">
              <a:solidFill>
                <a:srgbClr val="600000"/>
              </a:solidFill>
              <a:latin typeface="Times"/>
              <a:ea typeface="Times"/>
              <a:cs typeface="Times"/>
              <a:sym typeface="Times"/>
            </a:endParaRPr>
          </a:p>
        </p:txBody>
      </p:sp>
      <p:sp>
        <p:nvSpPr>
          <p:cNvPr id="464" name="Google Shape;464;p37"/>
          <p:cNvSpPr txBox="1"/>
          <p:nvPr/>
        </p:nvSpPr>
        <p:spPr>
          <a:xfrm>
            <a:off x="68236" y="735169"/>
            <a:ext cx="12012000" cy="5466600"/>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200000"/>
              </a:lnSpc>
              <a:spcBef>
                <a:spcPts val="0"/>
              </a:spcBef>
              <a:spcAft>
                <a:spcPts val="0"/>
              </a:spcAft>
              <a:buClr>
                <a:srgbClr val="000000"/>
              </a:buClr>
              <a:buSzPts val="2800"/>
              <a:buFont typeface="Arial"/>
              <a:buNone/>
            </a:pPr>
            <a:r>
              <a:rPr b="1" i="0" lang="en-US" sz="2800" u="none" cap="none" strike="noStrike">
                <a:solidFill>
                  <a:srgbClr val="600000"/>
                </a:solidFill>
                <a:latin typeface="Times New Roman"/>
                <a:ea typeface="Times New Roman"/>
                <a:cs typeface="Times New Roman"/>
                <a:sym typeface="Times New Roman"/>
              </a:rPr>
              <a:t>A submit button:</a:t>
            </a:r>
            <a:br>
              <a:rPr b="0" i="0" lang="en-US" sz="2800" u="none" cap="none" strike="noStrike">
                <a:solidFill>
                  <a:srgbClr val="003300"/>
                </a:solidFill>
                <a:latin typeface="Times New Roman"/>
                <a:ea typeface="Times New Roman"/>
                <a:cs typeface="Times New Roman"/>
                <a:sym typeface="Times New Roman"/>
              </a:rPr>
            </a:br>
            <a:r>
              <a:rPr b="0" i="0" lang="en-US" sz="2800" u="none" cap="none" strike="noStrike">
                <a:solidFill>
                  <a:srgbClr val="003300"/>
                </a:solidFill>
                <a:latin typeface="Times New Roman"/>
                <a:ea typeface="Times New Roman"/>
                <a:cs typeface="Times New Roman"/>
                <a:sym typeface="Times New Roman"/>
              </a:rPr>
              <a:t>&lt;input type="submit" name="Submit" value="Submit"&gt;</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2800"/>
              <a:buFont typeface="Arial"/>
              <a:buNone/>
            </a:pPr>
            <a:r>
              <a:rPr b="1" i="0" lang="en-US" sz="2800" u="none" cap="none" strike="noStrike">
                <a:solidFill>
                  <a:srgbClr val="600000"/>
                </a:solidFill>
                <a:latin typeface="Times New Roman"/>
                <a:ea typeface="Times New Roman"/>
                <a:cs typeface="Times New Roman"/>
                <a:sym typeface="Times New Roman"/>
              </a:rPr>
              <a:t>A reset button:</a:t>
            </a:r>
            <a:br>
              <a:rPr b="0" i="0" lang="en-US" sz="2800" u="none" cap="none" strike="noStrike">
                <a:solidFill>
                  <a:srgbClr val="003300"/>
                </a:solidFill>
                <a:latin typeface="Times New Roman"/>
                <a:ea typeface="Times New Roman"/>
                <a:cs typeface="Times New Roman"/>
                <a:sym typeface="Times New Roman"/>
              </a:rPr>
            </a:br>
            <a:r>
              <a:rPr b="0" i="0" lang="en-US" sz="2800" u="none" cap="none" strike="noStrike">
                <a:solidFill>
                  <a:srgbClr val="003300"/>
                </a:solidFill>
                <a:latin typeface="Times New Roman"/>
                <a:ea typeface="Times New Roman"/>
                <a:cs typeface="Times New Roman"/>
                <a:sym typeface="Times New Roman"/>
              </a:rPr>
              <a:t>&lt;input type="reset" name="Submit2" value="Reset"&gt;</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2800"/>
              <a:buFont typeface="Arial"/>
              <a:buNone/>
            </a:pPr>
            <a:r>
              <a:rPr b="1" i="0" lang="en-US" sz="2800" u="none" cap="none" strike="noStrike">
                <a:solidFill>
                  <a:srgbClr val="600000"/>
                </a:solidFill>
                <a:latin typeface="Times New Roman"/>
                <a:ea typeface="Times New Roman"/>
                <a:cs typeface="Times New Roman"/>
                <a:sym typeface="Times New Roman"/>
              </a:rPr>
              <a:t>A plain button:</a:t>
            </a:r>
            <a:br>
              <a:rPr b="0" i="0" lang="en-US" sz="2800" u="none" cap="none" strike="noStrike">
                <a:solidFill>
                  <a:srgbClr val="003300"/>
                </a:solidFill>
                <a:latin typeface="Times New Roman"/>
                <a:ea typeface="Times New Roman"/>
                <a:cs typeface="Times New Roman"/>
                <a:sym typeface="Times New Roman"/>
              </a:rPr>
            </a:br>
            <a:r>
              <a:rPr b="0" i="0" lang="en-US" sz="2800" u="none" cap="none" strike="noStrike">
                <a:solidFill>
                  <a:srgbClr val="003300"/>
                </a:solidFill>
                <a:latin typeface="Times New Roman"/>
                <a:ea typeface="Times New Roman"/>
                <a:cs typeface="Times New Roman"/>
                <a:sym typeface="Times New Roman"/>
              </a:rPr>
              <a:t>&lt;input type="button" name="Submit3" value="Push Me"&gt; </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465" name="Google Shape;465;p37"/>
          <p:cNvPicPr preferRelativeResize="0"/>
          <p:nvPr/>
        </p:nvPicPr>
        <p:blipFill rotWithShape="1">
          <a:blip r:embed="rId3">
            <a:alphaModFix/>
          </a:blip>
          <a:srcRect b="0" l="0" r="0" t="0"/>
          <a:stretch/>
        </p:blipFill>
        <p:spPr>
          <a:xfrm>
            <a:off x="11333408" y="68781"/>
            <a:ext cx="746975" cy="660699"/>
          </a:xfrm>
          <a:prstGeom prst="rect">
            <a:avLst/>
          </a:prstGeom>
          <a:noFill/>
          <a:ln cap="flat" cmpd="sng" w="9525">
            <a:solidFill>
              <a:srgbClr val="860000"/>
            </a:solidFill>
            <a:prstDash val="solid"/>
            <a:round/>
            <a:headEnd len="sm" w="sm" type="none"/>
            <a:tailEnd len="sm" w="sm" type="none"/>
          </a:ln>
        </p:spPr>
      </p:pic>
      <p:sp>
        <p:nvSpPr>
          <p:cNvPr id="466" name="Google Shape;466;p37"/>
          <p:cNvSpPr/>
          <p:nvPr/>
        </p:nvSpPr>
        <p:spPr>
          <a:xfrm>
            <a:off x="0" y="6488373"/>
            <a:ext cx="12192000" cy="2934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7" name="Google Shape;467;p37"/>
          <p:cNvSpPr/>
          <p:nvPr/>
        </p:nvSpPr>
        <p:spPr>
          <a:xfrm>
            <a:off x="1" y="6283659"/>
            <a:ext cx="10276800" cy="19320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68" name="Google Shape;468;p37"/>
          <p:cNvPicPr preferRelativeResize="0"/>
          <p:nvPr/>
        </p:nvPicPr>
        <p:blipFill rotWithShape="1">
          <a:blip r:embed="rId4">
            <a:alphaModFix/>
          </a:blip>
          <a:srcRect b="0" l="0" r="0" t="0"/>
          <a:stretch/>
        </p:blipFill>
        <p:spPr>
          <a:xfrm>
            <a:off x="8293100" y="2185769"/>
            <a:ext cx="3621708" cy="2286000"/>
          </a:xfrm>
          <a:prstGeom prst="rect">
            <a:avLst/>
          </a:prstGeom>
          <a:solidFill>
            <a:srgbClr val="1A8A6B"/>
          </a:solidFill>
          <a:ln cap="flat" cmpd="sng" w="9525">
            <a:solidFill>
              <a:srgbClr val="002060"/>
            </a:solidFill>
            <a:prstDash val="solid"/>
            <a:miter lim="8000"/>
            <a:headEnd len="sm" w="sm" type="none"/>
            <a:tailEnd len="sm" w="sm" type="none"/>
          </a:ln>
          <a:effectLst>
            <a:outerShdw blurRad="50800" rotWithShape="0" algn="ctr" dir="5400000" dist="50800">
              <a:srgbClr val="F9D7A2"/>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500"/>
                                        <p:tgtEl>
                                          <p:spTgt spid="4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8"/>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a:buNone/>
            </a:pPr>
            <a:r>
              <a:rPr b="1" lang="en-US" sz="3600">
                <a:solidFill>
                  <a:srgbClr val="600000"/>
                </a:solidFill>
                <a:latin typeface="Times"/>
                <a:ea typeface="Times"/>
                <a:cs typeface="Times"/>
                <a:sym typeface="Times"/>
              </a:rPr>
              <a:t>HTML Form Controls- Textarea</a:t>
            </a:r>
            <a:endParaRPr b="1" sz="3600">
              <a:solidFill>
                <a:srgbClr val="600000"/>
              </a:solidFill>
              <a:latin typeface="Times"/>
              <a:ea typeface="Times"/>
              <a:cs typeface="Times"/>
              <a:sym typeface="Times"/>
            </a:endParaRPr>
          </a:p>
        </p:txBody>
      </p:sp>
      <p:pic>
        <p:nvPicPr>
          <p:cNvPr descr="C:\Users\GANGA\Desktop\download.jpg" id="474" name="Google Shape;474;p38"/>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475" name="Google Shape;475;p38"/>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6" name="Google Shape;476;p38"/>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7" name="Google Shape;477;p38"/>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600000"/>
              </a:buClr>
              <a:buSzPts val="2800"/>
              <a:buFont typeface="Times"/>
              <a:buNone/>
            </a:pPr>
            <a:r>
              <a:rPr b="1" i="0" lang="en-US" sz="2800" u="none" cap="none" strike="noStrike">
                <a:solidFill>
                  <a:srgbClr val="600000"/>
                </a:solidFill>
                <a:latin typeface="Times"/>
                <a:ea typeface="Times"/>
                <a:cs typeface="Times"/>
                <a:sym typeface="Times"/>
              </a:rPr>
              <a:t>Textarea:</a:t>
            </a:r>
            <a:r>
              <a:rPr b="0" i="0" lang="en-US" sz="2800" u="none" cap="none" strike="noStrike">
                <a:solidFill>
                  <a:srgbClr val="600000"/>
                </a:solidFill>
                <a:latin typeface="Times"/>
                <a:ea typeface="Times"/>
                <a:cs typeface="Times"/>
                <a:sym typeface="Times"/>
              </a:rPr>
              <a:t> </a:t>
            </a:r>
            <a:r>
              <a:rPr b="0" i="0" lang="en-US" sz="2800" u="none" cap="none" strike="noStrike">
                <a:solidFill>
                  <a:srgbClr val="003300"/>
                </a:solidFill>
                <a:latin typeface="Times"/>
                <a:ea typeface="Times"/>
                <a:cs typeface="Times"/>
                <a:sym typeface="Times"/>
              </a:rPr>
              <a:t>To insert a text area we use the tag </a:t>
            </a:r>
            <a:r>
              <a:rPr b="1" i="0" lang="en-US" sz="2800" u="none" cap="none" strike="noStrike">
                <a:solidFill>
                  <a:srgbClr val="600000"/>
                </a:solidFill>
                <a:latin typeface="Times"/>
                <a:ea typeface="Times"/>
                <a:cs typeface="Times"/>
                <a:sym typeface="Times"/>
              </a:rPr>
              <a:t>&lt;textarea&gt;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800"/>
              <a:buFont typeface="Times"/>
              <a:buNone/>
            </a:pPr>
            <a:r>
              <a:rPr b="0" i="0" lang="en-US" sz="2800" u="none" cap="none" strike="noStrike">
                <a:solidFill>
                  <a:schemeClr val="dk1"/>
                </a:solidFill>
                <a:latin typeface="Times"/>
                <a:ea typeface="Times"/>
                <a:cs typeface="Times"/>
                <a:sym typeface="Time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00000"/>
              </a:buClr>
              <a:buSzPts val="2800"/>
              <a:buFont typeface="Times"/>
              <a:buNone/>
            </a:pPr>
            <a:r>
              <a:rPr b="1" i="0" lang="en-US" sz="2800" u="none" cap="none" strike="noStrike">
                <a:solidFill>
                  <a:srgbClr val="600000"/>
                </a:solidFill>
                <a:latin typeface="Times"/>
                <a:ea typeface="Times"/>
                <a:cs typeface="Times"/>
                <a:sym typeface="Times"/>
              </a:rPr>
              <a:t>Syntax: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2800"/>
              <a:buFont typeface="Times"/>
              <a:buNone/>
            </a:pPr>
            <a:r>
              <a:rPr b="0" i="0" lang="en-US" sz="2800" u="none" cap="none" strike="noStrike">
                <a:solidFill>
                  <a:srgbClr val="003300"/>
                </a:solidFill>
                <a:latin typeface="Times"/>
                <a:ea typeface="Times"/>
                <a:cs typeface="Times"/>
                <a:sym typeface="Times"/>
              </a:rPr>
              <a:t>   &lt;textarea name=“string” rows=“n”  cols=“n” &gt;  … &lt;/textarea&gt;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478" name="Google Shape;478;p38"/>
          <p:cNvSpPr txBox="1"/>
          <p:nvPr/>
        </p:nvSpPr>
        <p:spPr>
          <a:xfrm>
            <a:off x="1854200" y="2908300"/>
            <a:ext cx="9740900" cy="286232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3300"/>
              </a:buClr>
              <a:buSzPts val="2000"/>
              <a:buFont typeface="Times"/>
              <a:buNone/>
            </a:pPr>
            <a:r>
              <a:rPr b="1" i="0" lang="en-US" sz="2000" u="none" cap="none" strike="noStrike">
                <a:solidFill>
                  <a:srgbClr val="003300"/>
                </a:solidFill>
                <a:latin typeface="Times"/>
                <a:ea typeface="Times"/>
                <a:cs typeface="Times"/>
                <a:sym typeface="Times"/>
              </a:rPr>
              <a:t>&lt;form&gt;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000"/>
              <a:buFont typeface="Times"/>
              <a:buNone/>
            </a:pPr>
            <a:r>
              <a:rPr b="1" i="0" lang="en-US" sz="2000" u="none" cap="none" strike="noStrike">
                <a:solidFill>
                  <a:srgbClr val="003300"/>
                </a:solidFill>
                <a:latin typeface="Times"/>
                <a:ea typeface="Times"/>
                <a:cs typeface="Times"/>
                <a:sym typeface="Times"/>
              </a:rPr>
              <a:t>	&lt;center&gt;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000"/>
              <a:buFont typeface="Times"/>
              <a:buNone/>
            </a:pPr>
            <a:r>
              <a:rPr b="1" i="0" lang="en-US" sz="2000" u="none" cap="none" strike="noStrike">
                <a:solidFill>
                  <a:srgbClr val="003300"/>
                </a:solidFill>
                <a:latin typeface="Times"/>
                <a:ea typeface="Times"/>
                <a:cs typeface="Times"/>
                <a:sym typeface="Times"/>
              </a:rPr>
              <a:t>		&lt;h1&gt;using text area&lt;/h1&gt;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000"/>
              <a:buFont typeface="Times"/>
              <a:buNone/>
            </a:pPr>
            <a:r>
              <a:rPr b="1" i="0" lang="en-US" sz="2000" u="none" cap="none" strike="noStrike">
                <a:solidFill>
                  <a:srgbClr val="003300"/>
                </a:solidFill>
                <a:latin typeface="Times"/>
                <a:ea typeface="Times"/>
                <a:cs typeface="Times"/>
                <a:sym typeface="Times"/>
              </a:rPr>
              <a:t>		&lt;textarea name="textarea" rows="2" cols="24"&gt;hello&lt;/textarea&gt;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000"/>
              <a:buFont typeface="Times"/>
              <a:buNone/>
            </a:pPr>
            <a:r>
              <a:rPr b="1" i="0" lang="en-US" sz="2000" u="none" cap="none" strike="noStrike">
                <a:solidFill>
                  <a:srgbClr val="003300"/>
                </a:solidFill>
                <a:latin typeface="Times"/>
                <a:ea typeface="Times"/>
                <a:cs typeface="Times"/>
                <a:sym typeface="Times"/>
              </a:rPr>
              <a:t>	&lt;/center&gt;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000"/>
              <a:buFont typeface="Times"/>
              <a:buNone/>
            </a:pPr>
            <a:r>
              <a:rPr b="1" i="0" lang="en-US" sz="2000" u="none" cap="none" strike="noStrike">
                <a:solidFill>
                  <a:srgbClr val="003300"/>
                </a:solidFill>
                <a:latin typeface="Times"/>
                <a:ea typeface="Times"/>
                <a:cs typeface="Times"/>
                <a:sym typeface="Times"/>
              </a:rPr>
              <a:t>&lt;/form&gt;</a:t>
            </a:r>
            <a:endParaRPr b="0" i="0" sz="1400" u="none" cap="none" strike="noStrike">
              <a:solidFill>
                <a:srgbClr val="000000"/>
              </a:solidFill>
              <a:latin typeface="Arial"/>
              <a:ea typeface="Arial"/>
              <a:cs typeface="Arial"/>
              <a:sym typeface="Arial"/>
            </a:endParaRPr>
          </a:p>
        </p:txBody>
      </p:sp>
      <p:pic>
        <p:nvPicPr>
          <p:cNvPr id="479" name="Google Shape;479;p38"/>
          <p:cNvPicPr preferRelativeResize="0"/>
          <p:nvPr/>
        </p:nvPicPr>
        <p:blipFill rotWithShape="1">
          <a:blip r:embed="rId4">
            <a:alphaModFix/>
          </a:blip>
          <a:srcRect b="0" l="0" r="0" t="0"/>
          <a:stretch/>
        </p:blipFill>
        <p:spPr>
          <a:xfrm>
            <a:off x="8204200" y="2691636"/>
            <a:ext cx="3105150" cy="1647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500"/>
                                        <p:tgtEl>
                                          <p:spTgt spid="4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gtEl>
                                        <p:attrNameLst>
                                          <p:attrName>style.visibility</p:attrName>
                                        </p:attrNameLst>
                                      </p:cBhvr>
                                      <p:to>
                                        <p:strVal val="visible"/>
                                      </p:to>
                                    </p:set>
                                    <p:animEffect filter="fade" transition="in">
                                      <p:cBhvr>
                                        <p:cTn dur="500"/>
                                        <p:tgtEl>
                                          <p:spTgt spid="4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9"/>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b="1" lang="en-US" sz="3600">
                <a:solidFill>
                  <a:srgbClr val="600000"/>
                </a:solidFill>
                <a:latin typeface="Times New Roman"/>
                <a:ea typeface="Times New Roman"/>
                <a:cs typeface="Times New Roman"/>
                <a:sym typeface="Times New Roman"/>
              </a:rPr>
              <a:t>HTML Form Controls- Drop Down List</a:t>
            </a:r>
            <a:endParaRPr b="1" sz="3600">
              <a:solidFill>
                <a:srgbClr val="600000"/>
              </a:solidFill>
              <a:latin typeface="Times New Roman"/>
              <a:ea typeface="Times New Roman"/>
              <a:cs typeface="Times New Roman"/>
              <a:sym typeface="Times New Roman"/>
            </a:endParaRPr>
          </a:p>
        </p:txBody>
      </p:sp>
      <p:pic>
        <p:nvPicPr>
          <p:cNvPr descr="C:\Users\GANGA\Desktop\download.jpg" id="485" name="Google Shape;485;p39"/>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486" name="Google Shape;486;p39"/>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7" name="Google Shape;487;p39"/>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88" name="Google Shape;488;p39"/>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92500" lnSpcReduction="10000"/>
          </a:bodyPr>
          <a:lstStyle/>
          <a:p>
            <a:pPr indent="0" lvl="0" marL="0" marR="0" rtl="0" algn="l">
              <a:lnSpc>
                <a:spcPct val="100000"/>
              </a:lnSpc>
              <a:spcBef>
                <a:spcPts val="0"/>
              </a:spcBef>
              <a:spcAft>
                <a:spcPts val="0"/>
              </a:spcAft>
              <a:buClr>
                <a:srgbClr val="600000"/>
              </a:buClr>
              <a:buSzPct val="100000"/>
              <a:buFont typeface="Times New Roman"/>
              <a:buNone/>
            </a:pPr>
            <a:r>
              <a:rPr b="1" i="1" lang="en-US" sz="3600" u="none" cap="none" strike="noStrike">
                <a:solidFill>
                  <a:srgbClr val="600000"/>
                </a:solidFill>
                <a:latin typeface="Times New Roman"/>
                <a:ea typeface="Times New Roman"/>
                <a:cs typeface="Times New Roman"/>
                <a:sym typeface="Times New Roman"/>
              </a:rPr>
              <a:t>&lt;Select&gt; </a:t>
            </a:r>
            <a:r>
              <a:rPr b="1" i="0" lang="en-US" sz="2800" u="none" cap="none" strike="noStrike">
                <a:solidFill>
                  <a:schemeClr val="dk1"/>
                </a:solidFill>
                <a:latin typeface="Times New Roman"/>
                <a:ea typeface="Times New Roman"/>
                <a:cs typeface="Times New Roman"/>
                <a:sym typeface="Times New Roman"/>
              </a:rPr>
              <a:t>:</a:t>
            </a:r>
            <a:r>
              <a:rPr b="0" i="0" lang="en-US" sz="2800" u="none" cap="none" strike="noStrike">
                <a:solidFill>
                  <a:schemeClr val="dk1"/>
                </a:solidFill>
                <a:latin typeface="Times New Roman"/>
                <a:ea typeface="Times New Roman"/>
                <a:cs typeface="Times New Roman"/>
                <a:sym typeface="Times New Roman"/>
              </a:rPr>
              <a:t> </a:t>
            </a:r>
            <a:r>
              <a:rPr b="0" i="0" lang="en-US" sz="2800" u="none" cap="none" strike="noStrike">
                <a:solidFill>
                  <a:srgbClr val="003300"/>
                </a:solidFill>
                <a:latin typeface="Times New Roman"/>
                <a:ea typeface="Times New Roman"/>
                <a:cs typeface="Times New Roman"/>
                <a:sym typeface="Times New Roman"/>
              </a:rPr>
              <a:t>To create a drop down list we use</a:t>
            </a:r>
            <a:r>
              <a:rPr b="0" i="0" lang="en-US" sz="2800" u="none" cap="none" strike="noStrike">
                <a:solidFill>
                  <a:schemeClr val="dk1"/>
                </a:solidFill>
                <a:latin typeface="Times New Roman"/>
                <a:ea typeface="Times New Roman"/>
                <a:cs typeface="Times New Roman"/>
                <a:sym typeface="Times New Roman"/>
              </a:rPr>
              <a:t> </a:t>
            </a:r>
            <a:r>
              <a:rPr b="1" i="0" lang="en-US" sz="2800" u="none" cap="none" strike="noStrike">
                <a:solidFill>
                  <a:srgbClr val="600000"/>
                </a:solidFill>
                <a:latin typeface="Times New Roman"/>
                <a:ea typeface="Times New Roman"/>
                <a:cs typeface="Times New Roman"/>
                <a:sym typeface="Times New Roman"/>
              </a:rPr>
              <a:t>&lt;select&gt; </a:t>
            </a:r>
            <a:r>
              <a:rPr b="0" i="0" lang="en-US" sz="2800" u="none" cap="none" strike="noStrike">
                <a:solidFill>
                  <a:srgbClr val="003300"/>
                </a:solidFill>
                <a:latin typeface="Times New Roman"/>
                <a:ea typeface="Times New Roman"/>
                <a:cs typeface="Times New Roman"/>
                <a:sym typeface="Times New Roman"/>
              </a:rPr>
              <a:t>tag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ct val="100000"/>
              <a:buFont typeface="Times New Roman"/>
              <a:buNone/>
            </a:pPr>
            <a:r>
              <a:rPr b="0" i="0" lang="en-US" sz="2800" u="none" cap="none" strike="noStrike">
                <a:solidFill>
                  <a:schemeClr val="dk1"/>
                </a:solidFill>
                <a:latin typeface="Times New Roman"/>
                <a:ea typeface="Times New Roman"/>
                <a:cs typeface="Times New Roman"/>
                <a:sym typeface="Times New Roman"/>
              </a:rPr>
              <a:t>    </a:t>
            </a:r>
            <a:r>
              <a:rPr b="1" i="0" lang="en-US" sz="2800" u="sng" cap="none" strike="noStrike">
                <a:solidFill>
                  <a:srgbClr val="600000"/>
                </a:solidFill>
                <a:latin typeface="Times New Roman"/>
                <a:ea typeface="Times New Roman"/>
                <a:cs typeface="Times New Roman"/>
                <a:sym typeface="Times New Roman"/>
              </a:rPr>
              <a:t>Syntax: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Times New Roman"/>
              <a:buNone/>
            </a:pPr>
            <a:r>
              <a:rPr b="0" i="0" lang="en-US" sz="2800" u="none" cap="none" strike="noStrike">
                <a:solidFill>
                  <a:schemeClr val="dk1"/>
                </a:solidFill>
                <a:latin typeface="Times New Roman"/>
                <a:ea typeface="Times New Roman"/>
                <a:cs typeface="Times New Roman"/>
                <a:sym typeface="Times New Roman"/>
              </a:rPr>
              <a:t>         		</a:t>
            </a:r>
            <a:r>
              <a:rPr b="1" i="0" lang="en-US" sz="2800" u="none" cap="none" strike="noStrike">
                <a:solidFill>
                  <a:srgbClr val="600000"/>
                </a:solidFill>
                <a:latin typeface="Times New Roman"/>
                <a:ea typeface="Times New Roman"/>
                <a:cs typeface="Times New Roman"/>
                <a:sym typeface="Times New Roman"/>
              </a:rPr>
              <a:t>&lt;select name=“string” &gt;    ……  &lt;/select&gt;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chemeClr val="dk1"/>
                </a:solidFill>
                <a:latin typeface="Times New Roman"/>
                <a:ea typeface="Times New Roman"/>
                <a:cs typeface="Times New Roman"/>
                <a:sym typeface="Times New Roman"/>
              </a:rPr>
              <a:t> </a:t>
            </a:r>
            <a:r>
              <a:rPr b="1" i="1" lang="en-US" sz="3600" u="none" cap="none" strike="noStrike">
                <a:solidFill>
                  <a:srgbClr val="600000"/>
                </a:solidFill>
                <a:latin typeface="Times New Roman"/>
                <a:ea typeface="Times New Roman"/>
                <a:cs typeface="Times New Roman"/>
                <a:sym typeface="Times New Roman"/>
              </a:rPr>
              <a:t>&lt;option&gt; :</a:t>
            </a:r>
            <a:r>
              <a:rPr b="0" i="0" lang="en-US" sz="2800" u="none" cap="none" strike="noStrike">
                <a:solidFill>
                  <a:schemeClr val="dk1"/>
                </a:solidFill>
                <a:latin typeface="Times New Roman"/>
                <a:ea typeface="Times New Roman"/>
                <a:cs typeface="Times New Roman"/>
                <a:sym typeface="Times New Roman"/>
              </a:rPr>
              <a:t> </a:t>
            </a:r>
            <a:r>
              <a:rPr b="0" i="0" lang="en-US" sz="2800" u="none" cap="none" strike="noStrike">
                <a:solidFill>
                  <a:srgbClr val="003300"/>
                </a:solidFill>
                <a:latin typeface="Times New Roman"/>
                <a:ea typeface="Times New Roman"/>
                <a:cs typeface="Times New Roman"/>
                <a:sym typeface="Times New Roman"/>
              </a:rPr>
              <a:t>To insert the values in the dropdown list we use the tag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a:t>
            </a:r>
            <a:r>
              <a:rPr b="1" i="0" lang="en-US" sz="2800" u="sng" cap="none" strike="noStrike">
                <a:solidFill>
                  <a:srgbClr val="600000"/>
                </a:solidFill>
                <a:latin typeface="Times New Roman"/>
                <a:ea typeface="Times New Roman"/>
                <a:cs typeface="Times New Roman"/>
                <a:sym typeface="Times New Roman"/>
              </a:rPr>
              <a:t>Syntax: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a:t>
            </a:r>
            <a:r>
              <a:rPr b="1" i="0" lang="en-US" sz="2800" u="none" cap="none" strike="noStrike">
                <a:solidFill>
                  <a:srgbClr val="600000"/>
                </a:solidFill>
                <a:latin typeface="Times New Roman"/>
                <a:ea typeface="Times New Roman"/>
                <a:cs typeface="Times New Roman"/>
                <a:sym typeface="Times New Roman"/>
              </a:rPr>
              <a:t>&lt;option value= “string”  [selected]&gt; …. &lt;/option&gt;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ct val="1000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&lt;select name=“countries”&gt;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&lt;option value=“1” selected=“selected”&gt; India&lt;/option&gt;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&lt;option  value=“2”&gt; Srilanka&lt;/option&gt;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&lt;option   value=“3”&gt; Bangladesh&lt;/option&gt;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&lt;/select&gt;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id="489" name="Google Shape;489;p39"/>
          <p:cNvPicPr preferRelativeResize="0"/>
          <p:nvPr/>
        </p:nvPicPr>
        <p:blipFill rotWithShape="1">
          <a:blip r:embed="rId4">
            <a:alphaModFix/>
          </a:blip>
          <a:srcRect b="0" l="0" r="0" t="0"/>
          <a:stretch/>
        </p:blipFill>
        <p:spPr>
          <a:xfrm>
            <a:off x="9499600" y="3812146"/>
            <a:ext cx="2362200" cy="1600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500"/>
                                        <p:tgtEl>
                                          <p:spTgt spid="4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40"/>
          <p:cNvSpPr txBox="1"/>
          <p:nvPr/>
        </p:nvSpPr>
        <p:spPr>
          <a:xfrm>
            <a:off x="163772" y="204716"/>
            <a:ext cx="10781732"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NEW INPUT TYPES</a:t>
            </a:r>
            <a:endParaRPr b="1" i="0" sz="3600" u="none" cap="none" strike="noStrike">
              <a:solidFill>
                <a:srgbClr val="600000"/>
              </a:solidFill>
              <a:latin typeface="Times New Roman"/>
              <a:ea typeface="Times New Roman"/>
              <a:cs typeface="Times New Roman"/>
              <a:sym typeface="Times New Roman"/>
            </a:endParaRPr>
          </a:p>
        </p:txBody>
      </p:sp>
      <p:sp>
        <p:nvSpPr>
          <p:cNvPr id="495" name="Google Shape;495;p40"/>
          <p:cNvSpPr txBox="1"/>
          <p:nvPr/>
        </p:nvSpPr>
        <p:spPr>
          <a:xfrm>
            <a:off x="163772" y="1017732"/>
            <a:ext cx="10781731" cy="567928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70000" lnSpcReduction="20000"/>
          </a:bodyPr>
          <a:lstStyle/>
          <a:p>
            <a:pPr indent="0" lvl="0" marL="0" marR="0" rtl="0" algn="l">
              <a:lnSpc>
                <a:spcPct val="12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html&gt;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&lt;form action=""&gt;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a:t>
            </a:r>
            <a:r>
              <a:rPr b="1" i="0" lang="en-US" sz="2800" u="none" cap="none" strike="noStrike">
                <a:solidFill>
                  <a:srgbClr val="003300"/>
                </a:solidFill>
                <a:latin typeface="Times New Roman"/>
                <a:ea typeface="Times New Roman"/>
                <a:cs typeface="Times New Roman"/>
                <a:sym typeface="Times New Roman"/>
              </a:rPr>
              <a:t>Birthday</a:t>
            </a:r>
            <a:r>
              <a:rPr b="0" i="0" lang="en-US" sz="2800" u="none" cap="none" strike="noStrike">
                <a:solidFill>
                  <a:srgbClr val="003300"/>
                </a:solidFill>
                <a:latin typeface="Times New Roman"/>
                <a:ea typeface="Times New Roman"/>
                <a:cs typeface="Times New Roman"/>
                <a:sym typeface="Times New Roman"/>
              </a:rPr>
              <a:t>: &lt;input type="date" name="bday"&gt;&lt;br&gt;&lt;br&gt;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Select your favorite </a:t>
            </a:r>
            <a:r>
              <a:rPr b="1" i="0" lang="en-US" sz="2800" u="none" cap="none" strike="noStrike">
                <a:solidFill>
                  <a:srgbClr val="003300"/>
                </a:solidFill>
                <a:latin typeface="Times New Roman"/>
                <a:ea typeface="Times New Roman"/>
                <a:cs typeface="Times New Roman"/>
                <a:sym typeface="Times New Roman"/>
              </a:rPr>
              <a:t>color</a:t>
            </a:r>
            <a:r>
              <a:rPr b="0" i="0" lang="en-US" sz="2800" u="none" cap="none" strike="noStrike">
                <a:solidFill>
                  <a:srgbClr val="0033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&lt;input type="color" name="favcolor" value="#ff0000"&gt;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&lt;br&gt;&lt;br&gt;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a:t>
            </a:r>
            <a:r>
              <a:rPr b="1" i="0" lang="en-US" sz="2800" u="none" cap="none" strike="noStrike">
                <a:solidFill>
                  <a:srgbClr val="003300"/>
                </a:solidFill>
                <a:latin typeface="Times New Roman"/>
                <a:ea typeface="Times New Roman"/>
                <a:cs typeface="Times New Roman"/>
                <a:sym typeface="Times New Roman"/>
              </a:rPr>
              <a:t>E-mail</a:t>
            </a:r>
            <a:r>
              <a:rPr b="0" i="0" lang="en-US" sz="2800" u="none" cap="none" strike="noStrike">
                <a:solidFill>
                  <a:srgbClr val="003300"/>
                </a:solidFill>
                <a:latin typeface="Times New Roman"/>
                <a:ea typeface="Times New Roman"/>
                <a:cs typeface="Times New Roman"/>
                <a:sym typeface="Times New Roman"/>
              </a:rPr>
              <a:t>:&lt;input type="email" name="email"&gt;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&lt;br&gt;&lt;br&gt;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a:t>
            </a:r>
            <a:r>
              <a:rPr b="1" i="0" lang="en-US" sz="2800" u="none" cap="none" strike="noStrike">
                <a:solidFill>
                  <a:srgbClr val="003300"/>
                </a:solidFill>
                <a:latin typeface="Times New Roman"/>
                <a:ea typeface="Times New Roman"/>
                <a:cs typeface="Times New Roman"/>
                <a:sym typeface="Times New Roman"/>
              </a:rPr>
              <a:t>Quantity (between 1 and 5):</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&lt;input type="number" name="quantity" min="1" max="5"&gt;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&lt;input type="submit"&gt;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2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&lt;br&gt;&lt;br&gt;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&lt;/form&gt;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496" name="Google Shape;496;p40"/>
          <p:cNvSpPr/>
          <p:nvPr/>
        </p:nvSpPr>
        <p:spPr>
          <a:xfrm>
            <a:off x="11191167" y="0"/>
            <a:ext cx="259311" cy="551369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7" name="Google Shape;497;p40"/>
          <p:cNvSpPr/>
          <p:nvPr/>
        </p:nvSpPr>
        <p:spPr>
          <a:xfrm>
            <a:off x="11450472" y="0"/>
            <a:ext cx="741528" cy="5882183"/>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498" name="Google Shape;498;p40"/>
          <p:cNvPicPr preferRelativeResize="0"/>
          <p:nvPr/>
        </p:nvPicPr>
        <p:blipFill rotWithShape="1">
          <a:blip r:embed="rId3">
            <a:alphaModFix/>
          </a:blip>
          <a:srcRect b="0" l="0" r="0" t="0"/>
          <a:stretch/>
        </p:blipFill>
        <p:spPr>
          <a:xfrm>
            <a:off x="11191166" y="5915467"/>
            <a:ext cx="1000833" cy="915237"/>
          </a:xfrm>
          <a:prstGeom prst="rect">
            <a:avLst/>
          </a:prstGeom>
          <a:noFill/>
          <a:ln cap="flat" cmpd="sng" w="9525">
            <a:solidFill>
              <a:srgbClr val="860000"/>
            </a:solidFill>
            <a:prstDash val="solid"/>
            <a:round/>
            <a:headEnd len="sm" w="sm" type="none"/>
            <a:tailEnd len="sm" w="sm" type="none"/>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1"/>
          <p:cNvSpPr txBox="1"/>
          <p:nvPr/>
        </p:nvSpPr>
        <p:spPr>
          <a:xfrm>
            <a:off x="163772" y="204716"/>
            <a:ext cx="11136574"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NEW INPUT TYPES</a:t>
            </a:r>
            <a:endParaRPr b="1" i="0" sz="3600" u="none" cap="none" strike="noStrike">
              <a:solidFill>
                <a:srgbClr val="600000"/>
              </a:solidFill>
              <a:latin typeface="Times New Roman"/>
              <a:ea typeface="Times New Roman"/>
              <a:cs typeface="Times New Roman"/>
              <a:sym typeface="Times New Roman"/>
            </a:endParaRPr>
          </a:p>
        </p:txBody>
      </p:sp>
      <p:sp>
        <p:nvSpPr>
          <p:cNvPr id="504" name="Google Shape;504;p41"/>
          <p:cNvSpPr txBox="1"/>
          <p:nvPr/>
        </p:nvSpPr>
        <p:spPr>
          <a:xfrm>
            <a:off x="163772" y="1017733"/>
            <a:ext cx="11122927" cy="5073974"/>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just">
              <a:lnSpc>
                <a:spcPct val="15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505" name="Google Shape;505;p41"/>
          <p:cNvSpPr/>
          <p:nvPr/>
        </p:nvSpPr>
        <p:spPr>
          <a:xfrm>
            <a:off x="11477767" y="0"/>
            <a:ext cx="714233" cy="68580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506" name="Google Shape;506;p41"/>
          <p:cNvPicPr preferRelativeResize="0"/>
          <p:nvPr/>
        </p:nvPicPr>
        <p:blipFill rotWithShape="1">
          <a:blip r:embed="rId3">
            <a:alphaModFix/>
          </a:blip>
          <a:srcRect b="0" l="0" r="0" t="0"/>
          <a:stretch/>
        </p:blipFill>
        <p:spPr>
          <a:xfrm>
            <a:off x="163772" y="6209730"/>
            <a:ext cx="778199" cy="593679"/>
          </a:xfrm>
          <a:prstGeom prst="rect">
            <a:avLst/>
          </a:prstGeom>
          <a:noFill/>
          <a:ln cap="flat" cmpd="sng" w="9525">
            <a:solidFill>
              <a:srgbClr val="860000"/>
            </a:solidFill>
            <a:prstDash val="solid"/>
            <a:round/>
            <a:headEnd len="sm" w="sm" type="none"/>
            <a:tailEnd len="sm" w="sm" type="none"/>
          </a:ln>
        </p:spPr>
      </p:pic>
      <p:sp>
        <p:nvSpPr>
          <p:cNvPr id="507" name="Google Shape;507;p41"/>
          <p:cNvSpPr/>
          <p:nvPr/>
        </p:nvSpPr>
        <p:spPr>
          <a:xfrm>
            <a:off x="3346973" y="6209731"/>
            <a:ext cx="8144442" cy="648269"/>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8" name="Google Shape;508;p41"/>
          <p:cNvSpPr/>
          <p:nvPr/>
        </p:nvSpPr>
        <p:spPr>
          <a:xfrm>
            <a:off x="2646389" y="6209730"/>
            <a:ext cx="700584" cy="64827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file18.jpg" id="509" name="Google Shape;509;p41"/>
          <p:cNvPicPr preferRelativeResize="0"/>
          <p:nvPr>
            <p:ph idx="1" type="body"/>
          </p:nvPr>
        </p:nvPicPr>
        <p:blipFill rotWithShape="1">
          <a:blip r:embed="rId4">
            <a:alphaModFix/>
          </a:blip>
          <a:srcRect b="54952" l="29905" r="36449" t="166"/>
          <a:stretch/>
        </p:blipFill>
        <p:spPr>
          <a:xfrm>
            <a:off x="266700" y="1123950"/>
            <a:ext cx="4876800" cy="4387800"/>
          </a:xfrm>
          <a:prstGeom prst="rect">
            <a:avLst/>
          </a:prstGeom>
          <a:noFill/>
          <a:ln>
            <a:noFill/>
          </a:ln>
        </p:spPr>
      </p:pic>
      <p:pic>
        <p:nvPicPr>
          <p:cNvPr descr="file19.jpg" id="510" name="Google Shape;510;p41"/>
          <p:cNvPicPr preferRelativeResize="0"/>
          <p:nvPr/>
        </p:nvPicPr>
        <p:blipFill rotWithShape="1">
          <a:blip r:embed="rId5">
            <a:alphaModFix/>
          </a:blip>
          <a:srcRect b="0" l="30000" r="36667" t="-395"/>
          <a:stretch/>
        </p:blipFill>
        <p:spPr>
          <a:xfrm>
            <a:off x="5867400" y="1017733"/>
            <a:ext cx="5257800" cy="468456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2"/>
          <p:cNvSpPr txBox="1"/>
          <p:nvPr/>
        </p:nvSpPr>
        <p:spPr>
          <a:xfrm>
            <a:off x="163771" y="204716"/>
            <a:ext cx="11778019"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HTML Forms</a:t>
            </a:r>
            <a:endParaRPr b="1" i="0" sz="3600" u="none" cap="none" strike="noStrike">
              <a:solidFill>
                <a:srgbClr val="600000"/>
              </a:solidFill>
              <a:latin typeface="Times New Roman"/>
              <a:ea typeface="Times New Roman"/>
              <a:cs typeface="Times New Roman"/>
              <a:sym typeface="Times New Roman"/>
            </a:endParaRPr>
          </a:p>
        </p:txBody>
      </p:sp>
      <p:sp>
        <p:nvSpPr>
          <p:cNvPr id="516" name="Google Shape;516;p42"/>
          <p:cNvSpPr txBox="1"/>
          <p:nvPr/>
        </p:nvSpPr>
        <p:spPr>
          <a:xfrm>
            <a:off x="163772" y="989606"/>
            <a:ext cx="11764371" cy="5225185"/>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92500" lnSpcReduction="10000"/>
          </a:bodyPr>
          <a:lstStyle/>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&lt;h2&gt;HTML Forms&lt;/h2&gt;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&lt;form action="/action_page.php" method="get"&gt;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First name:&lt;br&gt;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&lt;input type="text" name="firstname" value="Mickey"&gt;&lt;br&gt;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Last name:&lt;br&gt;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&lt;input type="text" name="lastname" value="Mouse"&gt;&lt;br&gt;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User password:&lt;br&gt;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&lt;input type="password" name="psw"&gt; &lt;br&gt;</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517" name="Google Shape;517;p42"/>
          <p:cNvPicPr preferRelativeResize="0"/>
          <p:nvPr/>
        </p:nvPicPr>
        <p:blipFill rotWithShape="1">
          <a:blip r:embed="rId3">
            <a:alphaModFix/>
          </a:blip>
          <a:srcRect b="0" l="0" r="0" t="0"/>
          <a:stretch/>
        </p:blipFill>
        <p:spPr>
          <a:xfrm>
            <a:off x="11305780" y="6242918"/>
            <a:ext cx="622363" cy="615082"/>
          </a:xfrm>
          <a:prstGeom prst="rect">
            <a:avLst/>
          </a:prstGeom>
          <a:noFill/>
          <a:ln cap="flat" cmpd="sng" w="9525">
            <a:solidFill>
              <a:srgbClr val="860000"/>
            </a:solidFill>
            <a:prstDash val="solid"/>
            <a:round/>
            <a:headEnd len="sm" w="sm" type="none"/>
            <a:tailEnd len="sm" w="sm" type="none"/>
          </a:ln>
        </p:spPr>
      </p:pic>
      <p:sp>
        <p:nvSpPr>
          <p:cNvPr id="518" name="Google Shape;518;p42"/>
          <p:cNvSpPr/>
          <p:nvPr/>
        </p:nvSpPr>
        <p:spPr>
          <a:xfrm>
            <a:off x="0" y="6553209"/>
            <a:ext cx="11305780" cy="304791"/>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9" name="Google Shape;519;p42"/>
          <p:cNvSpPr/>
          <p:nvPr/>
        </p:nvSpPr>
        <p:spPr>
          <a:xfrm>
            <a:off x="1" y="6336406"/>
            <a:ext cx="10683416" cy="216803"/>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3"/>
          <p:cNvSpPr txBox="1"/>
          <p:nvPr/>
        </p:nvSpPr>
        <p:spPr>
          <a:xfrm>
            <a:off x="163771" y="204716"/>
            <a:ext cx="11778019"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HTML Forms</a:t>
            </a:r>
            <a:endParaRPr b="1" i="0" sz="3600" u="none" cap="none" strike="noStrike">
              <a:solidFill>
                <a:srgbClr val="600000"/>
              </a:solidFill>
              <a:latin typeface="Times New Roman"/>
              <a:ea typeface="Times New Roman"/>
              <a:cs typeface="Times New Roman"/>
              <a:sym typeface="Times New Roman"/>
            </a:endParaRPr>
          </a:p>
        </p:txBody>
      </p:sp>
      <p:sp>
        <p:nvSpPr>
          <p:cNvPr id="525" name="Google Shape;525;p43"/>
          <p:cNvSpPr txBox="1"/>
          <p:nvPr/>
        </p:nvSpPr>
        <p:spPr>
          <a:xfrm>
            <a:off x="163772" y="979096"/>
            <a:ext cx="11764500" cy="5225100"/>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Gender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&lt;input type="radio" name="gender" value="male"&gt; Male&lt;br&gt;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&lt;input type="radio" name="gender" value="female" checked&gt; Female&lt;br&gt;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&lt;input type="radio" name="gender" value="other"&gt; Other&lt;br&gt;&lt;br&gt;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CheckBox:&lt;br&gt;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&lt;input type="checkbox" name="vehicle1" value="Bike"&gt;I have a bike&lt;br&gt;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&lt;input type="checkbox" name="vehicle2" value="Car"&gt;I have a car &lt;br&gt;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Country </a:t>
            </a:r>
            <a:endParaRPr b="0" i="0" sz="14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&lt;select name="country"&gt;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&lt;option value="India"&gt;India&lt;/option&gt;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&lt;option value="Australia"&gt;Australia&lt;/option&gt;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&lt;option value="USA"&gt;USA&lt;/option&gt;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&lt;option value="Canada"&gt;Canada&lt;/option&gt;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&lt;/select&gt; &lt;br&gt;&lt;br&gt;	</a:t>
            </a:r>
            <a:endParaRPr b="0" i="0" sz="14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Address :&lt;br&gt;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&lt;textarea name="message" rows="10" cols="30"&gt;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Enter your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&lt;/textarea&gt;&lt;br&gt;&lt;br&gt;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&lt;input type="submit" value="Submit"&gt;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&lt;/form&gt;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ts val="1400"/>
              <a:buFont typeface="Times New Roman"/>
              <a:buNone/>
            </a:pPr>
            <a:r>
              <a:rPr b="0" i="0" lang="en-US" sz="14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3300"/>
              </a:solidFill>
              <a:latin typeface="Times New Roman"/>
              <a:ea typeface="Times New Roman"/>
              <a:cs typeface="Times New Roman"/>
              <a:sym typeface="Times New Roman"/>
            </a:endParaRPr>
          </a:p>
        </p:txBody>
      </p:sp>
      <p:pic>
        <p:nvPicPr>
          <p:cNvPr descr="C:\Users\GANGA\Desktop\download.jpg" id="526" name="Google Shape;526;p43"/>
          <p:cNvPicPr preferRelativeResize="0"/>
          <p:nvPr/>
        </p:nvPicPr>
        <p:blipFill rotWithShape="1">
          <a:blip r:embed="rId3">
            <a:alphaModFix/>
          </a:blip>
          <a:srcRect b="0" l="0" r="0" t="0"/>
          <a:stretch/>
        </p:blipFill>
        <p:spPr>
          <a:xfrm>
            <a:off x="11305780" y="6242918"/>
            <a:ext cx="622363" cy="615082"/>
          </a:xfrm>
          <a:prstGeom prst="rect">
            <a:avLst/>
          </a:prstGeom>
          <a:noFill/>
          <a:ln cap="flat" cmpd="sng" w="9525">
            <a:solidFill>
              <a:srgbClr val="860000"/>
            </a:solidFill>
            <a:prstDash val="solid"/>
            <a:round/>
            <a:headEnd len="sm" w="sm" type="none"/>
            <a:tailEnd len="sm" w="sm" type="none"/>
          </a:ln>
        </p:spPr>
      </p:pic>
      <p:sp>
        <p:nvSpPr>
          <p:cNvPr id="527" name="Google Shape;527;p43"/>
          <p:cNvSpPr/>
          <p:nvPr/>
        </p:nvSpPr>
        <p:spPr>
          <a:xfrm>
            <a:off x="0" y="6553209"/>
            <a:ext cx="11305780" cy="304791"/>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8" name="Google Shape;528;p43"/>
          <p:cNvSpPr/>
          <p:nvPr/>
        </p:nvSpPr>
        <p:spPr>
          <a:xfrm>
            <a:off x="1" y="6336406"/>
            <a:ext cx="10683416" cy="216803"/>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file15.jpg" id="529" name="Google Shape;529;p43"/>
          <p:cNvPicPr preferRelativeResize="0"/>
          <p:nvPr>
            <p:ph idx="1" type="body"/>
          </p:nvPr>
        </p:nvPicPr>
        <p:blipFill rotWithShape="1">
          <a:blip r:embed="rId4">
            <a:alphaModFix/>
          </a:blip>
          <a:srcRect b="0" l="29592" r="36734" t="-817"/>
          <a:stretch/>
        </p:blipFill>
        <p:spPr>
          <a:xfrm>
            <a:off x="7847477" y="1084575"/>
            <a:ext cx="3994200" cy="4939200"/>
          </a:xfrm>
          <a:prstGeom prst="rect">
            <a:avLst/>
          </a:prstGeom>
          <a:noFill/>
          <a:ln cap="flat" cmpd="sng" w="25400">
            <a:solidFill>
              <a:srgbClr val="600000"/>
            </a:solidFill>
            <a:prstDash val="solid"/>
            <a:round/>
            <a:headEnd len="sm" w="sm" type="none"/>
            <a:tailEnd len="sm" w="sm" type="none"/>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44"/>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b="1" lang="en-US" sz="3600">
                <a:solidFill>
                  <a:srgbClr val="600000"/>
                </a:solidFill>
                <a:latin typeface="Times New Roman"/>
                <a:ea typeface="Times New Roman"/>
                <a:cs typeface="Times New Roman"/>
                <a:sym typeface="Times New Roman"/>
              </a:rPr>
              <a:t>HTML  Canvas</a:t>
            </a:r>
            <a:endParaRPr b="1" sz="3600">
              <a:solidFill>
                <a:srgbClr val="600000"/>
              </a:solidFill>
              <a:latin typeface="Times New Roman"/>
              <a:ea typeface="Times New Roman"/>
              <a:cs typeface="Times New Roman"/>
              <a:sym typeface="Times New Roman"/>
            </a:endParaRPr>
          </a:p>
        </p:txBody>
      </p:sp>
      <p:pic>
        <p:nvPicPr>
          <p:cNvPr descr="C:\Users\GANGA\Desktop\download.jpg" id="535" name="Google Shape;535;p44"/>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536" name="Google Shape;536;p44"/>
          <p:cNvSpPr/>
          <p:nvPr/>
        </p:nvSpPr>
        <p:spPr>
          <a:xfrm>
            <a:off x="0" y="0"/>
            <a:ext cx="587700" cy="61947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7" name="Google Shape;537;p44"/>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8" name="Google Shape;538;p44"/>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lnSpcReduction="10000"/>
          </a:bodyPr>
          <a:lstStyle/>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HTML </a:t>
            </a:r>
            <a:r>
              <a:rPr b="1" i="0" lang="en-US" sz="2800" u="none" cap="none" strike="noStrike">
                <a:solidFill>
                  <a:srgbClr val="600000"/>
                </a:solidFill>
                <a:latin typeface="Times New Roman"/>
                <a:ea typeface="Times New Roman"/>
                <a:cs typeface="Times New Roman"/>
                <a:sym typeface="Times New Roman"/>
              </a:rPr>
              <a:t>&lt;canvas&gt;</a:t>
            </a:r>
            <a:r>
              <a:rPr b="0" i="0" lang="en-US" sz="2800" u="none" cap="none" strike="noStrike">
                <a:solidFill>
                  <a:srgbClr val="600000"/>
                </a:solidFill>
                <a:latin typeface="Times New Roman"/>
                <a:ea typeface="Times New Roman"/>
                <a:cs typeface="Times New Roman"/>
                <a:sym typeface="Times New Roman"/>
              </a:rPr>
              <a:t> </a:t>
            </a:r>
            <a:r>
              <a:rPr b="0" i="0" lang="en-US" sz="2800" u="none" cap="none" strike="noStrike">
                <a:solidFill>
                  <a:srgbClr val="003300"/>
                </a:solidFill>
                <a:latin typeface="Times New Roman"/>
                <a:ea typeface="Times New Roman"/>
                <a:cs typeface="Times New Roman"/>
                <a:sym typeface="Times New Roman"/>
              </a:rPr>
              <a:t>element is used to </a:t>
            </a:r>
            <a:r>
              <a:rPr b="1" i="0" lang="en-US" sz="2800" u="none" cap="none" strike="noStrike">
                <a:solidFill>
                  <a:srgbClr val="600000"/>
                </a:solidFill>
                <a:latin typeface="Times New Roman"/>
                <a:ea typeface="Times New Roman"/>
                <a:cs typeface="Times New Roman"/>
                <a:sym typeface="Times New Roman"/>
              </a:rPr>
              <a:t>draw graphics via JavaScript</a:t>
            </a:r>
            <a:r>
              <a:rPr b="0" i="0" lang="en-US" sz="2800" u="none" cap="none" strike="noStrike">
                <a:solidFill>
                  <a:srgbClr val="0033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&lt;canvas&gt; element is only a container for graphics. </a:t>
            </a:r>
            <a:endParaRPr b="0" i="0" sz="2800" u="none" cap="none" strike="noStrike">
              <a:solidFill>
                <a:srgbClr val="003300"/>
              </a:solidFill>
              <a:latin typeface="Times New Roman"/>
              <a:ea typeface="Times New Roman"/>
              <a:cs typeface="Times New Roman"/>
              <a:sym typeface="Times New Roman"/>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Canvas has several methods for drawing paths, boxes, circles, text, and adding images.</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A canvas is a rectangular area on an HTML page. </a:t>
            </a:r>
            <a:endParaRPr b="0" i="0" sz="2800" u="none" cap="none" strike="noStrike">
              <a:solidFill>
                <a:srgbClr val="003300"/>
              </a:solidFill>
              <a:latin typeface="Times New Roman"/>
              <a:ea typeface="Times New Roman"/>
              <a:cs typeface="Times New Roman"/>
              <a:sym typeface="Times New Roman"/>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By default, a canvas has no border and no content.</a:t>
            </a:r>
            <a:endParaRPr b="0" i="0" sz="1400" u="none" cap="none" strike="noStrike">
              <a:solidFill>
                <a:srgbClr val="000000"/>
              </a:solidFill>
              <a:latin typeface="Arial"/>
              <a:ea typeface="Arial"/>
              <a:cs typeface="Arial"/>
              <a:sym typeface="Arial"/>
            </a:endParaRPr>
          </a:p>
          <a:p>
            <a:pPr indent="0" lvl="0" marL="0" marR="0" rtl="0" algn="ctr">
              <a:lnSpc>
                <a:spcPct val="200000"/>
              </a:lnSpc>
              <a:spcBef>
                <a:spcPts val="0"/>
              </a:spcBef>
              <a:spcAft>
                <a:spcPts val="0"/>
              </a:spcAft>
              <a:buClr>
                <a:srgbClr val="000000"/>
              </a:buClr>
              <a:buSzPts val="2800"/>
              <a:buFont typeface="Arial"/>
              <a:buNone/>
            </a:pPr>
            <a:r>
              <a:rPr b="1" i="0" lang="en-US" sz="2800" u="none" cap="none" strike="noStrike">
                <a:solidFill>
                  <a:srgbClr val="600000"/>
                </a:solidFill>
                <a:latin typeface="Times New Roman"/>
                <a:ea typeface="Times New Roman"/>
                <a:cs typeface="Times New Roman"/>
                <a:sym typeface="Times New Roman"/>
              </a:rPr>
              <a:t>&lt;canvas id="myCanvas" width="200" height="100"&gt;&lt;/canvas&gt;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45"/>
          <p:cNvSpPr txBox="1"/>
          <p:nvPr/>
        </p:nvSpPr>
        <p:spPr>
          <a:xfrm>
            <a:off x="163772" y="204716"/>
            <a:ext cx="10781732"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HTML  Canvas</a:t>
            </a:r>
            <a:endParaRPr b="1" i="0" sz="3600" u="none" cap="none" strike="noStrike">
              <a:solidFill>
                <a:srgbClr val="860000"/>
              </a:solidFill>
              <a:latin typeface="Marcellus"/>
              <a:ea typeface="Marcellus"/>
              <a:cs typeface="Marcellus"/>
              <a:sym typeface="Marcellus"/>
            </a:endParaRPr>
          </a:p>
        </p:txBody>
      </p:sp>
      <p:sp>
        <p:nvSpPr>
          <p:cNvPr id="544" name="Google Shape;544;p45"/>
          <p:cNvSpPr txBox="1"/>
          <p:nvPr/>
        </p:nvSpPr>
        <p:spPr>
          <a:xfrm>
            <a:off x="163772" y="1017732"/>
            <a:ext cx="10781731" cy="567928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33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0000"/>
              </a:buClr>
              <a:buSzPts val="2400"/>
              <a:buFont typeface="Arial"/>
              <a:buNone/>
            </a:pPr>
            <a:r>
              <a:rPr b="1" i="0" lang="en-US" sz="2400" u="none" cap="none" strike="noStrike">
                <a:solidFill>
                  <a:srgbClr val="003300"/>
                </a:solidFill>
                <a:latin typeface="Times New Roman"/>
                <a:ea typeface="Times New Roman"/>
                <a:cs typeface="Times New Roman"/>
                <a:sym typeface="Times New Roman"/>
              </a:rPr>
              <a:t>&lt;canvas </a:t>
            </a:r>
            <a:endParaRPr b="1" i="0" sz="2400" u="none" cap="none" strike="noStrike">
              <a:solidFill>
                <a:srgbClr val="0033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0000"/>
              </a:buClr>
              <a:buSzPts val="2400"/>
              <a:buFont typeface="Arial"/>
              <a:buNone/>
            </a:pPr>
            <a:r>
              <a:rPr b="0" i="0" lang="en-US" sz="2400" u="none" cap="none" strike="noStrike">
                <a:solidFill>
                  <a:srgbClr val="003300"/>
                </a:solidFill>
                <a:latin typeface="Times New Roman"/>
                <a:ea typeface="Times New Roman"/>
                <a:cs typeface="Times New Roman"/>
                <a:sym typeface="Times New Roman"/>
              </a:rPr>
              <a:t>id="myCanvas" width="200" height="100" style="border:1px solid red;"&gt;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400"/>
              <a:buFont typeface="Arial"/>
              <a:buNone/>
            </a:pPr>
            <a:r>
              <a:rPr b="1" i="0" lang="en-US" sz="2400" u="none" cap="none" strike="noStrike">
                <a:solidFill>
                  <a:srgbClr val="003300"/>
                </a:solidFill>
                <a:latin typeface="Times New Roman"/>
                <a:ea typeface="Times New Roman"/>
                <a:cs typeface="Times New Roman"/>
                <a:sym typeface="Times New Roman"/>
              </a:rPr>
              <a:t>&lt;/canvas&gt;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600000"/>
              </a:buClr>
              <a:buSzPts val="2400"/>
              <a:buFont typeface="Times New Roman"/>
              <a:buNone/>
            </a:pPr>
            <a:r>
              <a:rPr b="1" i="0" lang="en-US" sz="2400" u="none" cap="none" strike="noStrike">
                <a:solidFill>
                  <a:srgbClr val="600000"/>
                </a:solidFill>
                <a:latin typeface="Times New Roman"/>
                <a:ea typeface="Times New Roman"/>
                <a:cs typeface="Times New Roman"/>
                <a:sym typeface="Times New Roman"/>
              </a:rPr>
              <a:t>---🡪 A rectangle will be displayed in the output</a:t>
            </a:r>
            <a:endParaRPr b="1" i="0" sz="2400" u="none" cap="none" strike="noStrike">
              <a:solidFill>
                <a:srgbClr val="600000"/>
              </a:solidFill>
              <a:latin typeface="Times New Roman"/>
              <a:ea typeface="Times New Roman"/>
              <a:cs typeface="Times New Roman"/>
              <a:sym typeface="Times New Roman"/>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545" name="Google Shape;545;p45"/>
          <p:cNvSpPr/>
          <p:nvPr/>
        </p:nvSpPr>
        <p:spPr>
          <a:xfrm>
            <a:off x="11191167" y="0"/>
            <a:ext cx="259311" cy="551369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6" name="Google Shape;546;p45"/>
          <p:cNvSpPr/>
          <p:nvPr/>
        </p:nvSpPr>
        <p:spPr>
          <a:xfrm>
            <a:off x="11450472" y="0"/>
            <a:ext cx="741528" cy="5882183"/>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547" name="Google Shape;547;p45"/>
          <p:cNvPicPr preferRelativeResize="0"/>
          <p:nvPr/>
        </p:nvPicPr>
        <p:blipFill rotWithShape="1">
          <a:blip r:embed="rId3">
            <a:alphaModFix/>
          </a:blip>
          <a:srcRect b="0" l="0" r="0" t="0"/>
          <a:stretch/>
        </p:blipFill>
        <p:spPr>
          <a:xfrm>
            <a:off x="11191166" y="5915467"/>
            <a:ext cx="1000833" cy="915237"/>
          </a:xfrm>
          <a:prstGeom prst="rect">
            <a:avLst/>
          </a:prstGeom>
          <a:noFill/>
          <a:ln cap="flat" cmpd="sng" w="9525">
            <a:solidFill>
              <a:srgbClr val="860000"/>
            </a:solidFill>
            <a:prstDash val="solid"/>
            <a:round/>
            <a:headEnd len="sm" w="sm" type="none"/>
            <a:tailEnd len="sm" w="sm" type="none"/>
          </a:ln>
        </p:spPr>
      </p:pic>
      <p:pic>
        <p:nvPicPr>
          <p:cNvPr id="548" name="Google Shape;548;p45"/>
          <p:cNvPicPr preferRelativeResize="0"/>
          <p:nvPr/>
        </p:nvPicPr>
        <p:blipFill rotWithShape="1">
          <a:blip r:embed="rId4">
            <a:alphaModFix/>
          </a:blip>
          <a:srcRect b="0" l="0" r="0" t="0"/>
          <a:stretch/>
        </p:blipFill>
        <p:spPr>
          <a:xfrm>
            <a:off x="7425890" y="3539539"/>
            <a:ext cx="3023755" cy="161935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46"/>
          <p:cNvSpPr txBox="1"/>
          <p:nvPr/>
        </p:nvSpPr>
        <p:spPr>
          <a:xfrm>
            <a:off x="163772" y="204716"/>
            <a:ext cx="11136574"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HTML  Canvas</a:t>
            </a:r>
            <a:endParaRPr b="1" i="0" sz="3600" u="none" cap="none" strike="noStrike">
              <a:solidFill>
                <a:srgbClr val="860000"/>
              </a:solidFill>
              <a:latin typeface="Marcellus"/>
              <a:ea typeface="Marcellus"/>
              <a:cs typeface="Marcellus"/>
              <a:sym typeface="Marcellus"/>
            </a:endParaRPr>
          </a:p>
        </p:txBody>
      </p:sp>
      <p:sp>
        <p:nvSpPr>
          <p:cNvPr id="554" name="Google Shape;554;p46"/>
          <p:cNvSpPr txBox="1"/>
          <p:nvPr/>
        </p:nvSpPr>
        <p:spPr>
          <a:xfrm>
            <a:off x="163772" y="1017733"/>
            <a:ext cx="11122927" cy="5073974"/>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85000" lnSpcReduction="10000"/>
          </a:bodyPr>
          <a:lstStyle/>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&lt;canvas id="myCanvas" width="200" height="100" style="border:1px solid red;"&gt;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&lt;script&gt;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var c = document.getElementById("myCanvas");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var ctx = c.getContext("2d");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ctx.moveTo(0,0);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ctx.lineTo(200,100);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ctx.stroke();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&lt;/script&gt;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555" name="Google Shape;555;p46"/>
          <p:cNvSpPr/>
          <p:nvPr/>
        </p:nvSpPr>
        <p:spPr>
          <a:xfrm>
            <a:off x="11477767" y="0"/>
            <a:ext cx="714233" cy="68580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556" name="Google Shape;556;p46"/>
          <p:cNvPicPr preferRelativeResize="0"/>
          <p:nvPr/>
        </p:nvPicPr>
        <p:blipFill rotWithShape="1">
          <a:blip r:embed="rId3">
            <a:alphaModFix/>
          </a:blip>
          <a:srcRect b="0" l="0" r="0" t="0"/>
          <a:stretch/>
        </p:blipFill>
        <p:spPr>
          <a:xfrm>
            <a:off x="163772" y="6209730"/>
            <a:ext cx="778199" cy="593679"/>
          </a:xfrm>
          <a:prstGeom prst="rect">
            <a:avLst/>
          </a:prstGeom>
          <a:noFill/>
          <a:ln cap="flat" cmpd="sng" w="9525">
            <a:solidFill>
              <a:srgbClr val="860000"/>
            </a:solidFill>
            <a:prstDash val="solid"/>
            <a:round/>
            <a:headEnd len="sm" w="sm" type="none"/>
            <a:tailEnd len="sm" w="sm" type="none"/>
          </a:ln>
        </p:spPr>
      </p:pic>
      <p:sp>
        <p:nvSpPr>
          <p:cNvPr id="557" name="Google Shape;557;p46"/>
          <p:cNvSpPr/>
          <p:nvPr/>
        </p:nvSpPr>
        <p:spPr>
          <a:xfrm>
            <a:off x="3346973" y="6209731"/>
            <a:ext cx="8144442" cy="648269"/>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8" name="Google Shape;558;p46"/>
          <p:cNvSpPr/>
          <p:nvPr/>
        </p:nvSpPr>
        <p:spPr>
          <a:xfrm>
            <a:off x="2646389" y="6209730"/>
            <a:ext cx="700584" cy="64827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559" name="Google Shape;559;p46"/>
          <p:cNvPicPr preferRelativeResize="0"/>
          <p:nvPr/>
        </p:nvPicPr>
        <p:blipFill rotWithShape="1">
          <a:blip r:embed="rId4">
            <a:alphaModFix/>
          </a:blip>
          <a:srcRect b="0" l="0" r="0" t="0"/>
          <a:stretch/>
        </p:blipFill>
        <p:spPr>
          <a:xfrm>
            <a:off x="6560128" y="3321627"/>
            <a:ext cx="3886200" cy="210965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47"/>
          <p:cNvSpPr txBox="1"/>
          <p:nvPr/>
        </p:nvSpPr>
        <p:spPr>
          <a:xfrm>
            <a:off x="163771" y="204716"/>
            <a:ext cx="11778019"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0" i="0" lang="en-US" sz="3600" u="none" cap="none" strike="noStrike">
                <a:solidFill>
                  <a:srgbClr val="600000"/>
                </a:solidFill>
                <a:latin typeface="Times New Roman"/>
                <a:ea typeface="Times New Roman"/>
                <a:cs typeface="Times New Roman"/>
                <a:sym typeface="Times New Roman"/>
              </a:rPr>
              <a:t>What is SVG?</a:t>
            </a:r>
            <a:endParaRPr b="0" i="0" sz="3600" u="none" cap="none" strike="noStrike">
              <a:solidFill>
                <a:srgbClr val="600000"/>
              </a:solidFill>
              <a:latin typeface="Times New Roman"/>
              <a:ea typeface="Times New Roman"/>
              <a:cs typeface="Times New Roman"/>
              <a:sym typeface="Times New Roman"/>
            </a:endParaRPr>
          </a:p>
        </p:txBody>
      </p:sp>
      <p:sp>
        <p:nvSpPr>
          <p:cNvPr id="565" name="Google Shape;565;p47"/>
          <p:cNvSpPr txBox="1"/>
          <p:nvPr/>
        </p:nvSpPr>
        <p:spPr>
          <a:xfrm>
            <a:off x="163772" y="979096"/>
            <a:ext cx="11764371" cy="5225185"/>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SVG stands for </a:t>
            </a:r>
            <a:r>
              <a:rPr b="1" i="0" lang="en-US" sz="2800" u="none" cap="none" strike="noStrike">
                <a:solidFill>
                  <a:srgbClr val="600000"/>
                </a:solidFill>
                <a:latin typeface="Times New Roman"/>
                <a:ea typeface="Times New Roman"/>
                <a:cs typeface="Times New Roman"/>
                <a:sym typeface="Times New Roman"/>
              </a:rPr>
              <a:t>Scalable Vector Graphics</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SVG is used to define graphics for the Web</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SVG is a W3C recommendation</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HTML &lt;svg&gt; element is a container for SVG graphics.</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SVG has several methods for drawing paths, boxes, circles, text, and graphic images.</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566" name="Google Shape;566;p47"/>
          <p:cNvPicPr preferRelativeResize="0"/>
          <p:nvPr/>
        </p:nvPicPr>
        <p:blipFill rotWithShape="1">
          <a:blip r:embed="rId3">
            <a:alphaModFix/>
          </a:blip>
          <a:srcRect b="0" l="0" r="0" t="0"/>
          <a:stretch/>
        </p:blipFill>
        <p:spPr>
          <a:xfrm>
            <a:off x="11305780" y="6242918"/>
            <a:ext cx="622363" cy="615082"/>
          </a:xfrm>
          <a:prstGeom prst="rect">
            <a:avLst/>
          </a:prstGeom>
          <a:noFill/>
          <a:ln cap="flat" cmpd="sng" w="9525">
            <a:solidFill>
              <a:srgbClr val="860000"/>
            </a:solidFill>
            <a:prstDash val="solid"/>
            <a:round/>
            <a:headEnd len="sm" w="sm" type="none"/>
            <a:tailEnd len="sm" w="sm" type="none"/>
          </a:ln>
        </p:spPr>
      </p:pic>
      <p:sp>
        <p:nvSpPr>
          <p:cNvPr id="567" name="Google Shape;567;p47"/>
          <p:cNvSpPr/>
          <p:nvPr/>
        </p:nvSpPr>
        <p:spPr>
          <a:xfrm>
            <a:off x="0" y="6553209"/>
            <a:ext cx="11305780" cy="304791"/>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8" name="Google Shape;568;p47"/>
          <p:cNvSpPr/>
          <p:nvPr/>
        </p:nvSpPr>
        <p:spPr>
          <a:xfrm>
            <a:off x="1" y="6336406"/>
            <a:ext cx="10683416" cy="216803"/>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48"/>
          <p:cNvSpPr txBox="1"/>
          <p:nvPr/>
        </p:nvSpPr>
        <p:spPr>
          <a:xfrm>
            <a:off x="68236" y="43974"/>
            <a:ext cx="11123505"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0" i="0" lang="en-US" sz="3600" u="none" cap="none" strike="noStrike">
                <a:solidFill>
                  <a:srgbClr val="600000"/>
                </a:solidFill>
                <a:latin typeface="Times New Roman"/>
                <a:ea typeface="Times New Roman"/>
                <a:cs typeface="Times New Roman"/>
                <a:sym typeface="Times New Roman"/>
              </a:rPr>
              <a:t>What is SVG?</a:t>
            </a:r>
            <a:endParaRPr b="0" i="0" sz="3600" u="none" cap="none" strike="noStrike">
              <a:solidFill>
                <a:srgbClr val="600000"/>
              </a:solidFill>
              <a:latin typeface="Times New Roman"/>
              <a:ea typeface="Times New Roman"/>
              <a:cs typeface="Times New Roman"/>
              <a:sym typeface="Times New Roman"/>
            </a:endParaRPr>
          </a:p>
        </p:txBody>
      </p:sp>
      <p:sp>
        <p:nvSpPr>
          <p:cNvPr id="574" name="Google Shape;574;p48"/>
          <p:cNvSpPr txBox="1"/>
          <p:nvPr/>
        </p:nvSpPr>
        <p:spPr>
          <a:xfrm>
            <a:off x="68236" y="811369"/>
            <a:ext cx="12012147" cy="546660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70000" lnSpcReduction="20000"/>
          </a:bodyPr>
          <a:lstStyle/>
          <a:p>
            <a:pPr indent="0" lvl="0" marL="0" marR="0" rtl="0" algn="l">
              <a:lnSpc>
                <a:spcPct val="15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&lt;!DOCTYPE html&gt;</a:t>
            </a:r>
            <a:endParaRPr/>
          </a:p>
          <a:p>
            <a:pPr indent="0" lvl="0" marL="0" marR="0" rtl="0" algn="l">
              <a:lnSpc>
                <a:spcPct val="15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&lt;html&gt;</a:t>
            </a:r>
            <a:endParaRPr/>
          </a:p>
          <a:p>
            <a:pPr indent="0" lvl="0" marL="0" marR="0" rtl="0" algn="l">
              <a:lnSpc>
                <a:spcPct val="15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&lt;body&gt;</a:t>
            </a:r>
            <a:endParaRPr/>
          </a:p>
          <a:p>
            <a:pPr indent="0" lvl="0" marL="0" marR="0" rtl="0" algn="l">
              <a:lnSpc>
                <a:spcPct val="150000"/>
              </a:lnSpc>
              <a:spcBef>
                <a:spcPts val="0"/>
              </a:spcBef>
              <a:spcAft>
                <a:spcPts val="0"/>
              </a:spcAft>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&lt;svg width="100" height="100"&gt;</a:t>
            </a:r>
            <a:endParaRPr/>
          </a:p>
          <a:p>
            <a:pPr indent="0" lvl="0" marL="0" marR="0" rtl="0" algn="l">
              <a:lnSpc>
                <a:spcPct val="15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  &lt;circle cx="50" cy="50" r="40"</a:t>
            </a:r>
            <a:endParaRPr/>
          </a:p>
          <a:p>
            <a:pPr indent="0" lvl="0" marL="0" marR="0" rtl="0" algn="l">
              <a:lnSpc>
                <a:spcPct val="15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          stroke="green"</a:t>
            </a:r>
            <a:endParaRPr/>
          </a:p>
          <a:p>
            <a:pPr indent="0" lvl="0" marL="0" marR="0" rtl="0" algn="l">
              <a:lnSpc>
                <a:spcPct val="15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          stroke-width="4"</a:t>
            </a:r>
            <a:endParaRPr/>
          </a:p>
          <a:p>
            <a:pPr indent="0" lvl="0" marL="0" marR="0" rtl="0" algn="l">
              <a:lnSpc>
                <a:spcPct val="15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          fill="yellow" /&gt;</a:t>
            </a:r>
            <a:endParaRPr/>
          </a:p>
          <a:p>
            <a:pPr indent="0" lvl="0" marL="0" marR="0" rtl="0" algn="l">
              <a:lnSpc>
                <a:spcPct val="15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&lt;/svg&gt;</a:t>
            </a:r>
            <a:endParaRPr/>
          </a:p>
          <a:p>
            <a:pPr indent="0" lvl="0" marL="0" marR="0" rtl="0" algn="l">
              <a:lnSpc>
                <a:spcPct val="150000"/>
              </a:lnSpc>
              <a:spcBef>
                <a:spcPts val="0"/>
              </a:spcBef>
              <a:spcAft>
                <a:spcPts val="0"/>
              </a:spcAft>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&lt;/body&gt;</a:t>
            </a:r>
            <a:endParaRPr/>
          </a:p>
          <a:p>
            <a:pPr indent="0" lvl="0" marL="0" marR="0" rtl="0" algn="l">
              <a:lnSpc>
                <a:spcPct val="15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&lt;/html&gt;</a:t>
            </a:r>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575" name="Google Shape;575;p48"/>
          <p:cNvPicPr preferRelativeResize="0"/>
          <p:nvPr/>
        </p:nvPicPr>
        <p:blipFill rotWithShape="1">
          <a:blip r:embed="rId3">
            <a:alphaModFix/>
          </a:blip>
          <a:srcRect b="0" l="0" r="0" t="0"/>
          <a:stretch/>
        </p:blipFill>
        <p:spPr>
          <a:xfrm>
            <a:off x="11333408" y="68781"/>
            <a:ext cx="746975" cy="660699"/>
          </a:xfrm>
          <a:prstGeom prst="rect">
            <a:avLst/>
          </a:prstGeom>
          <a:noFill/>
          <a:ln cap="flat" cmpd="sng" w="9525">
            <a:solidFill>
              <a:srgbClr val="860000"/>
            </a:solidFill>
            <a:prstDash val="solid"/>
            <a:round/>
            <a:headEnd len="sm" w="sm" type="none"/>
            <a:tailEnd len="sm" w="sm" type="none"/>
          </a:ln>
        </p:spPr>
      </p:pic>
      <p:sp>
        <p:nvSpPr>
          <p:cNvPr id="576" name="Google Shape;576;p48"/>
          <p:cNvSpPr/>
          <p:nvPr/>
        </p:nvSpPr>
        <p:spPr>
          <a:xfrm>
            <a:off x="0" y="6564573"/>
            <a:ext cx="12192000" cy="293427"/>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7" name="Google Shape;577;p48"/>
          <p:cNvSpPr/>
          <p:nvPr/>
        </p:nvSpPr>
        <p:spPr>
          <a:xfrm>
            <a:off x="1" y="6359859"/>
            <a:ext cx="10276764" cy="19335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578" name="Google Shape;578;p48"/>
          <p:cNvPicPr preferRelativeResize="0"/>
          <p:nvPr/>
        </p:nvPicPr>
        <p:blipFill rotWithShape="1">
          <a:blip r:embed="rId4">
            <a:alphaModFix/>
          </a:blip>
          <a:srcRect b="0" l="0" r="0" t="0"/>
          <a:stretch/>
        </p:blipFill>
        <p:spPr>
          <a:xfrm>
            <a:off x="7991341" y="917865"/>
            <a:ext cx="3200400" cy="22860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49"/>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b="1" lang="en-US" sz="3600">
                <a:solidFill>
                  <a:srgbClr val="600000"/>
                </a:solidFill>
                <a:latin typeface="Times New Roman"/>
                <a:ea typeface="Times New Roman"/>
                <a:cs typeface="Times New Roman"/>
                <a:sym typeface="Times New Roman"/>
              </a:rPr>
              <a:t>HTML &lt;span&gt; Tag</a:t>
            </a:r>
            <a:endParaRPr b="1" sz="3600">
              <a:solidFill>
                <a:srgbClr val="600000"/>
              </a:solidFill>
              <a:latin typeface="Times New Roman"/>
              <a:ea typeface="Times New Roman"/>
              <a:cs typeface="Times New Roman"/>
              <a:sym typeface="Times New Roman"/>
            </a:endParaRPr>
          </a:p>
        </p:txBody>
      </p:sp>
      <p:pic>
        <p:nvPicPr>
          <p:cNvPr descr="C:\Users\GANGA\Desktop\download.jpg" id="584" name="Google Shape;584;p49"/>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585" name="Google Shape;585;p49"/>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6" name="Google Shape;586;p49"/>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7" name="Google Shape;587;p49"/>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lnSpcReduction="10000"/>
          </a:bodyPr>
          <a:lstStyle/>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A &lt;span&gt; element used to </a:t>
            </a:r>
            <a:r>
              <a:rPr b="0" i="0" lang="en-US" sz="2800" u="none" cap="none" strike="noStrike">
                <a:solidFill>
                  <a:srgbClr val="600000"/>
                </a:solidFill>
                <a:latin typeface="Times New Roman"/>
                <a:ea typeface="Times New Roman"/>
                <a:cs typeface="Times New Roman"/>
                <a:sym typeface="Times New Roman"/>
              </a:rPr>
              <a:t>color a part of a text</a:t>
            </a:r>
            <a:r>
              <a:rPr b="0" i="0" lang="en-US" sz="2800" u="none" cap="none" strike="noStrike">
                <a:solidFill>
                  <a:srgbClr val="003300"/>
                </a:solidFill>
                <a:latin typeface="Times New Roman"/>
                <a:ea typeface="Times New Roman"/>
                <a:cs typeface="Times New Roman"/>
                <a:sym typeface="Times New Roman"/>
              </a:rPr>
              <a:t>.</a:t>
            </a:r>
            <a:endParaRPr b="0" i="0" sz="2800" u="none" cap="none" strike="noStrike">
              <a:solidFill>
                <a:srgbClr val="003300"/>
              </a:solidFill>
              <a:latin typeface="Times New Roman"/>
              <a:ea typeface="Times New Roman"/>
              <a:cs typeface="Times New Roman"/>
              <a:sym typeface="Times New Roman"/>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&lt;span&gt; tag is used to group inline-elements in a document.</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&lt;span&gt; tag provides no visual change by itself.</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&lt;span&gt; tag is easily styled by CSS or manipulated with JavaScript using the class or id attribute.</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&lt;span&gt; tag is much like the &lt;div&gt; element, but </a:t>
            </a:r>
            <a:r>
              <a:rPr b="0" i="0" lang="en-US" sz="2800" u="none" cap="none" strike="noStrike">
                <a:solidFill>
                  <a:srgbClr val="600000"/>
                </a:solidFill>
                <a:latin typeface="Times New Roman"/>
                <a:ea typeface="Times New Roman"/>
                <a:cs typeface="Times New Roman"/>
                <a:sym typeface="Times New Roman"/>
              </a:rPr>
              <a:t>&lt;div&gt; is a block-level element</a:t>
            </a:r>
            <a:r>
              <a:rPr b="0" i="0" lang="en-US" sz="2800" u="none" cap="none" strike="noStrike">
                <a:solidFill>
                  <a:srgbClr val="003300"/>
                </a:solidFill>
                <a:latin typeface="Times New Roman"/>
                <a:ea typeface="Times New Roman"/>
                <a:cs typeface="Times New Roman"/>
                <a:sym typeface="Times New Roman"/>
              </a:rPr>
              <a:t> and </a:t>
            </a:r>
            <a:r>
              <a:rPr b="0" i="0" lang="en-US" sz="2800" u="none" cap="none" strike="noStrike">
                <a:solidFill>
                  <a:srgbClr val="600000"/>
                </a:solidFill>
                <a:latin typeface="Times New Roman"/>
                <a:ea typeface="Times New Roman"/>
                <a:cs typeface="Times New Roman"/>
                <a:sym typeface="Times New Roman"/>
              </a:rPr>
              <a:t>&lt;span&gt; is an inline element</a:t>
            </a:r>
            <a:r>
              <a:rPr b="0" i="0" lang="en-US" sz="2800" u="none" cap="none" strike="noStrike">
                <a:solidFill>
                  <a:srgbClr val="0033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50"/>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Calibri"/>
              <a:buNone/>
            </a:pPr>
            <a:r>
              <a:rPr b="1" lang="en-US" sz="3600">
                <a:solidFill>
                  <a:srgbClr val="860000"/>
                </a:solidFill>
                <a:latin typeface="Marcellus"/>
                <a:ea typeface="Marcellus"/>
                <a:cs typeface="Marcellus"/>
                <a:sym typeface="Marcellus"/>
              </a:rPr>
              <a:t>SPAN TAG </a:t>
            </a:r>
            <a:endParaRPr b="1" sz="3600">
              <a:solidFill>
                <a:srgbClr val="860000"/>
              </a:solidFill>
              <a:latin typeface="Marcellus"/>
              <a:ea typeface="Marcellus"/>
              <a:cs typeface="Marcellus"/>
              <a:sym typeface="Marcellus"/>
            </a:endParaRPr>
          </a:p>
        </p:txBody>
      </p:sp>
      <p:pic>
        <p:nvPicPr>
          <p:cNvPr descr="C:\Users\GANGA\Desktop\download.jpg" id="593" name="Google Shape;593;p50"/>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594" name="Google Shape;594;p50"/>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5" name="Google Shape;595;p50"/>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6" name="Google Shape;596;p50"/>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77500" lnSpcReduction="20000"/>
          </a:bodyPr>
          <a:lstStyle/>
          <a:p>
            <a:pPr indent="0" lvl="0" marL="0" marR="0" rtl="0" algn="l">
              <a:lnSpc>
                <a:spcPct val="10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&lt;!DOCTYPE html&gt;</a:t>
            </a:r>
            <a:endParaRPr/>
          </a:p>
          <a:p>
            <a:pPr indent="0" lvl="0" marL="0" marR="0" rtl="0" algn="l">
              <a:lnSpc>
                <a:spcPct val="10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&lt;html&gt;</a:t>
            </a:r>
            <a:endParaRPr/>
          </a:p>
          <a:p>
            <a:pPr indent="0" lvl="0" marL="0" marR="0" rtl="0" algn="l">
              <a:lnSpc>
                <a:spcPct val="10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&lt;head&gt;</a:t>
            </a:r>
            <a:endParaRPr/>
          </a:p>
          <a:p>
            <a:pPr indent="0" lvl="0" marL="0" marR="0" rtl="0" algn="l">
              <a:lnSpc>
                <a:spcPct val="10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&lt;title&gt;Span Tag&lt;/title&gt;</a:t>
            </a:r>
            <a:endParaRPr/>
          </a:p>
          <a:p>
            <a:pPr indent="0" lvl="0" marL="0" marR="0" rtl="0" algn="l">
              <a:lnSpc>
                <a:spcPct val="10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&lt;/head&gt;</a:t>
            </a:r>
            <a:endParaRPr/>
          </a:p>
          <a:p>
            <a:pPr indent="0" lvl="0" marL="0" marR="0" rtl="0" algn="l">
              <a:lnSpc>
                <a:spcPct val="100000"/>
              </a:lnSpc>
              <a:spcBef>
                <a:spcPts val="0"/>
              </a:spcBef>
              <a:spcAft>
                <a:spcPts val="0"/>
              </a:spcAft>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&lt;body&gt;</a:t>
            </a:r>
            <a:endParaRPr/>
          </a:p>
          <a:p>
            <a:pPr indent="0" lvl="0" marL="0" marR="0" rtl="0" algn="l">
              <a:lnSpc>
                <a:spcPct val="100000"/>
              </a:lnSpc>
              <a:spcBef>
                <a:spcPts val="0"/>
              </a:spcBef>
              <a:spcAft>
                <a:spcPts val="0"/>
              </a:spcAft>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&lt;h2&gt;Example of span tag&lt;/h2&gt;</a:t>
            </a:r>
            <a:endParaRPr/>
          </a:p>
          <a:p>
            <a:pPr indent="0" lvl="0" marL="0" marR="0" rtl="0" algn="l">
              <a:lnSpc>
                <a:spcPct val="100000"/>
              </a:lnSpc>
              <a:spcBef>
                <a:spcPts val="0"/>
              </a:spcBef>
              <a:spcAft>
                <a:spcPts val="0"/>
              </a:spcAft>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&lt;p&gt;</a:t>
            </a:r>
            <a:endParaRPr/>
          </a:p>
          <a:p>
            <a:pPr indent="0" lvl="0" marL="0" marR="0" rtl="0" algn="l">
              <a:lnSpc>
                <a:spcPct val="10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I have chosen only</a:t>
            </a:r>
            <a:endParaRPr/>
          </a:p>
          <a:p>
            <a:pPr indent="0" lvl="0" marL="0" marR="0" rtl="0" algn="l">
              <a:lnSpc>
                <a:spcPct val="10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&lt;span style="color:red;"&gt;red&lt;/span&gt;,</a:t>
            </a:r>
            <a:endParaRPr/>
          </a:p>
          <a:p>
            <a:pPr indent="0" lvl="0" marL="0" marR="0" rtl="0" algn="l">
              <a:lnSpc>
                <a:spcPct val="10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&lt;span style="color:blue;"&gt;blue&lt;/span&gt;, and</a:t>
            </a:r>
            <a:endParaRPr/>
          </a:p>
          <a:p>
            <a:pPr indent="0" lvl="0" marL="0" marR="0" rtl="0" algn="l">
              <a:lnSpc>
                <a:spcPct val="10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&lt;span style="color:green;"&gt;green&lt;/span&gt;</a:t>
            </a:r>
            <a:endParaRPr/>
          </a:p>
          <a:p>
            <a:pPr indent="0" lvl="0" marL="0" marR="0" rtl="0" algn="l">
              <a:lnSpc>
                <a:spcPct val="10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colors for my painting.</a:t>
            </a:r>
            <a:endParaRPr/>
          </a:p>
          <a:p>
            <a:pPr indent="0" lvl="0" marL="0" marR="0" rtl="0" algn="l">
              <a:lnSpc>
                <a:spcPct val="10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&lt;/p&gt;</a:t>
            </a:r>
            <a:endParaRPr/>
          </a:p>
          <a:p>
            <a:pPr indent="0" lvl="0" marL="0" marR="0" rtl="0" algn="l">
              <a:lnSpc>
                <a:spcPct val="100000"/>
              </a:lnSpc>
              <a:spcBef>
                <a:spcPts val="0"/>
              </a:spcBef>
              <a:spcAft>
                <a:spcPts val="0"/>
              </a:spcAft>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&lt;/body&gt;</a:t>
            </a:r>
            <a:endParaRPr/>
          </a:p>
          <a:p>
            <a:pPr indent="0" lvl="0" marL="0" marR="0" rtl="0" algn="l">
              <a:lnSpc>
                <a:spcPct val="10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&lt;/html&gt;</a:t>
            </a:r>
            <a:endParaRPr b="0" i="0" sz="2800" u="none" cap="none" strike="noStrike">
              <a:solidFill>
                <a:schemeClr val="dk1"/>
              </a:solidFill>
              <a:latin typeface="Times New Roman"/>
              <a:ea typeface="Times New Roman"/>
              <a:cs typeface="Times New Roman"/>
              <a:sym typeface="Times New Roman"/>
            </a:endParaRPr>
          </a:p>
        </p:txBody>
      </p:sp>
      <p:pic>
        <p:nvPicPr>
          <p:cNvPr id="597" name="Google Shape;597;p50"/>
          <p:cNvPicPr preferRelativeResize="0"/>
          <p:nvPr/>
        </p:nvPicPr>
        <p:blipFill rotWithShape="1">
          <a:blip r:embed="rId4">
            <a:alphaModFix/>
          </a:blip>
          <a:srcRect b="0" l="0" r="0" t="0"/>
          <a:stretch/>
        </p:blipFill>
        <p:spPr>
          <a:xfrm>
            <a:off x="7245928" y="1018309"/>
            <a:ext cx="4537363" cy="2474868"/>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51"/>
          <p:cNvSpPr txBox="1"/>
          <p:nvPr/>
        </p:nvSpPr>
        <p:spPr>
          <a:xfrm>
            <a:off x="163772" y="204716"/>
            <a:ext cx="10781732"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Tag &lt;div&gt; </a:t>
            </a:r>
            <a:endParaRPr b="1" i="0" sz="3600" u="none" cap="none" strike="noStrike">
              <a:solidFill>
                <a:srgbClr val="600000"/>
              </a:solidFill>
              <a:latin typeface="Times New Roman"/>
              <a:ea typeface="Times New Roman"/>
              <a:cs typeface="Times New Roman"/>
              <a:sym typeface="Times New Roman"/>
            </a:endParaRPr>
          </a:p>
        </p:txBody>
      </p:sp>
      <p:sp>
        <p:nvSpPr>
          <p:cNvPr id="603" name="Google Shape;603;p51"/>
          <p:cNvSpPr txBox="1"/>
          <p:nvPr/>
        </p:nvSpPr>
        <p:spPr>
          <a:xfrm>
            <a:off x="163772" y="1017732"/>
            <a:ext cx="10781731" cy="567928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a:t>
            </a:r>
            <a:r>
              <a:rPr b="0" i="0" lang="en-US" sz="2800" u="none" cap="none" strike="noStrike">
                <a:solidFill>
                  <a:srgbClr val="600000"/>
                </a:solidFill>
                <a:latin typeface="Times New Roman"/>
                <a:ea typeface="Times New Roman"/>
                <a:cs typeface="Times New Roman"/>
                <a:sym typeface="Times New Roman"/>
              </a:rPr>
              <a:t>&lt;div&gt; tag </a:t>
            </a:r>
            <a:r>
              <a:rPr b="0" i="0" lang="en-US" sz="2800" u="none" cap="none" strike="noStrike">
                <a:solidFill>
                  <a:srgbClr val="003300"/>
                </a:solidFill>
                <a:latin typeface="Times New Roman"/>
                <a:ea typeface="Times New Roman"/>
                <a:cs typeface="Times New Roman"/>
                <a:sym typeface="Times New Roman"/>
              </a:rPr>
              <a:t>defines a </a:t>
            </a:r>
            <a:r>
              <a:rPr b="0" i="0" lang="en-US" sz="2800" u="none" cap="none" strike="noStrike">
                <a:solidFill>
                  <a:srgbClr val="600000"/>
                </a:solidFill>
                <a:latin typeface="Times New Roman"/>
                <a:ea typeface="Times New Roman"/>
                <a:cs typeface="Times New Roman"/>
                <a:sym typeface="Times New Roman"/>
              </a:rPr>
              <a:t>division or a section</a:t>
            </a:r>
            <a:r>
              <a:rPr b="0" i="0" lang="en-US" sz="2800" u="none" cap="none" strike="noStrike">
                <a:solidFill>
                  <a:srgbClr val="003300"/>
                </a:solidFill>
                <a:latin typeface="Times New Roman"/>
                <a:ea typeface="Times New Roman"/>
                <a:cs typeface="Times New Roman"/>
                <a:sym typeface="Times New Roman"/>
              </a:rPr>
              <a:t> in an HTML document.</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&lt;div&gt; element is often used as a container for other HTML elements to style them with CSS or to perform certain tasks with JavaScript.</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By default, browsers always place a line break before and after the &lt;div&gt; element.</a:t>
            </a:r>
            <a:endParaRPr b="0" i="0" sz="2800" u="none" cap="none" strike="noStrike">
              <a:solidFill>
                <a:srgbClr val="003300"/>
              </a:solidFill>
              <a:latin typeface="Times New Roman"/>
              <a:ea typeface="Times New Roman"/>
              <a:cs typeface="Times New Roman"/>
              <a:sym typeface="Times New Roman"/>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604" name="Google Shape;604;p51"/>
          <p:cNvSpPr/>
          <p:nvPr/>
        </p:nvSpPr>
        <p:spPr>
          <a:xfrm>
            <a:off x="11191167" y="0"/>
            <a:ext cx="259311" cy="551369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5" name="Google Shape;605;p51"/>
          <p:cNvSpPr/>
          <p:nvPr/>
        </p:nvSpPr>
        <p:spPr>
          <a:xfrm>
            <a:off x="11450472" y="0"/>
            <a:ext cx="741528" cy="5882183"/>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606" name="Google Shape;606;p51"/>
          <p:cNvPicPr preferRelativeResize="0"/>
          <p:nvPr/>
        </p:nvPicPr>
        <p:blipFill rotWithShape="1">
          <a:blip r:embed="rId3">
            <a:alphaModFix/>
          </a:blip>
          <a:srcRect b="0" l="0" r="0" t="0"/>
          <a:stretch/>
        </p:blipFill>
        <p:spPr>
          <a:xfrm>
            <a:off x="11191166" y="5915467"/>
            <a:ext cx="1000833" cy="915237"/>
          </a:xfrm>
          <a:prstGeom prst="rect">
            <a:avLst/>
          </a:prstGeom>
          <a:noFill/>
          <a:ln cap="flat" cmpd="sng" w="9525">
            <a:solidFill>
              <a:srgbClr val="860000"/>
            </a:solidFill>
            <a:prstDash val="solid"/>
            <a:round/>
            <a:headEnd len="sm" w="sm" type="none"/>
            <a:tailEnd len="sm" w="sm" type="none"/>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52"/>
          <p:cNvSpPr txBox="1"/>
          <p:nvPr/>
        </p:nvSpPr>
        <p:spPr>
          <a:xfrm>
            <a:off x="163772" y="204716"/>
            <a:ext cx="11136574"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Tag &lt;div&gt; </a:t>
            </a:r>
            <a:endParaRPr b="1" i="0" sz="3600" u="none" cap="none" strike="noStrike">
              <a:solidFill>
                <a:srgbClr val="600000"/>
              </a:solidFill>
              <a:latin typeface="Times New Roman"/>
              <a:ea typeface="Times New Roman"/>
              <a:cs typeface="Times New Roman"/>
              <a:sym typeface="Times New Roman"/>
            </a:endParaRPr>
          </a:p>
        </p:txBody>
      </p:sp>
      <p:sp>
        <p:nvSpPr>
          <p:cNvPr id="612" name="Google Shape;612;p52"/>
          <p:cNvSpPr txBox="1"/>
          <p:nvPr/>
        </p:nvSpPr>
        <p:spPr>
          <a:xfrm>
            <a:off x="163772" y="1017733"/>
            <a:ext cx="11122927" cy="5073974"/>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3300"/>
                </a:solidFill>
                <a:latin typeface="Times New Roman"/>
                <a:ea typeface="Times New Roman"/>
                <a:cs typeface="Times New Roman"/>
                <a:sym typeface="Times New Roman"/>
              </a:rPr>
              <a:t>&lt;head&gt;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3300"/>
                </a:solidFill>
                <a:latin typeface="Times New Roman"/>
                <a:ea typeface="Times New Roman"/>
                <a:cs typeface="Times New Roman"/>
                <a:sym typeface="Times New Roman"/>
              </a:rPr>
              <a:t>&lt;style&gt;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3300"/>
                </a:solidFill>
                <a:latin typeface="Times New Roman"/>
                <a:ea typeface="Times New Roman"/>
                <a:cs typeface="Times New Roman"/>
                <a:sym typeface="Times New Roman"/>
              </a:rPr>
              <a:t>div.ex1 {  width:500px;   margin: auto;   border: 3px solid #73AD21;  }</a:t>
            </a:r>
            <a:endParaRPr b="0" i="0" sz="2000" u="none" cap="none" strike="noStrike">
              <a:solidFill>
                <a:srgbClr val="0033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3300"/>
                </a:solidFill>
                <a:latin typeface="Times New Roman"/>
                <a:ea typeface="Times New Roman"/>
                <a:cs typeface="Times New Roman"/>
                <a:sym typeface="Times New Roman"/>
              </a:rPr>
              <a:t>div.ex2 { max-width:500px;  margin: auto;  border: 3px solid #73AD21;}</a:t>
            </a:r>
            <a:endParaRPr b="0" i="0" sz="2000" u="none" cap="none" strike="noStrike">
              <a:solidFill>
                <a:srgbClr val="0033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3300"/>
                </a:solidFill>
                <a:latin typeface="Times New Roman"/>
                <a:ea typeface="Times New Roman"/>
                <a:cs typeface="Times New Roman"/>
                <a:sym typeface="Times New Roman"/>
              </a:rPr>
              <a:t>&lt;/style&gt;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3300"/>
                </a:solidFill>
                <a:latin typeface="Times New Roman"/>
                <a:ea typeface="Times New Roman"/>
                <a:cs typeface="Times New Roman"/>
                <a:sym typeface="Times New Roman"/>
              </a:rPr>
              <a:t>&lt;/head&gt;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3300"/>
                </a:solidFill>
                <a:latin typeface="Times New Roman"/>
                <a:ea typeface="Times New Roman"/>
                <a:cs typeface="Times New Roman"/>
                <a:sym typeface="Times New Roman"/>
              </a:rPr>
              <a:t>&lt;body&gt;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3300"/>
                </a:solidFill>
                <a:latin typeface="Times New Roman"/>
                <a:ea typeface="Times New Roman"/>
                <a:cs typeface="Times New Roman"/>
                <a:sym typeface="Times New Roman"/>
              </a:rPr>
              <a:t>&lt;div class="ex1"&gt;This div element has width: 500px;&lt;/div&gt;&lt;br&gt;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3300"/>
                </a:solidFill>
                <a:latin typeface="Times New Roman"/>
                <a:ea typeface="Times New Roman"/>
                <a:cs typeface="Times New Roman"/>
                <a:sym typeface="Times New Roman"/>
              </a:rPr>
              <a:t>&lt;div class="ex2"&gt;This div element has max-width: 500px;&lt;/div&gt;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3300"/>
                </a:solidFill>
                <a:latin typeface="Times New Roman"/>
                <a:ea typeface="Times New Roman"/>
                <a:cs typeface="Times New Roman"/>
                <a:sym typeface="Times New Roman"/>
              </a:rPr>
              <a:t>&lt;p&gt;&lt;strong&gt;Tip:&lt;/strong&gt; Drag the browser window to smaller than 500px wide, to see the difference between the two divs!&lt;/p&gt;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3300"/>
                </a:solidFill>
                <a:latin typeface="Times New Roman"/>
                <a:ea typeface="Times New Roman"/>
                <a:cs typeface="Times New Roman"/>
                <a:sym typeface="Times New Roman"/>
              </a:rPr>
              <a:t>&lt;/body&gt;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228600" lvl="0" marL="228600" marR="0" rtl="0" algn="just">
              <a:lnSpc>
                <a:spcPct val="100000"/>
              </a:lnSpc>
              <a:spcBef>
                <a:spcPts val="100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sp>
        <p:nvSpPr>
          <p:cNvPr id="613" name="Google Shape;613;p52"/>
          <p:cNvSpPr/>
          <p:nvPr/>
        </p:nvSpPr>
        <p:spPr>
          <a:xfrm>
            <a:off x="11477767" y="0"/>
            <a:ext cx="714233" cy="68580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614" name="Google Shape;614;p52"/>
          <p:cNvPicPr preferRelativeResize="0"/>
          <p:nvPr/>
        </p:nvPicPr>
        <p:blipFill rotWithShape="1">
          <a:blip r:embed="rId3">
            <a:alphaModFix/>
          </a:blip>
          <a:srcRect b="0" l="0" r="0" t="0"/>
          <a:stretch/>
        </p:blipFill>
        <p:spPr>
          <a:xfrm>
            <a:off x="163772" y="6209730"/>
            <a:ext cx="778199" cy="593679"/>
          </a:xfrm>
          <a:prstGeom prst="rect">
            <a:avLst/>
          </a:prstGeom>
          <a:noFill/>
          <a:ln cap="flat" cmpd="sng" w="9525">
            <a:solidFill>
              <a:srgbClr val="860000"/>
            </a:solidFill>
            <a:prstDash val="solid"/>
            <a:round/>
            <a:headEnd len="sm" w="sm" type="none"/>
            <a:tailEnd len="sm" w="sm" type="none"/>
          </a:ln>
        </p:spPr>
      </p:pic>
      <p:sp>
        <p:nvSpPr>
          <p:cNvPr id="615" name="Google Shape;615;p52"/>
          <p:cNvSpPr/>
          <p:nvPr/>
        </p:nvSpPr>
        <p:spPr>
          <a:xfrm>
            <a:off x="3346973" y="6209731"/>
            <a:ext cx="8144442" cy="648269"/>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6" name="Google Shape;616;p52"/>
          <p:cNvSpPr/>
          <p:nvPr/>
        </p:nvSpPr>
        <p:spPr>
          <a:xfrm>
            <a:off x="2646389" y="6209730"/>
            <a:ext cx="700584" cy="64827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617" name="Google Shape;617;p52"/>
          <p:cNvPicPr preferRelativeResize="0"/>
          <p:nvPr/>
        </p:nvPicPr>
        <p:blipFill rotWithShape="1">
          <a:blip r:embed="rId4">
            <a:alphaModFix/>
          </a:blip>
          <a:srcRect b="0" l="0" r="0" t="0"/>
          <a:stretch/>
        </p:blipFill>
        <p:spPr>
          <a:xfrm>
            <a:off x="7735613" y="1755228"/>
            <a:ext cx="3436883" cy="26170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53"/>
          <p:cNvSpPr txBox="1"/>
          <p:nvPr/>
        </p:nvSpPr>
        <p:spPr>
          <a:xfrm>
            <a:off x="163771" y="204716"/>
            <a:ext cx="11778019"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What is Multimedia?</a:t>
            </a:r>
            <a:endParaRPr b="1" i="0" sz="3600" u="none" cap="none" strike="noStrike">
              <a:solidFill>
                <a:srgbClr val="600000"/>
              </a:solidFill>
              <a:latin typeface="Times New Roman"/>
              <a:ea typeface="Times New Roman"/>
              <a:cs typeface="Times New Roman"/>
              <a:sym typeface="Times New Roman"/>
            </a:endParaRPr>
          </a:p>
        </p:txBody>
      </p:sp>
      <p:sp>
        <p:nvSpPr>
          <p:cNvPr id="623" name="Google Shape;623;p53"/>
          <p:cNvSpPr txBox="1"/>
          <p:nvPr/>
        </p:nvSpPr>
        <p:spPr>
          <a:xfrm>
            <a:off x="163772" y="979096"/>
            <a:ext cx="11764371" cy="5225185"/>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457200" lvl="0" marL="457200" marR="0" rtl="0" algn="just">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Multimedia comes in many different formats. It can be almost anything you can hear or see.</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600000"/>
              </a:buClr>
              <a:buSzPts val="2800"/>
              <a:buFont typeface="Noto Sans Symbols"/>
              <a:buChar char="⮚"/>
            </a:pPr>
            <a:r>
              <a:rPr b="0" i="0" lang="en-US" sz="2800" u="none" cap="none" strike="noStrike">
                <a:solidFill>
                  <a:srgbClr val="600000"/>
                </a:solidFill>
                <a:latin typeface="Times New Roman"/>
                <a:ea typeface="Times New Roman"/>
                <a:cs typeface="Times New Roman"/>
                <a:sym typeface="Times New Roman"/>
              </a:rPr>
              <a:t>Examples: Images, music, sound, videos, records, films, animations, and more.</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2800"/>
              <a:buFont typeface="Arial"/>
              <a:buNone/>
            </a:pPr>
            <a:r>
              <a:rPr b="1" i="0" lang="en-US" sz="2800" u="none" cap="none" strike="noStrike">
                <a:solidFill>
                  <a:srgbClr val="600000"/>
                </a:solidFill>
                <a:latin typeface="Times New Roman"/>
                <a:ea typeface="Times New Roman"/>
                <a:cs typeface="Times New Roman"/>
                <a:sym typeface="Times New Roman"/>
              </a:rPr>
              <a:t>Multimedia Formats</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Multimedia elements (like audio or video) are stored in media files.</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Multimedia files have formats and different extensions like: .swf, .wav, .mp3, .mp4, .mpg, .wmv, and .avi</a:t>
            </a:r>
            <a:r>
              <a:rPr b="0" i="0" lang="en-US" sz="2800" u="none" cap="none" strike="noStrike">
                <a:solidFill>
                  <a:schemeClr val="dk1"/>
                </a:solidFill>
                <a:latin typeface="Calibri"/>
                <a:ea typeface="Calibri"/>
                <a:cs typeface="Calibri"/>
                <a:sym typeface="Calibri"/>
              </a:rPr>
              <a:t>.</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624" name="Google Shape;624;p53"/>
          <p:cNvPicPr preferRelativeResize="0"/>
          <p:nvPr/>
        </p:nvPicPr>
        <p:blipFill rotWithShape="1">
          <a:blip r:embed="rId3">
            <a:alphaModFix/>
          </a:blip>
          <a:srcRect b="0" l="0" r="0" t="0"/>
          <a:stretch/>
        </p:blipFill>
        <p:spPr>
          <a:xfrm>
            <a:off x="11305780" y="6242918"/>
            <a:ext cx="622363" cy="615082"/>
          </a:xfrm>
          <a:prstGeom prst="rect">
            <a:avLst/>
          </a:prstGeom>
          <a:noFill/>
          <a:ln cap="flat" cmpd="sng" w="9525">
            <a:solidFill>
              <a:srgbClr val="860000"/>
            </a:solidFill>
            <a:prstDash val="solid"/>
            <a:round/>
            <a:headEnd len="sm" w="sm" type="none"/>
            <a:tailEnd len="sm" w="sm" type="none"/>
          </a:ln>
        </p:spPr>
      </p:pic>
      <p:sp>
        <p:nvSpPr>
          <p:cNvPr id="625" name="Google Shape;625;p53"/>
          <p:cNvSpPr/>
          <p:nvPr/>
        </p:nvSpPr>
        <p:spPr>
          <a:xfrm>
            <a:off x="0" y="6553209"/>
            <a:ext cx="11305780" cy="304791"/>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6" name="Google Shape;626;p53"/>
          <p:cNvSpPr/>
          <p:nvPr/>
        </p:nvSpPr>
        <p:spPr>
          <a:xfrm>
            <a:off x="1" y="6336406"/>
            <a:ext cx="10683416" cy="216803"/>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54"/>
          <p:cNvSpPr txBox="1"/>
          <p:nvPr/>
        </p:nvSpPr>
        <p:spPr>
          <a:xfrm>
            <a:off x="68236" y="43974"/>
            <a:ext cx="11123505"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What is Multimedia?</a:t>
            </a:r>
            <a:endParaRPr b="1" i="0" sz="3600" u="none" cap="none" strike="noStrike">
              <a:solidFill>
                <a:srgbClr val="600000"/>
              </a:solidFill>
              <a:latin typeface="Times New Roman"/>
              <a:ea typeface="Times New Roman"/>
              <a:cs typeface="Times New Roman"/>
              <a:sym typeface="Times New Roman"/>
            </a:endParaRPr>
          </a:p>
        </p:txBody>
      </p:sp>
      <p:sp>
        <p:nvSpPr>
          <p:cNvPr id="632" name="Google Shape;632;p54"/>
          <p:cNvSpPr txBox="1"/>
          <p:nvPr/>
        </p:nvSpPr>
        <p:spPr>
          <a:xfrm>
            <a:off x="68236" y="811369"/>
            <a:ext cx="12012147" cy="546660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just">
              <a:lnSpc>
                <a:spcPct val="150000"/>
              </a:lnSpc>
              <a:spcBef>
                <a:spcPts val="0"/>
              </a:spcBef>
              <a:spcAft>
                <a:spcPts val="0"/>
              </a:spcAft>
              <a:buClr>
                <a:srgbClr val="000000"/>
              </a:buClr>
              <a:buSzPts val="2000"/>
              <a:buFont typeface="Arial"/>
              <a:buNone/>
            </a:pPr>
            <a:r>
              <a:rPr b="1" i="0" lang="en-US" sz="2000" u="none" cap="none" strike="noStrike">
                <a:solidFill>
                  <a:srgbClr val="600000"/>
                </a:solidFill>
                <a:latin typeface="Times New Roman"/>
                <a:ea typeface="Times New Roman"/>
                <a:cs typeface="Times New Roman"/>
                <a:sym typeface="Times New Roman"/>
              </a:rPr>
              <a:t>Playing Videos in HTML</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&lt;</a:t>
            </a:r>
            <a:r>
              <a:rPr b="0" i="0" lang="en-US" sz="2000" u="none" cap="none" strike="noStrike">
                <a:solidFill>
                  <a:srgbClr val="003300"/>
                </a:solidFill>
                <a:latin typeface="Times New Roman"/>
                <a:ea typeface="Times New Roman"/>
                <a:cs typeface="Times New Roman"/>
                <a:sym typeface="Times New Roman"/>
              </a:rPr>
              <a:t>video width="320" height="240" controls&gt;</a:t>
            </a:r>
            <a:endParaRPr b="0" i="0" sz="2000" u="none" cap="none" strike="noStrike">
              <a:solidFill>
                <a:srgbClr val="003300"/>
              </a:solidFill>
              <a:latin typeface="Times New Roman"/>
              <a:ea typeface="Times New Roman"/>
              <a:cs typeface="Times New Roman"/>
              <a:sym typeface="Times New Roman"/>
            </a:endParaRPr>
          </a:p>
          <a:p>
            <a:pPr indent="-228600" lvl="0" marL="228600" marR="0" rtl="0" algn="just">
              <a:lnSpc>
                <a:spcPct val="150000"/>
              </a:lnSpc>
              <a:spcBef>
                <a:spcPts val="1000"/>
              </a:spcBef>
              <a:spcAft>
                <a:spcPts val="0"/>
              </a:spcAft>
              <a:buNone/>
            </a:pPr>
            <a:r>
              <a:rPr b="0" i="0" lang="en-US" sz="2000" u="none" cap="none" strike="noStrike">
                <a:solidFill>
                  <a:srgbClr val="003300"/>
                </a:solidFill>
                <a:latin typeface="Times New Roman"/>
                <a:ea typeface="Times New Roman"/>
                <a:cs typeface="Times New Roman"/>
                <a:sym typeface="Times New Roman"/>
              </a:rPr>
              <a:t>  		&lt;source src="file_example_MP4_480_1_5MG" type="video/mp4"&gt;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000"/>
              <a:buFont typeface="Arial"/>
              <a:buNone/>
            </a:pPr>
            <a:r>
              <a:rPr b="0" i="0" lang="en-US" sz="2000" u="none" cap="none" strike="noStrike">
                <a:solidFill>
                  <a:srgbClr val="003300"/>
                </a:solidFill>
                <a:latin typeface="Times New Roman"/>
                <a:ea typeface="Times New Roman"/>
                <a:cs typeface="Times New Roman"/>
                <a:sym typeface="Times New Roman"/>
              </a:rPr>
              <a:t>&lt;/video&gt;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000"/>
              <a:buFont typeface="Arial"/>
              <a:buNone/>
            </a:pPr>
            <a:r>
              <a:rPr b="1" i="0" lang="en-US" sz="2000" u="none" cap="none" strike="noStrike">
                <a:solidFill>
                  <a:srgbClr val="600000"/>
                </a:solidFill>
                <a:latin typeface="Times New Roman"/>
                <a:ea typeface="Times New Roman"/>
                <a:cs typeface="Times New Roman"/>
                <a:sym typeface="Times New Roman"/>
              </a:rPr>
              <a:t>Playing audios in HTML</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100"/>
              <a:buFont typeface="Arial"/>
              <a:buNone/>
            </a:pPr>
            <a:r>
              <a:rPr b="0" i="0" lang="en-US" sz="2100" u="none" cap="none" strike="noStrike">
                <a:solidFill>
                  <a:srgbClr val="003300"/>
                </a:solidFill>
                <a:latin typeface="Times New Roman"/>
                <a:ea typeface="Times New Roman"/>
                <a:cs typeface="Times New Roman"/>
                <a:sym typeface="Times New Roman"/>
              </a:rPr>
              <a:t>&lt;audio controls&gt;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100"/>
              <a:buFont typeface="Arial"/>
              <a:buNone/>
            </a:pPr>
            <a:r>
              <a:rPr b="0" i="0" lang="en-US" sz="2100" u="none" cap="none" strike="noStrike">
                <a:solidFill>
                  <a:srgbClr val="003300"/>
                </a:solidFill>
                <a:latin typeface="Times New Roman"/>
                <a:ea typeface="Times New Roman"/>
                <a:cs typeface="Times New Roman"/>
                <a:sym typeface="Times New Roman"/>
              </a:rPr>
              <a:t>  &lt;source src="horse.ogg" type="audio/ogg"&gt;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100"/>
              <a:buFont typeface="Arial"/>
              <a:buNone/>
            </a:pPr>
            <a:r>
              <a:rPr b="0" i="0" lang="en-US" sz="2100" u="none" cap="none" strike="noStrike">
                <a:solidFill>
                  <a:srgbClr val="003300"/>
                </a:solidFill>
                <a:latin typeface="Times New Roman"/>
                <a:ea typeface="Times New Roman"/>
                <a:cs typeface="Times New Roman"/>
                <a:sym typeface="Times New Roman"/>
              </a:rPr>
              <a:t>&lt;/audio&gt;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000"/>
              <a:buFont typeface="Arial"/>
              <a:buNone/>
            </a:pPr>
            <a:r>
              <a:t/>
            </a:r>
            <a:endParaRPr b="0" i="0" sz="2000" u="none" cap="none" strike="noStrike">
              <a:solidFill>
                <a:srgbClr val="003300"/>
              </a:solidFill>
              <a:latin typeface="Times New Roman"/>
              <a:ea typeface="Times New Roman"/>
              <a:cs typeface="Times New Roman"/>
              <a:sym typeface="Times New Roman"/>
            </a:endParaRPr>
          </a:p>
        </p:txBody>
      </p:sp>
      <p:pic>
        <p:nvPicPr>
          <p:cNvPr descr="C:\Users\GANGA\Desktop\download.jpg" id="633" name="Google Shape;633;p54"/>
          <p:cNvPicPr preferRelativeResize="0"/>
          <p:nvPr/>
        </p:nvPicPr>
        <p:blipFill rotWithShape="1">
          <a:blip r:embed="rId3">
            <a:alphaModFix/>
          </a:blip>
          <a:srcRect b="0" l="0" r="0" t="0"/>
          <a:stretch/>
        </p:blipFill>
        <p:spPr>
          <a:xfrm>
            <a:off x="11333408" y="68781"/>
            <a:ext cx="746975" cy="660699"/>
          </a:xfrm>
          <a:prstGeom prst="rect">
            <a:avLst/>
          </a:prstGeom>
          <a:noFill/>
          <a:ln cap="flat" cmpd="sng" w="9525">
            <a:solidFill>
              <a:srgbClr val="860000"/>
            </a:solidFill>
            <a:prstDash val="solid"/>
            <a:round/>
            <a:headEnd len="sm" w="sm" type="none"/>
            <a:tailEnd len="sm" w="sm" type="none"/>
          </a:ln>
        </p:spPr>
      </p:pic>
      <p:sp>
        <p:nvSpPr>
          <p:cNvPr id="634" name="Google Shape;634;p54"/>
          <p:cNvSpPr/>
          <p:nvPr/>
        </p:nvSpPr>
        <p:spPr>
          <a:xfrm>
            <a:off x="0" y="6564573"/>
            <a:ext cx="12192000" cy="293427"/>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5" name="Google Shape;635;p54"/>
          <p:cNvSpPr/>
          <p:nvPr/>
        </p:nvSpPr>
        <p:spPr>
          <a:xfrm>
            <a:off x="1" y="6359859"/>
            <a:ext cx="10276764" cy="19335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636" name="Google Shape;636;p54"/>
          <p:cNvPicPr preferRelativeResize="0"/>
          <p:nvPr/>
        </p:nvPicPr>
        <p:blipFill rotWithShape="1">
          <a:blip r:embed="rId4">
            <a:alphaModFix/>
          </a:blip>
          <a:srcRect b="0" l="0" r="0" t="0"/>
          <a:stretch/>
        </p:blipFill>
        <p:spPr>
          <a:xfrm>
            <a:off x="7470198" y="4340369"/>
            <a:ext cx="3028950" cy="733425"/>
          </a:xfrm>
          <a:prstGeom prst="rect">
            <a:avLst/>
          </a:prstGeom>
          <a:noFill/>
          <a:ln>
            <a:noFill/>
          </a:ln>
        </p:spPr>
      </p:pic>
      <p:pic>
        <p:nvPicPr>
          <p:cNvPr id="637" name="Google Shape;637;p54"/>
          <p:cNvPicPr preferRelativeResize="0"/>
          <p:nvPr/>
        </p:nvPicPr>
        <p:blipFill rotWithShape="1">
          <a:blip r:embed="rId5">
            <a:alphaModFix/>
          </a:blip>
          <a:srcRect b="0" l="0" r="0" t="0"/>
          <a:stretch/>
        </p:blipFill>
        <p:spPr>
          <a:xfrm>
            <a:off x="7360660" y="991276"/>
            <a:ext cx="3248025" cy="24860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55"/>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860000"/>
              </a:buClr>
              <a:buSzPts val="3600"/>
              <a:buFont typeface="Marcellus"/>
              <a:buNone/>
            </a:pPr>
            <a:r>
              <a:rPr b="1" lang="en-US" sz="3600">
                <a:solidFill>
                  <a:srgbClr val="860000"/>
                </a:solidFill>
                <a:latin typeface="Marcellus"/>
                <a:ea typeface="Marcellus"/>
                <a:cs typeface="Marcellus"/>
                <a:sym typeface="Marcellus"/>
              </a:rPr>
              <a:t>&lt;iframe&gt; in HTML</a:t>
            </a:r>
            <a:endParaRPr b="1" sz="3600">
              <a:solidFill>
                <a:srgbClr val="860000"/>
              </a:solidFill>
              <a:latin typeface="Marcellus"/>
              <a:ea typeface="Marcellus"/>
              <a:cs typeface="Marcellus"/>
              <a:sym typeface="Marcellus"/>
            </a:endParaRPr>
          </a:p>
        </p:txBody>
      </p:sp>
      <p:pic>
        <p:nvPicPr>
          <p:cNvPr descr="C:\Users\GANGA\Desktop\download.jpg" id="643" name="Google Shape;643;p55"/>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644" name="Google Shape;644;p55"/>
          <p:cNvSpPr/>
          <p:nvPr/>
        </p:nvSpPr>
        <p:spPr>
          <a:xfrm>
            <a:off x="0" y="0"/>
            <a:ext cx="587700" cy="61947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5" name="Google Shape;645;p55"/>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46" name="Google Shape;646;p55"/>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lnSpcReduction="10000"/>
          </a:bodyPr>
          <a:lstStyle/>
          <a:p>
            <a:pPr indent="0" lvl="0" marL="0" marR="0" rtl="0" algn="just">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iframe in HTML stands for </a:t>
            </a:r>
            <a:r>
              <a:rPr b="1" i="0" lang="en-US" sz="2800" u="none" cap="none" strike="noStrike">
                <a:solidFill>
                  <a:srgbClr val="600000"/>
                </a:solidFill>
                <a:latin typeface="Times New Roman"/>
                <a:ea typeface="Times New Roman"/>
                <a:cs typeface="Times New Roman"/>
                <a:sym typeface="Times New Roman"/>
              </a:rPr>
              <a:t>Inline Frame</a:t>
            </a:r>
            <a:r>
              <a:rPr b="0" i="0" lang="en-US" sz="2800" u="none" cap="none" strike="noStrike">
                <a:solidFill>
                  <a:srgbClr val="003300"/>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 iframe ” tag defines a rectangular region within the document in which the browser can display a separate document, including scrollbars and borders.</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An inline frame is used to </a:t>
            </a:r>
            <a:r>
              <a:rPr b="1" i="0" lang="en-US" sz="2800" u="none" cap="none" strike="noStrike">
                <a:solidFill>
                  <a:srgbClr val="600000"/>
                </a:solidFill>
                <a:latin typeface="Times New Roman"/>
                <a:ea typeface="Times New Roman"/>
                <a:cs typeface="Times New Roman"/>
                <a:sym typeface="Times New Roman"/>
              </a:rPr>
              <a:t>embed another document </a:t>
            </a:r>
            <a:r>
              <a:rPr b="0" i="0" lang="en-US" sz="2800" u="none" cap="none" strike="noStrike">
                <a:solidFill>
                  <a:srgbClr val="003300"/>
                </a:solidFill>
                <a:latin typeface="Times New Roman"/>
                <a:ea typeface="Times New Roman"/>
                <a:cs typeface="Times New Roman"/>
                <a:sym typeface="Times New Roman"/>
              </a:rPr>
              <a:t>within the current HTML document.</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 </a:t>
            </a:r>
            <a:r>
              <a:rPr b="1" i="0" lang="en-US" sz="2800" u="none" cap="none" strike="noStrike">
                <a:solidFill>
                  <a:srgbClr val="003300"/>
                </a:solidFill>
                <a:latin typeface="Times New Roman"/>
                <a:ea typeface="Times New Roman"/>
                <a:cs typeface="Times New Roman"/>
                <a:sym typeface="Times New Roman"/>
              </a:rPr>
              <a:t>src</a:t>
            </a:r>
            <a:r>
              <a:rPr b="0" i="0" lang="en-US" sz="2800" u="none" cap="none" strike="noStrike">
                <a:solidFill>
                  <a:srgbClr val="003300"/>
                </a:solidFill>
                <a:latin typeface="Times New Roman"/>
                <a:ea typeface="Times New Roman"/>
                <a:cs typeface="Times New Roman"/>
                <a:sym typeface="Times New Roman"/>
              </a:rPr>
              <a:t> ‘ attribute is used to specify the URL of the document that occupies the iframe.</a:t>
            </a:r>
            <a:endParaRPr b="0" i="0" sz="1400" u="none" cap="none" strike="noStrike">
              <a:solidFill>
                <a:srgbClr val="000000"/>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2800"/>
              <a:buFont typeface="Arial"/>
              <a:buNone/>
            </a:pPr>
            <a:r>
              <a:rPr b="1" i="0" lang="en-US" sz="2800" u="none" cap="none" strike="noStrike">
                <a:solidFill>
                  <a:srgbClr val="600000"/>
                </a:solidFill>
                <a:latin typeface="Times New Roman"/>
                <a:ea typeface="Times New Roman"/>
                <a:cs typeface="Times New Roman"/>
                <a:sym typeface="Times New Roman"/>
              </a:rPr>
              <a:t>&lt;iframe src="URL"&gt;&lt;/iframe&gt;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56"/>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860000"/>
              </a:buClr>
              <a:buSzPts val="3600"/>
              <a:buFont typeface="Marcellus"/>
              <a:buNone/>
            </a:pPr>
            <a:r>
              <a:rPr b="1" lang="en-US" sz="3600">
                <a:solidFill>
                  <a:srgbClr val="860000"/>
                </a:solidFill>
                <a:latin typeface="Marcellus"/>
                <a:ea typeface="Marcellus"/>
                <a:cs typeface="Marcellus"/>
                <a:sym typeface="Marcellus"/>
              </a:rPr>
              <a:t>&lt;iframe&gt; in HTML</a:t>
            </a:r>
            <a:endParaRPr/>
          </a:p>
        </p:txBody>
      </p:sp>
      <p:pic>
        <p:nvPicPr>
          <p:cNvPr descr="C:\Users\GANGA\Desktop\download.jpg" id="652" name="Google Shape;652;p56"/>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653" name="Google Shape;653;p56"/>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4" name="Google Shape;654;p56"/>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55" name="Google Shape;655;p56"/>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just">
              <a:lnSpc>
                <a:spcPct val="150000"/>
              </a:lnSpc>
              <a:spcBef>
                <a:spcPts val="0"/>
              </a:spcBef>
              <a:spcAft>
                <a:spcPts val="0"/>
              </a:spcAft>
              <a:buClr>
                <a:srgbClr val="003300"/>
              </a:buClr>
              <a:buSzPts val="2000"/>
              <a:buFont typeface="Times New Roman"/>
              <a:buNone/>
            </a:pPr>
            <a:r>
              <a:rPr b="0" i="0" lang="en-US" sz="20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3300"/>
              </a:buClr>
              <a:buSzPts val="2000"/>
              <a:buFont typeface="Times New Roman"/>
              <a:buNone/>
            </a:pPr>
            <a:r>
              <a:rPr b="0" i="0" lang="en-US" sz="2000" u="none" cap="none" strike="noStrike">
                <a:solidFill>
                  <a:srgbClr val="003300"/>
                </a:solidFill>
                <a:latin typeface="Times New Roman"/>
                <a:ea typeface="Times New Roman"/>
                <a:cs typeface="Times New Roman"/>
                <a:sym typeface="Times New Roman"/>
              </a:rPr>
              <a:t>&lt;html&gt;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3300"/>
              </a:buClr>
              <a:buSzPts val="2000"/>
              <a:buFont typeface="Times New Roman"/>
              <a:buNone/>
            </a:pPr>
            <a:r>
              <a:rPr b="0" i="0" lang="en-US" sz="2000" u="none" cap="none" strike="noStrike">
                <a:solidFill>
                  <a:srgbClr val="003300"/>
                </a:solidFill>
                <a:latin typeface="Times New Roman"/>
                <a:ea typeface="Times New Roman"/>
                <a:cs typeface="Times New Roman"/>
                <a:sym typeface="Times New Roman"/>
              </a:rPr>
              <a:t> 		&lt;head&gt;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3300"/>
              </a:buClr>
              <a:buSzPts val="2000"/>
              <a:buFont typeface="Times New Roman"/>
              <a:buNone/>
            </a:pPr>
            <a:r>
              <a:rPr b="0" i="0" lang="en-US" sz="2000" u="none" cap="none" strike="noStrike">
                <a:solidFill>
                  <a:srgbClr val="003300"/>
                </a:solidFill>
                <a:latin typeface="Times New Roman"/>
                <a:ea typeface="Times New Roman"/>
                <a:cs typeface="Times New Roman"/>
                <a:sym typeface="Times New Roman"/>
              </a:rPr>
              <a:t>			&lt;title&gt;HTML Iframes&lt;/title&gt;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3300"/>
              </a:buClr>
              <a:buSzPts val="2000"/>
              <a:buFont typeface="Times New Roman"/>
              <a:buNone/>
            </a:pPr>
            <a:r>
              <a:rPr b="0" i="0" lang="en-US" sz="2000" u="none" cap="none" strike="noStrike">
                <a:solidFill>
                  <a:srgbClr val="003300"/>
                </a:solidFill>
                <a:latin typeface="Times New Roman"/>
                <a:ea typeface="Times New Roman"/>
                <a:cs typeface="Times New Roman"/>
                <a:sym typeface="Times New Roman"/>
              </a:rPr>
              <a:t> 		&lt;/head&gt;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3300"/>
              </a:buClr>
              <a:buSzPts val="2000"/>
              <a:buFont typeface="Times New Roman"/>
              <a:buNone/>
            </a:pPr>
            <a:r>
              <a:rPr b="0" i="0" lang="en-US" sz="2000" u="none" cap="none" strike="noStrike">
                <a:solidFill>
                  <a:srgbClr val="003300"/>
                </a:solidFill>
                <a:latin typeface="Times New Roman"/>
                <a:ea typeface="Times New Roman"/>
                <a:cs typeface="Times New Roman"/>
                <a:sym typeface="Times New Roman"/>
              </a:rPr>
              <a:t> 	&lt;body&gt;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3300"/>
              </a:buClr>
              <a:buSzPts val="2000"/>
              <a:buFont typeface="Times New Roman"/>
              <a:buNone/>
            </a:pPr>
            <a:r>
              <a:rPr b="0" i="0" lang="en-US" sz="2000" u="none" cap="none" strike="noStrike">
                <a:solidFill>
                  <a:srgbClr val="003300"/>
                </a:solidFill>
                <a:latin typeface="Times New Roman"/>
                <a:ea typeface="Times New Roman"/>
                <a:cs typeface="Times New Roman"/>
                <a:sym typeface="Times New Roman"/>
              </a:rPr>
              <a:t>	 &lt;p&gt;Document content goes here...&lt;/p&gt;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None/>
            </a:pPr>
            <a:r>
              <a:rPr b="0" i="0" lang="en-US" sz="2000" u="none" cap="none" strike="noStrike">
                <a:solidFill>
                  <a:srgbClr val="003300"/>
                </a:solidFill>
                <a:latin typeface="Times New Roman"/>
                <a:ea typeface="Times New Roman"/>
                <a:cs typeface="Times New Roman"/>
                <a:sym typeface="Times New Roman"/>
              </a:rPr>
              <a:t>  &lt;iframe src = "C:\Users\CBIT\Desktop\INDEX.html" width = "555" height = "200"&gt;    &lt;/iframe&gt;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3300"/>
              </a:buClr>
              <a:buSzPts val="2000"/>
              <a:buFont typeface="Times New Roman"/>
              <a:buNone/>
            </a:pPr>
            <a:r>
              <a:rPr b="0" i="0" lang="en-US" sz="2000" u="none" cap="none" strike="noStrike">
                <a:solidFill>
                  <a:srgbClr val="003300"/>
                </a:solidFill>
                <a:latin typeface="Times New Roman"/>
                <a:ea typeface="Times New Roman"/>
                <a:cs typeface="Times New Roman"/>
                <a:sym typeface="Times New Roman"/>
              </a:rPr>
              <a:t> 	&lt;p&gt;Document content also go here...&lt;/p&gt;</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3300"/>
              </a:buClr>
              <a:buSzPts val="2000"/>
              <a:buFont typeface="Times New Roman"/>
              <a:buNone/>
            </a:pPr>
            <a:r>
              <a:rPr b="0" i="0" lang="en-US" sz="20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3300"/>
              </a:buClr>
              <a:buSzPts val="2000"/>
              <a:buFont typeface="Times New Roman"/>
              <a:buNone/>
            </a:pPr>
            <a:r>
              <a:rPr b="0" i="0" lang="en-US" sz="20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id="656" name="Google Shape;656;p56"/>
          <p:cNvPicPr preferRelativeResize="0"/>
          <p:nvPr/>
        </p:nvPicPr>
        <p:blipFill rotWithShape="1">
          <a:blip r:embed="rId4">
            <a:alphaModFix/>
          </a:blip>
          <a:srcRect b="0" l="0" r="0" t="0"/>
          <a:stretch/>
        </p:blipFill>
        <p:spPr>
          <a:xfrm>
            <a:off x="6852745" y="1506867"/>
            <a:ext cx="4887310" cy="2445023"/>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57"/>
          <p:cNvSpPr txBox="1"/>
          <p:nvPr/>
        </p:nvSpPr>
        <p:spPr>
          <a:xfrm>
            <a:off x="163772" y="204716"/>
            <a:ext cx="10781732"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HTML YouTube Videos</a:t>
            </a:r>
            <a:endParaRPr b="1" i="0" sz="3600" u="none" cap="none" strike="noStrike">
              <a:solidFill>
                <a:srgbClr val="600000"/>
              </a:solidFill>
              <a:latin typeface="Times New Roman"/>
              <a:ea typeface="Times New Roman"/>
              <a:cs typeface="Times New Roman"/>
              <a:sym typeface="Times New Roman"/>
            </a:endParaRPr>
          </a:p>
        </p:txBody>
      </p:sp>
      <p:sp>
        <p:nvSpPr>
          <p:cNvPr id="662" name="Google Shape;662;p57"/>
          <p:cNvSpPr txBox="1"/>
          <p:nvPr/>
        </p:nvSpPr>
        <p:spPr>
          <a:xfrm>
            <a:off x="163772" y="1017732"/>
            <a:ext cx="10781731" cy="567928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Clr>
                <a:srgbClr val="003300"/>
              </a:buClr>
              <a:buSzPts val="2400"/>
              <a:buFont typeface="Times New Roman"/>
              <a:buNone/>
            </a:pPr>
            <a:r>
              <a:rPr b="0" i="0" lang="en-US" sz="24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400"/>
              <a:buFont typeface="Times New Roman"/>
              <a:buNone/>
            </a:pPr>
            <a:r>
              <a:rPr b="0" i="0" lang="en-US" sz="24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400"/>
              <a:buFont typeface="Times New Roman"/>
              <a:buNone/>
            </a:pPr>
            <a:r>
              <a:rPr b="0" i="0" lang="en-US" sz="2400" u="none" cap="none" strike="noStrike">
                <a:solidFill>
                  <a:srgbClr val="003300"/>
                </a:solidFill>
                <a:latin typeface="Times New Roman"/>
                <a:ea typeface="Times New Roman"/>
                <a:cs typeface="Times New Roman"/>
                <a:sym typeface="Times New Roman"/>
              </a:rPr>
              <a:t>&lt;body&gt;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400"/>
              <a:buFont typeface="Arial"/>
              <a:buNone/>
            </a:pPr>
            <a:r>
              <a:t/>
            </a:r>
            <a:endParaRPr b="0" i="0" sz="2400" u="none" cap="none" strike="noStrike">
              <a:solidFill>
                <a:srgbClr val="0033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3300"/>
              </a:buClr>
              <a:buSzPts val="2400"/>
              <a:buFont typeface="Times New Roman"/>
              <a:buNone/>
            </a:pPr>
            <a:r>
              <a:rPr b="0" i="0" lang="en-US" sz="2400" u="none" cap="none" strike="noStrike">
                <a:solidFill>
                  <a:srgbClr val="003300"/>
                </a:solidFill>
                <a:latin typeface="Times New Roman"/>
                <a:ea typeface="Times New Roman"/>
                <a:cs typeface="Times New Roman"/>
                <a:sym typeface="Times New Roman"/>
              </a:rPr>
              <a:t>   </a:t>
            </a:r>
            <a:r>
              <a:rPr b="0" i="0" lang="en-US" sz="2200" u="none" cap="none" strike="noStrike">
                <a:solidFill>
                  <a:srgbClr val="003300"/>
                </a:solidFill>
                <a:latin typeface="Times New Roman"/>
                <a:ea typeface="Times New Roman"/>
                <a:cs typeface="Times New Roman"/>
                <a:sym typeface="Times New Roman"/>
              </a:rPr>
              <a:t>&lt;iframe width="420" height="345" src=" https://youtu.be/rzjgMKTPlis "&gt; &lt;/iframe&gt;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400"/>
              <a:buFont typeface="Arial"/>
              <a:buNone/>
            </a:pPr>
            <a:r>
              <a:t/>
            </a:r>
            <a:endParaRPr b="0" i="0" sz="2400" u="none" cap="none" strike="noStrike">
              <a:solidFill>
                <a:srgbClr val="0033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3300"/>
              </a:buClr>
              <a:buSzPts val="2400"/>
              <a:buFont typeface="Times New Roman"/>
              <a:buNone/>
            </a:pPr>
            <a:r>
              <a:rPr b="0" i="0" lang="en-US" sz="2400" u="none" cap="none" strike="noStrike">
                <a:solidFill>
                  <a:srgbClr val="003300"/>
                </a:solidFill>
                <a:latin typeface="Times New Roman"/>
                <a:ea typeface="Times New Roman"/>
                <a:cs typeface="Times New Roman"/>
                <a:sym typeface="Times New Roman"/>
              </a:rPr>
              <a:t>&lt;/body&gt;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400"/>
              <a:buFont typeface="Times New Roman"/>
              <a:buNone/>
            </a:pPr>
            <a:r>
              <a:rPr b="0" i="0" lang="en-US" sz="24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663" name="Google Shape;663;p57"/>
          <p:cNvSpPr/>
          <p:nvPr/>
        </p:nvSpPr>
        <p:spPr>
          <a:xfrm>
            <a:off x="11191167" y="0"/>
            <a:ext cx="259311" cy="551369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64" name="Google Shape;664;p57"/>
          <p:cNvSpPr/>
          <p:nvPr/>
        </p:nvSpPr>
        <p:spPr>
          <a:xfrm>
            <a:off x="11450472" y="0"/>
            <a:ext cx="741528" cy="5882183"/>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665" name="Google Shape;665;p57"/>
          <p:cNvPicPr preferRelativeResize="0"/>
          <p:nvPr/>
        </p:nvPicPr>
        <p:blipFill rotWithShape="1">
          <a:blip r:embed="rId3">
            <a:alphaModFix/>
          </a:blip>
          <a:srcRect b="0" l="0" r="0" t="0"/>
          <a:stretch/>
        </p:blipFill>
        <p:spPr>
          <a:xfrm>
            <a:off x="11191166" y="5915467"/>
            <a:ext cx="1000833" cy="915237"/>
          </a:xfrm>
          <a:prstGeom prst="rect">
            <a:avLst/>
          </a:prstGeom>
          <a:noFill/>
          <a:ln cap="flat" cmpd="sng" w="9525">
            <a:solidFill>
              <a:srgbClr val="860000"/>
            </a:solidFill>
            <a:prstDash val="solid"/>
            <a:round/>
            <a:headEnd len="sm" w="sm" type="none"/>
            <a:tailEnd len="sm" w="sm" type="none"/>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58"/>
          <p:cNvSpPr txBox="1"/>
          <p:nvPr/>
        </p:nvSpPr>
        <p:spPr>
          <a:xfrm>
            <a:off x="163772" y="204716"/>
            <a:ext cx="11136574"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What is CSS? </a:t>
            </a:r>
            <a:endParaRPr b="1" i="0" sz="3600" u="none" cap="none" strike="noStrike">
              <a:solidFill>
                <a:srgbClr val="600000"/>
              </a:solidFill>
              <a:latin typeface="Times New Roman"/>
              <a:ea typeface="Times New Roman"/>
              <a:cs typeface="Times New Roman"/>
              <a:sym typeface="Times New Roman"/>
            </a:endParaRPr>
          </a:p>
        </p:txBody>
      </p:sp>
      <p:sp>
        <p:nvSpPr>
          <p:cNvPr id="671" name="Google Shape;671;p58"/>
          <p:cNvSpPr txBox="1"/>
          <p:nvPr/>
        </p:nvSpPr>
        <p:spPr>
          <a:xfrm>
            <a:off x="163772" y="1017733"/>
            <a:ext cx="11122927" cy="5073974"/>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lnSpcReduction="10000"/>
          </a:bodyPr>
          <a:lstStyle/>
          <a:p>
            <a:pPr indent="-457200" lvl="0" marL="457200" marR="0" rtl="0" algn="just">
              <a:lnSpc>
                <a:spcPct val="200000"/>
              </a:lnSpc>
              <a:spcBef>
                <a:spcPts val="0"/>
              </a:spcBef>
              <a:spcAft>
                <a:spcPts val="0"/>
              </a:spcAft>
              <a:buClr>
                <a:srgbClr val="003300"/>
              </a:buClr>
              <a:buSzPts val="2800"/>
              <a:buFont typeface="Noto Sans Symbols"/>
              <a:buChar char="⮚"/>
            </a:pPr>
            <a:r>
              <a:rPr b="1" i="0" lang="en-US" sz="2800" u="none" cap="none" strike="noStrike">
                <a:solidFill>
                  <a:srgbClr val="003300"/>
                </a:solidFill>
                <a:latin typeface="Times New Roman"/>
                <a:ea typeface="Times New Roman"/>
                <a:cs typeface="Times New Roman"/>
                <a:sym typeface="Times New Roman"/>
              </a:rPr>
              <a:t>CSS</a:t>
            </a:r>
            <a:r>
              <a:rPr b="0" i="0" lang="en-US" sz="2800" u="none" cap="none" strike="noStrike">
                <a:solidFill>
                  <a:srgbClr val="003300"/>
                </a:solidFill>
                <a:latin typeface="Times New Roman"/>
                <a:ea typeface="Times New Roman"/>
                <a:cs typeface="Times New Roman"/>
                <a:sym typeface="Times New Roman"/>
              </a:rPr>
              <a:t> stands for </a:t>
            </a:r>
            <a:r>
              <a:rPr b="1" i="0" lang="en-US" sz="2800" u="none" cap="none" strike="noStrike">
                <a:solidFill>
                  <a:srgbClr val="003300"/>
                </a:solidFill>
                <a:latin typeface="Times New Roman"/>
                <a:ea typeface="Times New Roman"/>
                <a:cs typeface="Times New Roman"/>
                <a:sym typeface="Times New Roman"/>
              </a:rPr>
              <a:t>C</a:t>
            </a:r>
            <a:r>
              <a:rPr b="0" i="0" lang="en-US" sz="2800" u="none" cap="none" strike="noStrike">
                <a:solidFill>
                  <a:srgbClr val="003300"/>
                </a:solidFill>
                <a:latin typeface="Times New Roman"/>
                <a:ea typeface="Times New Roman"/>
                <a:cs typeface="Times New Roman"/>
                <a:sym typeface="Times New Roman"/>
              </a:rPr>
              <a:t>ascading </a:t>
            </a:r>
            <a:r>
              <a:rPr b="1" i="0" lang="en-US" sz="2800" u="none" cap="none" strike="noStrike">
                <a:solidFill>
                  <a:srgbClr val="003300"/>
                </a:solidFill>
                <a:latin typeface="Times New Roman"/>
                <a:ea typeface="Times New Roman"/>
                <a:cs typeface="Times New Roman"/>
                <a:sym typeface="Times New Roman"/>
              </a:rPr>
              <a:t>S</a:t>
            </a:r>
            <a:r>
              <a:rPr b="0" i="0" lang="en-US" sz="2800" u="none" cap="none" strike="noStrike">
                <a:solidFill>
                  <a:srgbClr val="003300"/>
                </a:solidFill>
                <a:latin typeface="Times New Roman"/>
                <a:ea typeface="Times New Roman"/>
                <a:cs typeface="Times New Roman"/>
                <a:sym typeface="Times New Roman"/>
              </a:rPr>
              <a:t>tyle </a:t>
            </a:r>
            <a:r>
              <a:rPr b="1" i="0" lang="en-US" sz="2800" u="none" cap="none" strike="noStrike">
                <a:solidFill>
                  <a:srgbClr val="003300"/>
                </a:solidFill>
                <a:latin typeface="Times New Roman"/>
                <a:ea typeface="Times New Roman"/>
                <a:cs typeface="Times New Roman"/>
                <a:sym typeface="Times New Roman"/>
              </a:rPr>
              <a:t>S</a:t>
            </a:r>
            <a:r>
              <a:rPr b="0" i="0" lang="en-US" sz="2800" u="none" cap="none" strike="noStrike">
                <a:solidFill>
                  <a:srgbClr val="003300"/>
                </a:solidFill>
                <a:latin typeface="Times New Roman"/>
                <a:ea typeface="Times New Roman"/>
                <a:cs typeface="Times New Roman"/>
                <a:sym typeface="Times New Roman"/>
              </a:rPr>
              <a:t>heets.</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CSS describes </a:t>
            </a:r>
            <a:r>
              <a:rPr b="1" i="0" lang="en-US" sz="2800" u="none" cap="none" strike="noStrike">
                <a:solidFill>
                  <a:srgbClr val="003300"/>
                </a:solidFill>
                <a:latin typeface="Times New Roman"/>
                <a:ea typeface="Times New Roman"/>
                <a:cs typeface="Times New Roman"/>
                <a:sym typeface="Times New Roman"/>
              </a:rPr>
              <a:t>how HTML elements are to be displayed on screen or in other media.</a:t>
            </a:r>
            <a:endParaRPr b="0" i="0" sz="2800" u="none" cap="none" strike="noStrike">
              <a:solidFill>
                <a:srgbClr val="003300"/>
              </a:solidFill>
              <a:latin typeface="Times New Roman"/>
              <a:ea typeface="Times New Roman"/>
              <a:cs typeface="Times New Roman"/>
              <a:sym typeface="Times New Roman"/>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CSS </a:t>
            </a:r>
            <a:r>
              <a:rPr b="1" i="0" lang="en-US" sz="2800" u="none" cap="none" strike="noStrike">
                <a:solidFill>
                  <a:srgbClr val="003300"/>
                </a:solidFill>
                <a:latin typeface="Times New Roman"/>
                <a:ea typeface="Times New Roman"/>
                <a:cs typeface="Times New Roman"/>
                <a:sym typeface="Times New Roman"/>
              </a:rPr>
              <a:t>saves a lot of work</a:t>
            </a:r>
            <a:r>
              <a:rPr b="0" i="0" lang="en-US" sz="2800" u="none" cap="none" strike="noStrike">
                <a:solidFill>
                  <a:srgbClr val="003300"/>
                </a:solidFill>
                <a:latin typeface="Times New Roman"/>
                <a:ea typeface="Times New Roman"/>
                <a:cs typeface="Times New Roman"/>
                <a:sym typeface="Times New Roman"/>
              </a:rPr>
              <a:t>. It can control the layout of multiple web pages all at once.</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External style sheets are stored in </a:t>
            </a:r>
            <a:r>
              <a:rPr b="1" i="0" lang="en-US" sz="2800" u="none" cap="none" strike="noStrike">
                <a:solidFill>
                  <a:srgbClr val="003300"/>
                </a:solidFill>
                <a:latin typeface="Times New Roman"/>
                <a:ea typeface="Times New Roman"/>
                <a:cs typeface="Times New Roman"/>
                <a:sym typeface="Times New Roman"/>
              </a:rPr>
              <a:t>CSS files.</a:t>
            </a:r>
            <a:endParaRPr b="0" i="0" sz="2800" u="none" cap="none" strike="noStrike">
              <a:solidFill>
                <a:srgbClr val="003300"/>
              </a:solidFill>
              <a:latin typeface="Times New Roman"/>
              <a:ea typeface="Times New Roman"/>
              <a:cs typeface="Times New Roman"/>
              <a:sym typeface="Times New Roman"/>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672" name="Google Shape;672;p58"/>
          <p:cNvSpPr/>
          <p:nvPr/>
        </p:nvSpPr>
        <p:spPr>
          <a:xfrm>
            <a:off x="11477767" y="0"/>
            <a:ext cx="714233" cy="68580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673" name="Google Shape;673;p58"/>
          <p:cNvPicPr preferRelativeResize="0"/>
          <p:nvPr/>
        </p:nvPicPr>
        <p:blipFill rotWithShape="1">
          <a:blip r:embed="rId3">
            <a:alphaModFix/>
          </a:blip>
          <a:srcRect b="0" l="0" r="0" t="0"/>
          <a:stretch/>
        </p:blipFill>
        <p:spPr>
          <a:xfrm>
            <a:off x="163772" y="6209730"/>
            <a:ext cx="778199" cy="593679"/>
          </a:xfrm>
          <a:prstGeom prst="rect">
            <a:avLst/>
          </a:prstGeom>
          <a:noFill/>
          <a:ln cap="flat" cmpd="sng" w="9525">
            <a:solidFill>
              <a:srgbClr val="860000"/>
            </a:solidFill>
            <a:prstDash val="solid"/>
            <a:round/>
            <a:headEnd len="sm" w="sm" type="none"/>
            <a:tailEnd len="sm" w="sm" type="none"/>
          </a:ln>
        </p:spPr>
      </p:pic>
      <p:sp>
        <p:nvSpPr>
          <p:cNvPr id="674" name="Google Shape;674;p58"/>
          <p:cNvSpPr/>
          <p:nvPr/>
        </p:nvSpPr>
        <p:spPr>
          <a:xfrm>
            <a:off x="3346973" y="6209731"/>
            <a:ext cx="8144442" cy="648269"/>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75" name="Google Shape;675;p58"/>
          <p:cNvSpPr/>
          <p:nvPr/>
        </p:nvSpPr>
        <p:spPr>
          <a:xfrm>
            <a:off x="2646389" y="6209730"/>
            <a:ext cx="700584" cy="64827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59"/>
          <p:cNvSpPr txBox="1"/>
          <p:nvPr/>
        </p:nvSpPr>
        <p:spPr>
          <a:xfrm>
            <a:off x="163771" y="204716"/>
            <a:ext cx="11778019"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CSS SELECTORS</a:t>
            </a:r>
            <a:endParaRPr b="1" i="0" sz="3600" u="none" cap="none" strike="noStrike">
              <a:solidFill>
                <a:srgbClr val="600000"/>
              </a:solidFill>
              <a:latin typeface="Times New Roman"/>
              <a:ea typeface="Times New Roman"/>
              <a:cs typeface="Times New Roman"/>
              <a:sym typeface="Times New Roman"/>
            </a:endParaRPr>
          </a:p>
        </p:txBody>
      </p:sp>
      <p:sp>
        <p:nvSpPr>
          <p:cNvPr id="681" name="Google Shape;681;p59"/>
          <p:cNvSpPr txBox="1"/>
          <p:nvPr/>
        </p:nvSpPr>
        <p:spPr>
          <a:xfrm>
            <a:off x="163772" y="979096"/>
            <a:ext cx="11764371" cy="5225185"/>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92500" lnSpcReduction="10000"/>
          </a:bodyPr>
          <a:lstStyle/>
          <a:p>
            <a:pPr indent="-164465" lvl="0" marL="0" marR="0" rtl="0" algn="l">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Element Selector</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chemeClr val="dk1"/>
              </a:buClr>
              <a:buSzPct val="100000"/>
              <a:buFont typeface="Noto Sans Symbols"/>
              <a:buNone/>
            </a:pPr>
            <a:r>
              <a:t/>
            </a:r>
            <a:endParaRPr b="0" i="0" sz="2800" u="none" cap="none" strike="noStrike">
              <a:solidFill>
                <a:srgbClr val="003300"/>
              </a:solidFill>
              <a:latin typeface="Times New Roman"/>
              <a:ea typeface="Times New Roman"/>
              <a:cs typeface="Times New Roman"/>
              <a:sym typeface="Times New Roman"/>
            </a:endParaRPr>
          </a:p>
          <a:p>
            <a:pPr indent="-164465" lvl="0" marL="0" marR="0" rtl="0" algn="l">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ID Selector</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chemeClr val="dk1"/>
              </a:buClr>
              <a:buSzPct val="100000"/>
              <a:buFont typeface="Noto Sans Symbols"/>
              <a:buNone/>
            </a:pPr>
            <a:r>
              <a:t/>
            </a:r>
            <a:endParaRPr b="0" i="0" sz="2800" u="none" cap="none" strike="noStrike">
              <a:solidFill>
                <a:srgbClr val="003300"/>
              </a:solidFill>
              <a:latin typeface="Times New Roman"/>
              <a:ea typeface="Times New Roman"/>
              <a:cs typeface="Times New Roman"/>
              <a:sym typeface="Times New Roman"/>
            </a:endParaRPr>
          </a:p>
          <a:p>
            <a:pPr indent="-164465" lvl="0" marL="0" marR="0" rtl="0" algn="l">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Class Selector</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chemeClr val="dk1"/>
              </a:buClr>
              <a:buSzPct val="100000"/>
              <a:buFont typeface="Noto Sans Symbols"/>
              <a:buNone/>
            </a:pPr>
            <a:r>
              <a:t/>
            </a:r>
            <a:endParaRPr b="0" i="0" sz="2800" u="none" cap="none" strike="noStrike">
              <a:solidFill>
                <a:srgbClr val="003300"/>
              </a:solidFill>
              <a:latin typeface="Times New Roman"/>
              <a:ea typeface="Times New Roman"/>
              <a:cs typeface="Times New Roman"/>
              <a:sym typeface="Times New Roman"/>
            </a:endParaRPr>
          </a:p>
          <a:p>
            <a:pPr indent="-164465" lvl="0" marL="0" marR="0" rtl="0" algn="l">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Group Selector</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chemeClr val="dk1"/>
              </a:buClr>
              <a:buSzPct val="100000"/>
              <a:buFont typeface="Noto Sans Symbols"/>
              <a:buNone/>
            </a:pPr>
            <a:r>
              <a:t/>
            </a:r>
            <a:endParaRPr b="0" i="0" sz="2800" u="none" cap="none" strike="noStrike">
              <a:solidFill>
                <a:srgbClr val="003300"/>
              </a:solidFill>
              <a:latin typeface="Times New Roman"/>
              <a:ea typeface="Times New Roman"/>
              <a:cs typeface="Times New Roman"/>
              <a:sym typeface="Times New Roman"/>
            </a:endParaRPr>
          </a:p>
          <a:p>
            <a:pPr indent="-164465" lvl="0" marL="0" marR="0" rtl="0" algn="l">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Universal Selector</a:t>
            </a:r>
            <a:endParaRPr b="0" i="0" sz="2800" u="none" cap="none" strike="noStrike">
              <a:solidFill>
                <a:srgbClr val="003300"/>
              </a:solidFill>
              <a:latin typeface="Times New Roman"/>
              <a:ea typeface="Times New Roman"/>
              <a:cs typeface="Times New Roman"/>
              <a:sym typeface="Times New Roman"/>
            </a:endParaRPr>
          </a:p>
        </p:txBody>
      </p:sp>
      <p:pic>
        <p:nvPicPr>
          <p:cNvPr descr="C:\Users\GANGA\Desktop\download.jpg" id="682" name="Google Shape;682;p59"/>
          <p:cNvPicPr preferRelativeResize="0"/>
          <p:nvPr/>
        </p:nvPicPr>
        <p:blipFill rotWithShape="1">
          <a:blip r:embed="rId3">
            <a:alphaModFix/>
          </a:blip>
          <a:srcRect b="0" l="0" r="0" t="0"/>
          <a:stretch/>
        </p:blipFill>
        <p:spPr>
          <a:xfrm>
            <a:off x="11305780" y="6242918"/>
            <a:ext cx="622363" cy="615082"/>
          </a:xfrm>
          <a:prstGeom prst="rect">
            <a:avLst/>
          </a:prstGeom>
          <a:noFill/>
          <a:ln cap="flat" cmpd="sng" w="9525">
            <a:solidFill>
              <a:srgbClr val="860000"/>
            </a:solidFill>
            <a:prstDash val="solid"/>
            <a:round/>
            <a:headEnd len="sm" w="sm" type="none"/>
            <a:tailEnd len="sm" w="sm" type="none"/>
          </a:ln>
        </p:spPr>
      </p:pic>
      <p:sp>
        <p:nvSpPr>
          <p:cNvPr id="683" name="Google Shape;683;p59"/>
          <p:cNvSpPr/>
          <p:nvPr/>
        </p:nvSpPr>
        <p:spPr>
          <a:xfrm>
            <a:off x="0" y="6553209"/>
            <a:ext cx="11305780" cy="304791"/>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4" name="Google Shape;684;p59"/>
          <p:cNvSpPr/>
          <p:nvPr/>
        </p:nvSpPr>
        <p:spPr>
          <a:xfrm>
            <a:off x="1" y="6336406"/>
            <a:ext cx="10683416" cy="216803"/>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60"/>
          <p:cNvSpPr txBox="1"/>
          <p:nvPr/>
        </p:nvSpPr>
        <p:spPr>
          <a:xfrm>
            <a:off x="68236" y="43974"/>
            <a:ext cx="11123505"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CSS Selectors</a:t>
            </a:r>
            <a:endParaRPr b="1" i="0" sz="3600" u="none" cap="none" strike="noStrike">
              <a:solidFill>
                <a:srgbClr val="600000"/>
              </a:solidFill>
              <a:latin typeface="Times New Roman"/>
              <a:ea typeface="Times New Roman"/>
              <a:cs typeface="Times New Roman"/>
              <a:sym typeface="Times New Roman"/>
            </a:endParaRPr>
          </a:p>
        </p:txBody>
      </p:sp>
      <p:sp>
        <p:nvSpPr>
          <p:cNvPr id="690" name="Google Shape;690;p60"/>
          <p:cNvSpPr txBox="1"/>
          <p:nvPr/>
        </p:nvSpPr>
        <p:spPr>
          <a:xfrm>
            <a:off x="68236" y="811369"/>
            <a:ext cx="12012147" cy="546660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CSS selectors are used to "find"  HTML elements based on their element name, id, class, attribute, and more.</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600000"/>
              </a:buClr>
              <a:buSzPts val="2800"/>
              <a:buFont typeface="Times New Roman"/>
              <a:buNone/>
            </a:pPr>
            <a:r>
              <a:rPr b="1" i="0" lang="en-US" sz="2800" u="sng" cap="none" strike="noStrike">
                <a:solidFill>
                  <a:srgbClr val="600000"/>
                </a:solidFill>
                <a:latin typeface="Times New Roman"/>
                <a:ea typeface="Times New Roman"/>
                <a:cs typeface="Times New Roman"/>
                <a:sym typeface="Times New Roman"/>
              </a:rPr>
              <a:t>The element Selector</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element selector selects elements based on the element name.</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You can select all &lt;p&gt; elements on a page.</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In this case, all &lt;p&gt; elements will be center-aligned, with a red text color.</a:t>
            </a:r>
            <a:endParaRPr b="0" i="0" sz="2800" u="none" cap="none" strike="noStrike">
              <a:solidFill>
                <a:srgbClr val="003300"/>
              </a:solidFill>
              <a:latin typeface="Times New Roman"/>
              <a:ea typeface="Times New Roman"/>
              <a:cs typeface="Times New Roman"/>
              <a:sym typeface="Times New Roman"/>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691" name="Google Shape;691;p60"/>
          <p:cNvPicPr preferRelativeResize="0"/>
          <p:nvPr/>
        </p:nvPicPr>
        <p:blipFill rotWithShape="1">
          <a:blip r:embed="rId3">
            <a:alphaModFix/>
          </a:blip>
          <a:srcRect b="0" l="0" r="0" t="0"/>
          <a:stretch/>
        </p:blipFill>
        <p:spPr>
          <a:xfrm>
            <a:off x="11333408" y="68781"/>
            <a:ext cx="746975" cy="660699"/>
          </a:xfrm>
          <a:prstGeom prst="rect">
            <a:avLst/>
          </a:prstGeom>
          <a:noFill/>
          <a:ln cap="flat" cmpd="sng" w="9525">
            <a:solidFill>
              <a:srgbClr val="860000"/>
            </a:solidFill>
            <a:prstDash val="solid"/>
            <a:round/>
            <a:headEnd len="sm" w="sm" type="none"/>
            <a:tailEnd len="sm" w="sm" type="none"/>
          </a:ln>
        </p:spPr>
      </p:pic>
      <p:sp>
        <p:nvSpPr>
          <p:cNvPr id="692" name="Google Shape;692;p60"/>
          <p:cNvSpPr/>
          <p:nvPr/>
        </p:nvSpPr>
        <p:spPr>
          <a:xfrm>
            <a:off x="0" y="6564573"/>
            <a:ext cx="12192000" cy="293427"/>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3" name="Google Shape;693;p60"/>
          <p:cNvSpPr/>
          <p:nvPr/>
        </p:nvSpPr>
        <p:spPr>
          <a:xfrm>
            <a:off x="1" y="6359859"/>
            <a:ext cx="10276764" cy="19335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61"/>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b="1" lang="en-US" sz="3600">
                <a:solidFill>
                  <a:srgbClr val="600000"/>
                </a:solidFill>
                <a:latin typeface="Times New Roman"/>
                <a:ea typeface="Times New Roman"/>
                <a:cs typeface="Times New Roman"/>
                <a:sym typeface="Times New Roman"/>
              </a:rPr>
              <a:t>Element Selector</a:t>
            </a:r>
            <a:endParaRPr b="1" sz="3600">
              <a:solidFill>
                <a:srgbClr val="860000"/>
              </a:solidFill>
              <a:latin typeface="Marcellus"/>
              <a:ea typeface="Marcellus"/>
              <a:cs typeface="Marcellus"/>
              <a:sym typeface="Marcellus"/>
            </a:endParaRPr>
          </a:p>
        </p:txBody>
      </p:sp>
      <p:pic>
        <p:nvPicPr>
          <p:cNvPr descr="C:\Users\GANGA\Desktop\download.jpg" id="699" name="Google Shape;699;p61"/>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700" name="Google Shape;700;p61"/>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1" name="Google Shape;701;p61"/>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2" name="Google Shape;702;p61"/>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a:t>
            </a:r>
            <a:r>
              <a:rPr b="0" i="0" lang="en-US" sz="2800" u="none" cap="none" strike="noStrike">
                <a:solidFill>
                  <a:srgbClr val="600000"/>
                </a:solidFill>
                <a:latin typeface="Times New Roman"/>
                <a:ea typeface="Times New Roman"/>
                <a:cs typeface="Times New Roman"/>
                <a:sym typeface="Times New Roman"/>
              </a:rPr>
              <a:t>p </a:t>
            </a:r>
            <a:endParaRPr b="0" i="0" sz="2800" u="none" cap="none" strike="noStrike">
              <a:solidFill>
                <a:srgbClr val="6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600000"/>
              </a:buClr>
              <a:buSzPct val="100000"/>
              <a:buFont typeface="Times New Roman"/>
              <a:buNone/>
            </a:pPr>
            <a:r>
              <a:rPr b="0" i="0" lang="en-US" sz="2800" u="none" cap="none" strike="noStrike">
                <a:solidFill>
                  <a:srgbClr val="600000"/>
                </a:solidFill>
                <a:latin typeface="Times New Roman"/>
                <a:ea typeface="Times New Roman"/>
                <a:cs typeface="Times New Roman"/>
                <a:sym typeface="Times New Roman"/>
              </a:rPr>
              <a:t>					{</a:t>
            </a:r>
            <a:endParaRPr b="0" i="0" sz="2800" u="none" cap="none" strike="noStrike">
              <a:solidFill>
                <a:srgbClr val="6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600000"/>
              </a:buClr>
              <a:buSzPct val="100000"/>
              <a:buFont typeface="Times New Roman"/>
              <a:buNone/>
            </a:pPr>
            <a:r>
              <a:rPr b="0" i="0" lang="en-US" sz="2800" u="none" cap="none" strike="noStrike">
                <a:solidFill>
                  <a:srgbClr val="600000"/>
                </a:solidFill>
                <a:latin typeface="Times New Roman"/>
                <a:ea typeface="Times New Roman"/>
                <a:cs typeface="Times New Roman"/>
                <a:sym typeface="Times New Roman"/>
              </a:rPr>
              <a:t>   						 text-align: center;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00000"/>
              </a:buClr>
              <a:buSzPct val="100000"/>
              <a:buFont typeface="Times New Roman"/>
              <a:buNone/>
            </a:pPr>
            <a:r>
              <a:rPr b="0" i="0" lang="en-US" sz="2800" u="none" cap="none" strike="noStrike">
                <a:solidFill>
                  <a:srgbClr val="600000"/>
                </a:solidFill>
                <a:latin typeface="Times New Roman"/>
                <a:ea typeface="Times New Roman"/>
                <a:cs typeface="Times New Roman"/>
                <a:sym typeface="Times New Roman"/>
              </a:rPr>
              <a:t>    						  color: red;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00000"/>
              </a:buClr>
              <a:buSzPct val="100000"/>
              <a:buFont typeface="Times New Roman"/>
              <a:buNone/>
            </a:pPr>
            <a:r>
              <a:rPr b="0" i="0" lang="en-US" sz="2800" u="none" cap="none" strike="noStrike">
                <a:solidFill>
                  <a:srgbClr val="600000"/>
                </a:solidFill>
                <a:latin typeface="Times New Roman"/>
                <a:ea typeface="Times New Roman"/>
                <a:cs typeface="Times New Roman"/>
                <a:sym typeface="Times New Roman"/>
              </a:rPr>
              <a:t>					} </a:t>
            </a:r>
            <a:endParaRPr b="0" i="0" sz="2800" u="none" cap="none" strike="noStrike">
              <a:solidFill>
                <a:srgbClr val="6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&lt;p&gt;Every paragraph will be affected by the style.&lt;/p&gt;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&lt;p id="para1"&gt;Me too!&lt;/p&gt;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&lt;p&gt;And me!&lt;/p&gt;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id="703" name="Google Shape;703;p61"/>
          <p:cNvPicPr preferRelativeResize="0"/>
          <p:nvPr/>
        </p:nvPicPr>
        <p:blipFill rotWithShape="1">
          <a:blip r:embed="rId4">
            <a:alphaModFix/>
          </a:blip>
          <a:srcRect b="0" l="0" r="0" t="0"/>
          <a:stretch/>
        </p:blipFill>
        <p:spPr>
          <a:xfrm>
            <a:off x="7823802" y="1358752"/>
            <a:ext cx="3838575" cy="13906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62"/>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b="1" lang="en-US" sz="3600">
                <a:solidFill>
                  <a:srgbClr val="600000"/>
                </a:solidFill>
                <a:latin typeface="Times New Roman"/>
                <a:ea typeface="Times New Roman"/>
                <a:cs typeface="Times New Roman"/>
                <a:sym typeface="Times New Roman"/>
              </a:rPr>
              <a:t>The Id Selector</a:t>
            </a:r>
            <a:endParaRPr/>
          </a:p>
        </p:txBody>
      </p:sp>
      <p:pic>
        <p:nvPicPr>
          <p:cNvPr descr="C:\Users\GANGA\Desktop\download.jpg" id="709" name="Google Shape;709;p62"/>
          <p:cNvPicPr preferRelativeResize="0"/>
          <p:nvPr/>
        </p:nvPicPr>
        <p:blipFill rotWithShape="1">
          <a:blip r:embed="rId3">
            <a:alphaModFix/>
          </a:blip>
          <a:srcRect b="0" l="0" r="0" t="0"/>
          <a:stretch/>
        </p:blipFill>
        <p:spPr>
          <a:xfrm>
            <a:off x="0" y="6205248"/>
            <a:ext cx="586853" cy="663262"/>
          </a:xfrm>
          <a:prstGeom prst="rect">
            <a:avLst/>
          </a:prstGeom>
          <a:noFill/>
          <a:ln cap="flat" cmpd="sng" w="9525">
            <a:solidFill>
              <a:srgbClr val="860000"/>
            </a:solidFill>
            <a:prstDash val="solid"/>
            <a:round/>
            <a:headEnd len="sm" w="sm" type="none"/>
            <a:tailEnd len="sm" w="sm" type="none"/>
          </a:ln>
        </p:spPr>
      </p:pic>
      <p:sp>
        <p:nvSpPr>
          <p:cNvPr id="710" name="Google Shape;710;p62"/>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1" name="Google Shape;711;p62"/>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2" name="Google Shape;712;p62"/>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id selector uses the id attribute of an HTML element to select a specific element.</a:t>
            </a:r>
            <a:endParaRPr b="0" i="0" sz="1400" u="none" cap="none" strike="noStrike">
              <a:solidFill>
                <a:srgbClr val="000000"/>
              </a:solidFill>
              <a:latin typeface="Arial"/>
              <a:ea typeface="Arial"/>
              <a:cs typeface="Arial"/>
              <a:sym typeface="Arial"/>
            </a:endParaRPr>
          </a:p>
          <a:p>
            <a:pPr indent="0" lvl="0" marL="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id of an element should be unique within a page, so the id selector is used to select one unique element!</a:t>
            </a:r>
            <a:endParaRPr b="0" i="0" sz="1400" u="none" cap="none" strike="noStrike">
              <a:solidFill>
                <a:srgbClr val="000000"/>
              </a:solidFill>
              <a:latin typeface="Arial"/>
              <a:ea typeface="Arial"/>
              <a:cs typeface="Arial"/>
              <a:sym typeface="Arial"/>
            </a:endParaRPr>
          </a:p>
          <a:p>
            <a:pPr indent="0" lvl="0" marL="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To select an element with a specific id, write a </a:t>
            </a:r>
            <a:r>
              <a:rPr b="1" i="0" lang="en-US" sz="2800" u="none" cap="none" strike="noStrike">
                <a:solidFill>
                  <a:srgbClr val="600000"/>
                </a:solidFill>
                <a:latin typeface="Times New Roman"/>
                <a:ea typeface="Times New Roman"/>
                <a:cs typeface="Times New Roman"/>
                <a:sym typeface="Times New Roman"/>
              </a:rPr>
              <a:t>hash (#) character</a:t>
            </a:r>
            <a:r>
              <a:rPr b="0" i="0" lang="en-US" sz="2800" u="none" cap="none" strike="noStrike">
                <a:solidFill>
                  <a:srgbClr val="003300"/>
                </a:solidFill>
                <a:latin typeface="Times New Roman"/>
                <a:ea typeface="Times New Roman"/>
                <a:cs typeface="Times New Roman"/>
                <a:sym typeface="Times New Roman"/>
              </a:rPr>
              <a:t>, followed by the id of the element.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63"/>
          <p:cNvSpPr txBox="1"/>
          <p:nvPr/>
        </p:nvSpPr>
        <p:spPr>
          <a:xfrm>
            <a:off x="163772" y="204716"/>
            <a:ext cx="10781732"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The Id Selector</a:t>
            </a:r>
            <a:endParaRPr b="1" i="0" sz="3600" u="none" cap="none" strike="noStrike">
              <a:solidFill>
                <a:srgbClr val="860000"/>
              </a:solidFill>
              <a:latin typeface="Marcellus"/>
              <a:ea typeface="Marcellus"/>
              <a:cs typeface="Marcellus"/>
              <a:sym typeface="Marcellus"/>
            </a:endParaRPr>
          </a:p>
        </p:txBody>
      </p:sp>
      <p:sp>
        <p:nvSpPr>
          <p:cNvPr id="718" name="Google Shape;718;p63"/>
          <p:cNvSpPr txBox="1"/>
          <p:nvPr/>
        </p:nvSpPr>
        <p:spPr>
          <a:xfrm>
            <a:off x="163772" y="1017732"/>
            <a:ext cx="10781731" cy="567928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85000" lnSpcReduction="20000"/>
          </a:bodyPr>
          <a:lstStyle/>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00000"/>
              </a:buClr>
              <a:buSzPct val="100000"/>
              <a:buFont typeface="Times New Roman"/>
              <a:buNone/>
            </a:pPr>
            <a:r>
              <a:rPr b="0" i="0" lang="en-US" sz="2800" u="none" cap="none" strike="noStrike">
                <a:solidFill>
                  <a:srgbClr val="600000"/>
                </a:solidFill>
                <a:latin typeface="Times New Roman"/>
                <a:ea typeface="Times New Roman"/>
                <a:cs typeface="Times New Roman"/>
                <a:sym typeface="Times New Roman"/>
              </a:rPr>
              <a:t>				#para1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00000"/>
              </a:buClr>
              <a:buSzPct val="100000"/>
              <a:buFont typeface="Times New Roman"/>
              <a:buNone/>
            </a:pPr>
            <a:r>
              <a:rPr b="0" i="0" lang="en-US" sz="2800" u="none" cap="none" strike="noStrike">
                <a:solidFill>
                  <a:srgbClr val="600000"/>
                </a:solidFill>
                <a:latin typeface="Times New Roman"/>
                <a:ea typeface="Times New Roman"/>
                <a:cs typeface="Times New Roman"/>
                <a:sym typeface="Times New Roman"/>
              </a:rPr>
              <a:t> 					{</a:t>
            </a:r>
            <a:endParaRPr b="0" i="0" sz="2800" u="none" cap="none" strike="noStrike">
              <a:solidFill>
                <a:srgbClr val="6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600000"/>
              </a:buClr>
              <a:buSzPct val="100000"/>
              <a:buFont typeface="Times New Roman"/>
              <a:buNone/>
            </a:pPr>
            <a:r>
              <a:rPr b="0" i="0" lang="en-US" sz="2800" u="none" cap="none" strike="noStrike">
                <a:solidFill>
                  <a:srgbClr val="600000"/>
                </a:solidFill>
                <a:latin typeface="Times New Roman"/>
                <a:ea typeface="Times New Roman"/>
                <a:cs typeface="Times New Roman"/>
                <a:sym typeface="Times New Roman"/>
              </a:rPr>
              <a:t>  					  text-align: center;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00000"/>
              </a:buClr>
              <a:buSzPct val="100000"/>
              <a:buFont typeface="Times New Roman"/>
              <a:buNone/>
            </a:pPr>
            <a:r>
              <a:rPr b="0" i="0" lang="en-US" sz="2800" u="none" cap="none" strike="noStrike">
                <a:solidFill>
                  <a:srgbClr val="600000"/>
                </a:solidFill>
                <a:latin typeface="Times New Roman"/>
                <a:ea typeface="Times New Roman"/>
                <a:cs typeface="Times New Roman"/>
                <a:sym typeface="Times New Roman"/>
              </a:rPr>
              <a:t>   					 color: red;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600000"/>
              </a:buClr>
              <a:buSzPct val="100000"/>
              <a:buFont typeface="Times New Roman"/>
              <a:buNone/>
            </a:pPr>
            <a:r>
              <a:rPr b="0" i="0" lang="en-US" sz="2800" u="none" cap="none" strike="noStrike">
                <a:solidFill>
                  <a:srgbClr val="600000"/>
                </a:solidFill>
                <a:latin typeface="Times New Roman"/>
                <a:ea typeface="Times New Roman"/>
                <a:cs typeface="Times New Roman"/>
                <a:sym typeface="Times New Roman"/>
              </a:rPr>
              <a:t>					}</a:t>
            </a:r>
            <a:endParaRPr b="0" i="0" sz="2800" u="none" cap="none" strike="noStrike">
              <a:solidFill>
                <a:srgbClr val="6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&lt;p id="para1"&gt;Hello World!&lt;/p&gt;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&lt;p&gt;This paragraph is not affected by the style.&lt;/p&gt;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719" name="Google Shape;719;p63"/>
          <p:cNvSpPr/>
          <p:nvPr/>
        </p:nvSpPr>
        <p:spPr>
          <a:xfrm>
            <a:off x="11191167" y="0"/>
            <a:ext cx="259311" cy="551369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20" name="Google Shape;720;p63"/>
          <p:cNvSpPr/>
          <p:nvPr/>
        </p:nvSpPr>
        <p:spPr>
          <a:xfrm>
            <a:off x="11450472" y="0"/>
            <a:ext cx="741528" cy="5882183"/>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721" name="Google Shape;721;p63"/>
          <p:cNvPicPr preferRelativeResize="0"/>
          <p:nvPr/>
        </p:nvPicPr>
        <p:blipFill rotWithShape="1">
          <a:blip r:embed="rId3">
            <a:alphaModFix/>
          </a:blip>
          <a:srcRect b="0" l="0" r="0" t="0"/>
          <a:stretch/>
        </p:blipFill>
        <p:spPr>
          <a:xfrm>
            <a:off x="11191166" y="5915467"/>
            <a:ext cx="1000833" cy="915237"/>
          </a:xfrm>
          <a:prstGeom prst="rect">
            <a:avLst/>
          </a:prstGeom>
          <a:noFill/>
          <a:ln cap="flat" cmpd="sng" w="9525">
            <a:solidFill>
              <a:srgbClr val="860000"/>
            </a:solidFill>
            <a:prstDash val="solid"/>
            <a:round/>
            <a:headEnd len="sm" w="sm" type="none"/>
            <a:tailEnd len="sm" w="sm" type="none"/>
          </a:ln>
        </p:spPr>
      </p:pic>
      <p:pic>
        <p:nvPicPr>
          <p:cNvPr id="722" name="Google Shape;722;p63"/>
          <p:cNvPicPr preferRelativeResize="0"/>
          <p:nvPr/>
        </p:nvPicPr>
        <p:blipFill rotWithShape="1">
          <a:blip r:embed="rId4">
            <a:alphaModFix/>
          </a:blip>
          <a:srcRect b="0" l="0" r="0" t="0"/>
          <a:stretch/>
        </p:blipFill>
        <p:spPr>
          <a:xfrm>
            <a:off x="6833331" y="1661473"/>
            <a:ext cx="3733800" cy="10953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64"/>
          <p:cNvSpPr txBox="1"/>
          <p:nvPr/>
        </p:nvSpPr>
        <p:spPr>
          <a:xfrm>
            <a:off x="163772" y="204716"/>
            <a:ext cx="11136574"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The Class Selector</a:t>
            </a:r>
            <a:endParaRPr b="1" i="0" sz="3600" u="none" cap="none" strike="noStrike">
              <a:solidFill>
                <a:srgbClr val="600000"/>
              </a:solidFill>
              <a:latin typeface="Times New Roman"/>
              <a:ea typeface="Times New Roman"/>
              <a:cs typeface="Times New Roman"/>
              <a:sym typeface="Times New Roman"/>
            </a:endParaRPr>
          </a:p>
        </p:txBody>
      </p:sp>
      <p:sp>
        <p:nvSpPr>
          <p:cNvPr id="728" name="Google Shape;728;p64"/>
          <p:cNvSpPr txBox="1"/>
          <p:nvPr/>
        </p:nvSpPr>
        <p:spPr>
          <a:xfrm>
            <a:off x="163772" y="1017733"/>
            <a:ext cx="11122927" cy="5073974"/>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class selector selects elements with a specific class attribute.</a:t>
            </a:r>
            <a:endParaRPr b="0" i="0" sz="1400" u="none" cap="none" strike="noStrike">
              <a:solidFill>
                <a:srgbClr val="000000"/>
              </a:solidFill>
              <a:latin typeface="Arial"/>
              <a:ea typeface="Arial"/>
              <a:cs typeface="Arial"/>
              <a:sym typeface="Arial"/>
            </a:endParaRPr>
          </a:p>
          <a:p>
            <a:pPr indent="0" lvl="0" marL="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To select elements with a specific class, write a </a:t>
            </a:r>
            <a:r>
              <a:rPr b="1" i="0" lang="en-US" sz="2800" u="none" cap="none" strike="noStrike">
                <a:solidFill>
                  <a:srgbClr val="600000"/>
                </a:solidFill>
                <a:latin typeface="Times New Roman"/>
                <a:ea typeface="Times New Roman"/>
                <a:cs typeface="Times New Roman"/>
                <a:sym typeface="Times New Roman"/>
              </a:rPr>
              <a:t>period (.) character</a:t>
            </a:r>
            <a:r>
              <a:rPr b="0" i="0" lang="en-US" sz="2800" u="none" cap="none" strike="noStrike">
                <a:solidFill>
                  <a:srgbClr val="003300"/>
                </a:solidFill>
                <a:latin typeface="Times New Roman"/>
                <a:ea typeface="Times New Roman"/>
                <a:cs typeface="Times New Roman"/>
                <a:sym typeface="Times New Roman"/>
              </a:rPr>
              <a:t>, followed by the name of the class.</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729" name="Google Shape;729;p64"/>
          <p:cNvSpPr/>
          <p:nvPr/>
        </p:nvSpPr>
        <p:spPr>
          <a:xfrm>
            <a:off x="11477767" y="0"/>
            <a:ext cx="714233" cy="68580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730" name="Google Shape;730;p64"/>
          <p:cNvPicPr preferRelativeResize="0"/>
          <p:nvPr/>
        </p:nvPicPr>
        <p:blipFill rotWithShape="1">
          <a:blip r:embed="rId3">
            <a:alphaModFix/>
          </a:blip>
          <a:srcRect b="0" l="0" r="0" t="0"/>
          <a:stretch/>
        </p:blipFill>
        <p:spPr>
          <a:xfrm>
            <a:off x="163772" y="6209730"/>
            <a:ext cx="778199" cy="593679"/>
          </a:xfrm>
          <a:prstGeom prst="rect">
            <a:avLst/>
          </a:prstGeom>
          <a:noFill/>
          <a:ln cap="flat" cmpd="sng" w="9525">
            <a:solidFill>
              <a:srgbClr val="860000"/>
            </a:solidFill>
            <a:prstDash val="solid"/>
            <a:round/>
            <a:headEnd len="sm" w="sm" type="none"/>
            <a:tailEnd len="sm" w="sm" type="none"/>
          </a:ln>
        </p:spPr>
      </p:pic>
      <p:sp>
        <p:nvSpPr>
          <p:cNvPr id="731" name="Google Shape;731;p64"/>
          <p:cNvSpPr/>
          <p:nvPr/>
        </p:nvSpPr>
        <p:spPr>
          <a:xfrm>
            <a:off x="3346973" y="6209731"/>
            <a:ext cx="8144442" cy="648269"/>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32" name="Google Shape;732;p64"/>
          <p:cNvSpPr/>
          <p:nvPr/>
        </p:nvSpPr>
        <p:spPr>
          <a:xfrm>
            <a:off x="2646389" y="6209730"/>
            <a:ext cx="700584" cy="64827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733" name="Google Shape;733;p64"/>
          <p:cNvPicPr preferRelativeResize="0"/>
          <p:nvPr/>
        </p:nvPicPr>
        <p:blipFill rotWithShape="1">
          <a:blip r:embed="rId4">
            <a:alphaModFix/>
          </a:blip>
          <a:srcRect b="0" l="0" r="0" t="0"/>
          <a:stretch/>
        </p:blipFill>
        <p:spPr>
          <a:xfrm>
            <a:off x="552870" y="3886200"/>
            <a:ext cx="9983511" cy="16002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65"/>
          <p:cNvSpPr txBox="1"/>
          <p:nvPr/>
        </p:nvSpPr>
        <p:spPr>
          <a:xfrm>
            <a:off x="163771" y="204716"/>
            <a:ext cx="11778019"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The Class Selector</a:t>
            </a:r>
            <a:endParaRPr b="1" i="0" sz="3600" u="none" cap="none" strike="noStrike">
              <a:solidFill>
                <a:srgbClr val="600000"/>
              </a:solidFill>
              <a:latin typeface="Times New Roman"/>
              <a:ea typeface="Times New Roman"/>
              <a:cs typeface="Times New Roman"/>
              <a:sym typeface="Times New Roman"/>
            </a:endParaRPr>
          </a:p>
        </p:txBody>
      </p:sp>
      <p:sp>
        <p:nvSpPr>
          <p:cNvPr id="739" name="Google Shape;739;p65"/>
          <p:cNvSpPr txBox="1"/>
          <p:nvPr/>
        </p:nvSpPr>
        <p:spPr>
          <a:xfrm>
            <a:off x="163772" y="979096"/>
            <a:ext cx="11764371" cy="5225185"/>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77500" lnSpcReduction="20000"/>
          </a:bodyPr>
          <a:lstStyle/>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5" marL="22860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.center</a:t>
            </a:r>
            <a:endParaRPr b="0" i="0" sz="1400" u="none" cap="none" strike="noStrike">
              <a:solidFill>
                <a:srgbClr val="000000"/>
              </a:solidFill>
              <a:latin typeface="Arial"/>
              <a:ea typeface="Arial"/>
              <a:cs typeface="Arial"/>
              <a:sym typeface="Arial"/>
            </a:endParaRPr>
          </a:p>
          <a:p>
            <a:pPr indent="0" lvl="5" marL="22860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5" marL="22860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text-align: center;</a:t>
            </a:r>
            <a:endParaRPr b="0" i="0" sz="1400" u="none" cap="none" strike="noStrike">
              <a:solidFill>
                <a:srgbClr val="000000"/>
              </a:solidFill>
              <a:latin typeface="Arial"/>
              <a:ea typeface="Arial"/>
              <a:cs typeface="Arial"/>
              <a:sym typeface="Arial"/>
            </a:endParaRPr>
          </a:p>
          <a:p>
            <a:pPr indent="0" lvl="5" marL="22860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color: red;</a:t>
            </a:r>
            <a:endParaRPr b="0" i="0" sz="1400" u="none" cap="none" strike="noStrike">
              <a:solidFill>
                <a:srgbClr val="000000"/>
              </a:solidFill>
              <a:latin typeface="Arial"/>
              <a:ea typeface="Arial"/>
              <a:cs typeface="Arial"/>
              <a:sym typeface="Arial"/>
            </a:endParaRPr>
          </a:p>
          <a:p>
            <a:pPr indent="0" lvl="5" marL="22860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&lt;h1 class="center"&gt;Red and center-aligned heading&lt;/h1&gt;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&lt;p class="center"&gt;Red and center-aligned paragraph.&lt;/p&gt;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740" name="Google Shape;740;p65"/>
          <p:cNvPicPr preferRelativeResize="0"/>
          <p:nvPr/>
        </p:nvPicPr>
        <p:blipFill rotWithShape="1">
          <a:blip r:embed="rId3">
            <a:alphaModFix/>
          </a:blip>
          <a:srcRect b="0" l="0" r="0" t="0"/>
          <a:stretch/>
        </p:blipFill>
        <p:spPr>
          <a:xfrm>
            <a:off x="11305780" y="6242918"/>
            <a:ext cx="622363" cy="615082"/>
          </a:xfrm>
          <a:prstGeom prst="rect">
            <a:avLst/>
          </a:prstGeom>
          <a:noFill/>
          <a:ln cap="flat" cmpd="sng" w="9525">
            <a:solidFill>
              <a:srgbClr val="860000"/>
            </a:solidFill>
            <a:prstDash val="solid"/>
            <a:round/>
            <a:headEnd len="sm" w="sm" type="none"/>
            <a:tailEnd len="sm" w="sm" type="none"/>
          </a:ln>
        </p:spPr>
      </p:pic>
      <p:sp>
        <p:nvSpPr>
          <p:cNvPr id="741" name="Google Shape;741;p65"/>
          <p:cNvSpPr/>
          <p:nvPr/>
        </p:nvSpPr>
        <p:spPr>
          <a:xfrm>
            <a:off x="0" y="6553209"/>
            <a:ext cx="11305780" cy="304791"/>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42" name="Google Shape;742;p65"/>
          <p:cNvSpPr/>
          <p:nvPr/>
        </p:nvSpPr>
        <p:spPr>
          <a:xfrm>
            <a:off x="1" y="6336406"/>
            <a:ext cx="10683416" cy="216803"/>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743" name="Google Shape;743;p65"/>
          <p:cNvPicPr preferRelativeResize="0"/>
          <p:nvPr/>
        </p:nvPicPr>
        <p:blipFill rotWithShape="1">
          <a:blip r:embed="rId4">
            <a:alphaModFix/>
          </a:blip>
          <a:srcRect b="0" l="0" r="0" t="0"/>
          <a:stretch/>
        </p:blipFill>
        <p:spPr>
          <a:xfrm>
            <a:off x="6437423" y="1979339"/>
            <a:ext cx="5076825" cy="130492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66"/>
          <p:cNvSpPr txBox="1"/>
          <p:nvPr/>
        </p:nvSpPr>
        <p:spPr>
          <a:xfrm>
            <a:off x="68236" y="43974"/>
            <a:ext cx="11123505"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The Class Selector</a:t>
            </a:r>
            <a:endParaRPr b="1" i="0" sz="3600" u="none" cap="none" strike="noStrike">
              <a:solidFill>
                <a:srgbClr val="600000"/>
              </a:solidFill>
              <a:latin typeface="Times New Roman"/>
              <a:ea typeface="Times New Roman"/>
              <a:cs typeface="Times New Roman"/>
              <a:sym typeface="Times New Roman"/>
            </a:endParaRPr>
          </a:p>
        </p:txBody>
      </p:sp>
      <p:sp>
        <p:nvSpPr>
          <p:cNvPr id="749" name="Google Shape;749;p66"/>
          <p:cNvSpPr txBox="1"/>
          <p:nvPr/>
        </p:nvSpPr>
        <p:spPr>
          <a:xfrm>
            <a:off x="68236" y="811369"/>
            <a:ext cx="12012147" cy="546660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62500" lnSpcReduction="20000"/>
          </a:bodyPr>
          <a:lstStyle/>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.intro </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a:t>
            </a:r>
            <a:endParaRPr b="0" i="0" sz="2800" u="none" cap="none" strike="noStrike">
              <a:solidFill>
                <a:srgbClr val="600000"/>
              </a:solidFill>
              <a:latin typeface="Times New Roman"/>
              <a:ea typeface="Times New Roman"/>
              <a:cs typeface="Times New Roman"/>
              <a:sym typeface="Times New Roman"/>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color: blue;</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text-align: center;</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2800" u="none" cap="none" strike="noStrike">
              <a:solidFill>
                <a:srgbClr val="003300"/>
              </a:solidFill>
              <a:latin typeface="Times New Roman"/>
              <a:ea typeface="Times New Roman"/>
              <a:cs typeface="Times New Roman"/>
              <a:sym typeface="Times New Roman"/>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.important </a:t>
            </a:r>
            <a:endParaRPr b="0" i="0" sz="2800" u="none" cap="none" strike="noStrike">
              <a:solidFill>
                <a:srgbClr val="600000"/>
              </a:solidFill>
              <a:latin typeface="Times New Roman"/>
              <a:ea typeface="Times New Roman"/>
              <a:cs typeface="Times New Roman"/>
              <a:sym typeface="Times New Roman"/>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a:t>
            </a:r>
            <a:endParaRPr b="0" i="0" sz="2800" u="none" cap="none" strike="noStrike">
              <a:solidFill>
                <a:srgbClr val="600000"/>
              </a:solidFill>
              <a:latin typeface="Times New Roman"/>
              <a:ea typeface="Times New Roman"/>
              <a:cs typeface="Times New Roman"/>
              <a:sym typeface="Times New Roman"/>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background-color: yellow;</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&lt;h1 class="intro important"&gt;Header 1&lt;/h1&gt;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&lt;p&gt;A paragraph.&lt;/p&gt;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750" name="Google Shape;750;p66"/>
          <p:cNvPicPr preferRelativeResize="0"/>
          <p:nvPr/>
        </p:nvPicPr>
        <p:blipFill rotWithShape="1">
          <a:blip r:embed="rId3">
            <a:alphaModFix/>
          </a:blip>
          <a:srcRect b="0" l="0" r="0" t="0"/>
          <a:stretch/>
        </p:blipFill>
        <p:spPr>
          <a:xfrm>
            <a:off x="11333408" y="68781"/>
            <a:ext cx="746975" cy="660699"/>
          </a:xfrm>
          <a:prstGeom prst="rect">
            <a:avLst/>
          </a:prstGeom>
          <a:noFill/>
          <a:ln cap="flat" cmpd="sng" w="9525">
            <a:solidFill>
              <a:srgbClr val="860000"/>
            </a:solidFill>
            <a:prstDash val="solid"/>
            <a:round/>
            <a:headEnd len="sm" w="sm" type="none"/>
            <a:tailEnd len="sm" w="sm" type="none"/>
          </a:ln>
        </p:spPr>
      </p:pic>
      <p:sp>
        <p:nvSpPr>
          <p:cNvPr id="751" name="Google Shape;751;p66"/>
          <p:cNvSpPr/>
          <p:nvPr/>
        </p:nvSpPr>
        <p:spPr>
          <a:xfrm>
            <a:off x="0" y="6564573"/>
            <a:ext cx="12192000" cy="293427"/>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2" name="Google Shape;752;p66"/>
          <p:cNvSpPr/>
          <p:nvPr/>
        </p:nvSpPr>
        <p:spPr>
          <a:xfrm>
            <a:off x="1" y="6359859"/>
            <a:ext cx="10276764" cy="19335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753" name="Google Shape;753;p66"/>
          <p:cNvPicPr preferRelativeResize="0"/>
          <p:nvPr/>
        </p:nvPicPr>
        <p:blipFill rotWithShape="1">
          <a:blip r:embed="rId4">
            <a:alphaModFix/>
          </a:blip>
          <a:srcRect b="0" l="0" r="0" t="0"/>
          <a:stretch/>
        </p:blipFill>
        <p:spPr>
          <a:xfrm>
            <a:off x="5372770" y="991276"/>
            <a:ext cx="6334125" cy="10382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67"/>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lang="en-US" sz="3600">
                <a:solidFill>
                  <a:srgbClr val="600000"/>
                </a:solidFill>
                <a:latin typeface="Times New Roman"/>
                <a:ea typeface="Times New Roman"/>
                <a:cs typeface="Times New Roman"/>
                <a:sym typeface="Times New Roman"/>
              </a:rPr>
              <a:t>Group Selectors</a:t>
            </a:r>
            <a:endParaRPr b="1" sz="3600">
              <a:solidFill>
                <a:srgbClr val="600000"/>
              </a:solidFill>
              <a:latin typeface="Times New Roman"/>
              <a:ea typeface="Times New Roman"/>
              <a:cs typeface="Times New Roman"/>
              <a:sym typeface="Times New Roman"/>
            </a:endParaRPr>
          </a:p>
        </p:txBody>
      </p:sp>
      <p:pic>
        <p:nvPicPr>
          <p:cNvPr descr="C:\Users\GANGA\Desktop\download.jpg" id="759" name="Google Shape;759;p67"/>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760" name="Google Shape;760;p67"/>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1" name="Google Shape;761;p67"/>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2" name="Google Shape;762;p67"/>
          <p:cNvSpPr txBox="1"/>
          <p:nvPr/>
        </p:nvSpPr>
        <p:spPr>
          <a:xfrm>
            <a:off x="818866" y="990600"/>
            <a:ext cx="11136600" cy="5795400"/>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85000" lnSpcReduction="20000"/>
          </a:bodyPr>
          <a:lstStyle/>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h1, h2, p </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text-align: center;</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color: red;</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2800" u="none" cap="none" strike="noStrike">
              <a:solidFill>
                <a:srgbClr val="003300"/>
              </a:solidFill>
              <a:latin typeface="Times New Roman"/>
              <a:ea typeface="Times New Roman"/>
              <a:cs typeface="Times New Roman"/>
              <a:sym typeface="Times New Roman"/>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&lt;h1&gt;Hello World!&lt;/h1&gt;</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&lt;h2&gt;Smaller heading!&lt;/h2&gt;</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&lt;p&gt;This is a paragraph.&lt;/p&gt;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id="763" name="Google Shape;763;p67"/>
          <p:cNvPicPr preferRelativeResize="0"/>
          <p:nvPr/>
        </p:nvPicPr>
        <p:blipFill rotWithShape="1">
          <a:blip r:embed="rId4">
            <a:alphaModFix/>
          </a:blip>
          <a:srcRect b="0" l="0" r="0" t="0"/>
          <a:stretch/>
        </p:blipFill>
        <p:spPr>
          <a:xfrm>
            <a:off x="7070834" y="2331216"/>
            <a:ext cx="3200400" cy="18097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68"/>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b="1" lang="en-US" sz="3600">
                <a:solidFill>
                  <a:srgbClr val="600000"/>
                </a:solidFill>
                <a:latin typeface="Times New Roman"/>
                <a:ea typeface="Times New Roman"/>
                <a:cs typeface="Times New Roman"/>
                <a:sym typeface="Times New Roman"/>
              </a:rPr>
              <a:t>Universal Selectors</a:t>
            </a:r>
            <a:endParaRPr b="1" sz="3600">
              <a:solidFill>
                <a:srgbClr val="600000"/>
              </a:solidFill>
              <a:latin typeface="Times New Roman"/>
              <a:ea typeface="Times New Roman"/>
              <a:cs typeface="Times New Roman"/>
              <a:sym typeface="Times New Roman"/>
            </a:endParaRPr>
          </a:p>
        </p:txBody>
      </p:sp>
      <p:pic>
        <p:nvPicPr>
          <p:cNvPr descr="C:\Users\GANGA\Desktop\download.jpg" id="769" name="Google Shape;769;p68"/>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770" name="Google Shape;770;p68"/>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1" name="Google Shape;771;p68"/>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2" name="Google Shape;772;p68"/>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70000" lnSpcReduction="20000"/>
          </a:bodyPr>
          <a:lstStyle/>
          <a:p>
            <a:pPr indent="0" lvl="0" marL="0" marR="0" rtl="0" algn="l">
              <a:lnSpc>
                <a:spcPct val="12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&lt;title&gt;Simple Example of CSS universal selectors &lt;/title&gt;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4" marL="1828800" marR="0" rtl="0" algn="l">
              <a:lnSpc>
                <a:spcPct val="12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a:t>
            </a:r>
            <a:endParaRPr b="0" i="0" sz="2800" u="none" cap="none" strike="noStrike">
              <a:solidFill>
                <a:srgbClr val="600000"/>
              </a:solidFill>
              <a:latin typeface="Times New Roman"/>
              <a:ea typeface="Times New Roman"/>
              <a:cs typeface="Times New Roman"/>
              <a:sym typeface="Times New Roman"/>
            </a:endParaRPr>
          </a:p>
          <a:p>
            <a:pPr indent="0" lvl="4" marL="1828800" marR="0" rtl="0" algn="l">
              <a:lnSpc>
                <a:spcPct val="12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a:t>
            </a:r>
            <a:endParaRPr b="0" i="0" sz="2800" u="none" cap="none" strike="noStrike">
              <a:solidFill>
                <a:srgbClr val="600000"/>
              </a:solidFill>
              <a:latin typeface="Times New Roman"/>
              <a:ea typeface="Times New Roman"/>
              <a:cs typeface="Times New Roman"/>
              <a:sym typeface="Times New Roman"/>
            </a:endParaRPr>
          </a:p>
          <a:p>
            <a:pPr indent="0" lvl="4" marL="1828800" marR="0" rtl="0" algn="l">
              <a:lnSpc>
                <a:spcPct val="12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color: blue; </a:t>
            </a:r>
            <a:endParaRPr b="0" i="0" sz="1400" u="none" cap="none" strike="noStrike">
              <a:solidFill>
                <a:srgbClr val="000000"/>
              </a:solidFill>
              <a:latin typeface="Arial"/>
              <a:ea typeface="Arial"/>
              <a:cs typeface="Arial"/>
              <a:sym typeface="Arial"/>
            </a:endParaRPr>
          </a:p>
          <a:p>
            <a:pPr indent="0" lvl="4" marL="1828800" marR="0" rtl="0" algn="l">
              <a:lnSpc>
                <a:spcPct val="12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background: silver; </a:t>
            </a:r>
            <a:endParaRPr b="0" i="0" sz="1400" u="none" cap="none" strike="noStrike">
              <a:solidFill>
                <a:srgbClr val="000000"/>
              </a:solidFill>
              <a:latin typeface="Arial"/>
              <a:ea typeface="Arial"/>
              <a:cs typeface="Arial"/>
              <a:sym typeface="Arial"/>
            </a:endParaRPr>
          </a:p>
          <a:p>
            <a:pPr indent="0" lvl="4" marL="1828800" marR="0" rtl="0" algn="l">
              <a:lnSpc>
                <a:spcPct val="12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&lt;body&gt;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&lt;h1&gt;Example of CSS.&lt;/h2&gt;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&lt;h2&gt;Example of grouping of CSS universal selectors.&lt;/h2&gt;</a:t>
            </a:r>
            <a:endParaRPr b="0" i="0" sz="1400" u="none" cap="none" strike="noStrike">
              <a:solidFill>
                <a:srgbClr val="000000"/>
              </a:solidFill>
              <a:latin typeface="Arial"/>
              <a:ea typeface="Arial"/>
              <a:cs typeface="Arial"/>
              <a:sym typeface="Arial"/>
            </a:endParaRPr>
          </a:p>
          <a:p>
            <a:pPr indent="0" lvl="0" marL="0" marR="0" rtl="0" algn="just">
              <a:lnSpc>
                <a:spcPct val="12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&lt;p&gt;</a:t>
            </a:r>
            <a:r>
              <a:rPr b="0" i="0" lang="en-US" sz="2900" u="none" cap="none" strike="noStrike">
                <a:solidFill>
                  <a:srgbClr val="003300"/>
                </a:solidFill>
                <a:latin typeface="Times New Roman"/>
                <a:ea typeface="Times New Roman"/>
                <a:cs typeface="Times New Roman"/>
                <a:sym typeface="Times New Roman"/>
              </a:rPr>
              <a:t>CHAITANYA BHARATHI INSTITUTE OF TECHNOLOGY, established in the Year 1979, esteemed as the Premier Engineering Institute in the States of Telangana and Andhra Pradesh</a:t>
            </a:r>
            <a:r>
              <a:rPr b="0" i="0" lang="en-US" sz="2800" u="none" cap="none" strike="noStrike">
                <a:solidFill>
                  <a:srgbClr val="003300"/>
                </a:solidFill>
                <a:latin typeface="Times New Roman"/>
                <a:ea typeface="Times New Roman"/>
                <a:cs typeface="Times New Roman"/>
                <a:sym typeface="Times New Roman"/>
              </a:rPr>
              <a:t>.&lt;/p&gt;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&lt;/body&gt;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id="773" name="Google Shape;773;p68"/>
          <p:cNvPicPr preferRelativeResize="0"/>
          <p:nvPr/>
        </p:nvPicPr>
        <p:blipFill rotWithShape="1">
          <a:blip r:embed="rId4">
            <a:alphaModFix/>
          </a:blip>
          <a:srcRect b="0" l="0" r="0" t="0"/>
          <a:stretch/>
        </p:blipFill>
        <p:spPr>
          <a:xfrm>
            <a:off x="5727344" y="2388750"/>
            <a:ext cx="5792787" cy="16002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69"/>
          <p:cNvSpPr txBox="1"/>
          <p:nvPr/>
        </p:nvSpPr>
        <p:spPr>
          <a:xfrm>
            <a:off x="163772" y="204716"/>
            <a:ext cx="10781732"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C</a:t>
            </a:r>
            <a:r>
              <a:rPr b="0" i="0" lang="en-US" sz="3600" u="none" cap="none" strike="noStrike">
                <a:solidFill>
                  <a:srgbClr val="600000"/>
                </a:solidFill>
                <a:latin typeface="Times New Roman"/>
                <a:ea typeface="Times New Roman"/>
                <a:cs typeface="Times New Roman"/>
                <a:sym typeface="Times New Roman"/>
              </a:rPr>
              <a:t>ascading </a:t>
            </a:r>
            <a:r>
              <a:rPr b="1" i="0" lang="en-US" sz="3600" u="none" cap="none" strike="noStrike">
                <a:solidFill>
                  <a:srgbClr val="600000"/>
                </a:solidFill>
                <a:latin typeface="Times New Roman"/>
                <a:ea typeface="Times New Roman"/>
                <a:cs typeface="Times New Roman"/>
                <a:sym typeface="Times New Roman"/>
              </a:rPr>
              <a:t>S</a:t>
            </a:r>
            <a:r>
              <a:rPr b="0" i="0" lang="en-US" sz="3600" u="none" cap="none" strike="noStrike">
                <a:solidFill>
                  <a:srgbClr val="600000"/>
                </a:solidFill>
                <a:latin typeface="Times New Roman"/>
                <a:ea typeface="Times New Roman"/>
                <a:cs typeface="Times New Roman"/>
                <a:sym typeface="Times New Roman"/>
              </a:rPr>
              <a:t>tyle </a:t>
            </a:r>
            <a:r>
              <a:rPr b="1" i="0" lang="en-US" sz="3600" u="none" cap="none" strike="noStrike">
                <a:solidFill>
                  <a:srgbClr val="600000"/>
                </a:solidFill>
                <a:latin typeface="Times New Roman"/>
                <a:ea typeface="Times New Roman"/>
                <a:cs typeface="Times New Roman"/>
                <a:sym typeface="Times New Roman"/>
              </a:rPr>
              <a:t>S</a:t>
            </a:r>
            <a:r>
              <a:rPr b="0" i="0" lang="en-US" sz="3600" u="none" cap="none" strike="noStrike">
                <a:solidFill>
                  <a:srgbClr val="600000"/>
                </a:solidFill>
                <a:latin typeface="Times New Roman"/>
                <a:ea typeface="Times New Roman"/>
                <a:cs typeface="Times New Roman"/>
                <a:sym typeface="Times New Roman"/>
              </a:rPr>
              <a:t>heets</a:t>
            </a:r>
            <a:endParaRPr b="1" i="0" sz="3600" u="none" cap="none" strike="noStrike">
              <a:solidFill>
                <a:srgbClr val="600000"/>
              </a:solidFill>
              <a:latin typeface="Times New Roman"/>
              <a:ea typeface="Times New Roman"/>
              <a:cs typeface="Times New Roman"/>
              <a:sym typeface="Times New Roman"/>
            </a:endParaRPr>
          </a:p>
        </p:txBody>
      </p:sp>
      <p:sp>
        <p:nvSpPr>
          <p:cNvPr id="779" name="Google Shape;779;p69"/>
          <p:cNvSpPr txBox="1"/>
          <p:nvPr/>
        </p:nvSpPr>
        <p:spPr>
          <a:xfrm>
            <a:off x="163772" y="1017732"/>
            <a:ext cx="10781731" cy="567928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3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There are three ways of inserting a style sheet:</a:t>
            </a:r>
            <a:endParaRPr b="0" i="0" sz="1400" u="none" cap="none" strike="noStrike">
              <a:solidFill>
                <a:srgbClr val="000000"/>
              </a:solidFill>
              <a:latin typeface="Arial"/>
              <a:ea typeface="Arial"/>
              <a:cs typeface="Arial"/>
              <a:sym typeface="Arial"/>
            </a:endParaRPr>
          </a:p>
          <a:p>
            <a:pPr indent="-514350" lvl="0" marL="514350" marR="0" rtl="0" algn="l">
              <a:lnSpc>
                <a:spcPct val="300000"/>
              </a:lnSpc>
              <a:spcBef>
                <a:spcPts val="0"/>
              </a:spcBef>
              <a:spcAft>
                <a:spcPts val="0"/>
              </a:spcAft>
              <a:buClr>
                <a:srgbClr val="003300"/>
              </a:buClr>
              <a:buSzPts val="2800"/>
              <a:buFont typeface="Calibri"/>
              <a:buAutoNum type="arabicPeriod"/>
            </a:pPr>
            <a:r>
              <a:rPr b="0" i="0" lang="en-US" sz="2800" u="none" cap="none" strike="noStrike">
                <a:solidFill>
                  <a:srgbClr val="003300"/>
                </a:solidFill>
                <a:latin typeface="Times New Roman"/>
                <a:ea typeface="Times New Roman"/>
                <a:cs typeface="Times New Roman"/>
                <a:sym typeface="Times New Roman"/>
              </a:rPr>
              <a:t>	External style sheet</a:t>
            </a:r>
            <a:endParaRPr b="0" i="0" sz="1400" u="none" cap="none" strike="noStrike">
              <a:solidFill>
                <a:srgbClr val="000000"/>
              </a:solidFill>
              <a:latin typeface="Arial"/>
              <a:ea typeface="Arial"/>
              <a:cs typeface="Arial"/>
              <a:sym typeface="Arial"/>
            </a:endParaRPr>
          </a:p>
          <a:p>
            <a:pPr indent="-514350" lvl="0" marL="514350" marR="0" rtl="0" algn="l">
              <a:lnSpc>
                <a:spcPct val="300000"/>
              </a:lnSpc>
              <a:spcBef>
                <a:spcPts val="0"/>
              </a:spcBef>
              <a:spcAft>
                <a:spcPts val="0"/>
              </a:spcAft>
              <a:buClr>
                <a:srgbClr val="003300"/>
              </a:buClr>
              <a:buSzPts val="2800"/>
              <a:buFont typeface="Calibri"/>
              <a:buAutoNum type="arabicPeriod"/>
            </a:pPr>
            <a:r>
              <a:rPr b="0" i="0" lang="en-US" sz="2800" u="none" cap="none" strike="noStrike">
                <a:solidFill>
                  <a:srgbClr val="003300"/>
                </a:solidFill>
                <a:latin typeface="Times New Roman"/>
                <a:ea typeface="Times New Roman"/>
                <a:cs typeface="Times New Roman"/>
                <a:sym typeface="Times New Roman"/>
              </a:rPr>
              <a:t>	Internal style sheet</a:t>
            </a:r>
            <a:endParaRPr b="0" i="0" sz="1400" u="none" cap="none" strike="noStrike">
              <a:solidFill>
                <a:srgbClr val="000000"/>
              </a:solidFill>
              <a:latin typeface="Arial"/>
              <a:ea typeface="Arial"/>
              <a:cs typeface="Arial"/>
              <a:sym typeface="Arial"/>
            </a:endParaRPr>
          </a:p>
          <a:p>
            <a:pPr indent="-514350" lvl="0" marL="514350" marR="0" rtl="0" algn="l">
              <a:lnSpc>
                <a:spcPct val="300000"/>
              </a:lnSpc>
              <a:spcBef>
                <a:spcPts val="0"/>
              </a:spcBef>
              <a:spcAft>
                <a:spcPts val="0"/>
              </a:spcAft>
              <a:buClr>
                <a:srgbClr val="003300"/>
              </a:buClr>
              <a:buSzPts val="2800"/>
              <a:buFont typeface="Calibri"/>
              <a:buAutoNum type="arabicPeriod"/>
            </a:pPr>
            <a:r>
              <a:rPr b="0" i="0" lang="en-US" sz="2800" u="none" cap="none" strike="noStrike">
                <a:solidFill>
                  <a:srgbClr val="003300"/>
                </a:solidFill>
                <a:latin typeface="Times New Roman"/>
                <a:ea typeface="Times New Roman"/>
                <a:cs typeface="Times New Roman"/>
                <a:sym typeface="Times New Roman"/>
              </a:rPr>
              <a:t>	Inline style</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780" name="Google Shape;780;p69"/>
          <p:cNvSpPr/>
          <p:nvPr/>
        </p:nvSpPr>
        <p:spPr>
          <a:xfrm>
            <a:off x="11191167" y="0"/>
            <a:ext cx="259311" cy="551369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81" name="Google Shape;781;p69"/>
          <p:cNvSpPr/>
          <p:nvPr/>
        </p:nvSpPr>
        <p:spPr>
          <a:xfrm>
            <a:off x="11450472" y="0"/>
            <a:ext cx="741528" cy="5882183"/>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782" name="Google Shape;782;p69"/>
          <p:cNvPicPr preferRelativeResize="0"/>
          <p:nvPr/>
        </p:nvPicPr>
        <p:blipFill rotWithShape="1">
          <a:blip r:embed="rId3">
            <a:alphaModFix/>
          </a:blip>
          <a:srcRect b="0" l="0" r="0" t="0"/>
          <a:stretch/>
        </p:blipFill>
        <p:spPr>
          <a:xfrm>
            <a:off x="11191166" y="5915467"/>
            <a:ext cx="1000833" cy="915237"/>
          </a:xfrm>
          <a:prstGeom prst="rect">
            <a:avLst/>
          </a:prstGeom>
          <a:noFill/>
          <a:ln cap="flat" cmpd="sng" w="9525">
            <a:solidFill>
              <a:srgbClr val="860000"/>
            </a:solidFill>
            <a:prstDash val="solid"/>
            <a:round/>
            <a:headEnd len="sm" w="sm" type="none"/>
            <a:tailEnd len="sm" w="sm" type="none"/>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70"/>
          <p:cNvSpPr txBox="1"/>
          <p:nvPr/>
        </p:nvSpPr>
        <p:spPr>
          <a:xfrm>
            <a:off x="163772" y="204716"/>
            <a:ext cx="11136574"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External Style Sheet</a:t>
            </a:r>
            <a:endParaRPr b="1" i="0" sz="3600" u="none" cap="none" strike="noStrike">
              <a:solidFill>
                <a:srgbClr val="600000"/>
              </a:solidFill>
              <a:latin typeface="Times New Roman"/>
              <a:ea typeface="Times New Roman"/>
              <a:cs typeface="Times New Roman"/>
              <a:sym typeface="Times New Roman"/>
            </a:endParaRPr>
          </a:p>
        </p:txBody>
      </p:sp>
      <p:sp>
        <p:nvSpPr>
          <p:cNvPr id="788" name="Google Shape;788;p70"/>
          <p:cNvSpPr txBox="1"/>
          <p:nvPr/>
        </p:nvSpPr>
        <p:spPr>
          <a:xfrm>
            <a:off x="163772" y="1017733"/>
            <a:ext cx="11122927" cy="5073974"/>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lnSpcReduction="10000"/>
          </a:bodyPr>
          <a:lstStyle/>
          <a:p>
            <a:pPr indent="0" lvl="0" marL="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With an external style sheet, you can </a:t>
            </a:r>
            <a:r>
              <a:rPr b="1" i="0" lang="en-US" sz="2800" u="none" cap="none" strike="noStrike">
                <a:solidFill>
                  <a:srgbClr val="600000"/>
                </a:solidFill>
                <a:latin typeface="Times New Roman"/>
                <a:ea typeface="Times New Roman"/>
                <a:cs typeface="Times New Roman"/>
                <a:sym typeface="Times New Roman"/>
              </a:rPr>
              <a:t>change the look of an entire website </a:t>
            </a:r>
            <a:r>
              <a:rPr b="0" i="0" lang="en-US" sz="2800" u="none" cap="none" strike="noStrike">
                <a:solidFill>
                  <a:srgbClr val="003300"/>
                </a:solidFill>
                <a:latin typeface="Times New Roman"/>
                <a:ea typeface="Times New Roman"/>
                <a:cs typeface="Times New Roman"/>
                <a:sym typeface="Times New Roman"/>
              </a:rPr>
              <a:t>by changing just one file!</a:t>
            </a:r>
            <a:endParaRPr b="0" i="0" sz="1400" u="none" cap="none" strike="noStrike">
              <a:solidFill>
                <a:srgbClr val="000000"/>
              </a:solidFill>
              <a:latin typeface="Arial"/>
              <a:ea typeface="Arial"/>
              <a:cs typeface="Arial"/>
              <a:sym typeface="Arial"/>
            </a:endParaRPr>
          </a:p>
          <a:p>
            <a:pPr indent="0" lvl="0" marL="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Each page must include a reference to the external style sheet file inside the &lt;link&gt; element. </a:t>
            </a:r>
            <a:endParaRPr b="0" i="0" sz="2800" u="none" cap="none" strike="noStrike">
              <a:solidFill>
                <a:srgbClr val="003300"/>
              </a:solidFill>
              <a:latin typeface="Times New Roman"/>
              <a:ea typeface="Times New Roman"/>
              <a:cs typeface="Times New Roman"/>
              <a:sym typeface="Times New Roman"/>
            </a:endParaRPr>
          </a:p>
          <a:p>
            <a:pPr indent="0" lvl="0" marL="0" marR="0" rtl="0" algn="just">
              <a:lnSpc>
                <a:spcPct val="20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The style sheet file must be saved with a </a:t>
            </a:r>
            <a:r>
              <a:rPr b="1" i="0" lang="en-US" sz="2800" u="none" cap="none" strike="noStrike">
                <a:solidFill>
                  <a:srgbClr val="600000"/>
                </a:solidFill>
                <a:latin typeface="Times New Roman"/>
                <a:ea typeface="Times New Roman"/>
                <a:cs typeface="Times New Roman"/>
                <a:sym typeface="Times New Roman"/>
              </a:rPr>
              <a:t>.css </a:t>
            </a:r>
            <a:r>
              <a:rPr b="0" i="0" lang="en-US" sz="2800" u="none" cap="none" strike="noStrike">
                <a:solidFill>
                  <a:srgbClr val="003300"/>
                </a:solidFill>
                <a:latin typeface="Times New Roman"/>
                <a:ea typeface="Times New Roman"/>
                <a:cs typeface="Times New Roman"/>
                <a:sym typeface="Times New Roman"/>
              </a:rPr>
              <a:t>extension.</a:t>
            </a:r>
            <a:endParaRPr b="0" i="0" sz="1400" u="none" cap="none" strike="noStrike">
              <a:solidFill>
                <a:srgbClr val="000000"/>
              </a:solidFill>
              <a:latin typeface="Arial"/>
              <a:ea typeface="Arial"/>
              <a:cs typeface="Arial"/>
              <a:sym typeface="Arial"/>
            </a:endParaRPr>
          </a:p>
          <a:p>
            <a:pPr indent="0" lvl="0" marL="0" marR="0" rtl="0" algn="ctr">
              <a:lnSpc>
                <a:spcPct val="200000"/>
              </a:lnSpc>
              <a:spcBef>
                <a:spcPts val="0"/>
              </a:spcBef>
              <a:spcAft>
                <a:spcPts val="0"/>
              </a:spcAft>
              <a:buClr>
                <a:srgbClr val="000000"/>
              </a:buClr>
              <a:buSzPts val="2800"/>
              <a:buFont typeface="Arial"/>
              <a:buNone/>
            </a:pPr>
            <a:r>
              <a:rPr b="1" i="0" lang="en-US" sz="2800" u="none" cap="none" strike="noStrike">
                <a:solidFill>
                  <a:srgbClr val="600000"/>
                </a:solidFill>
                <a:latin typeface="Times New Roman"/>
                <a:ea typeface="Times New Roman"/>
                <a:cs typeface="Times New Roman"/>
                <a:sym typeface="Times New Roman"/>
              </a:rPr>
              <a:t>&lt;link rel=“stylesheet” type=“text/css” href=“cbitexternal.css”&gt;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789" name="Google Shape;789;p70"/>
          <p:cNvSpPr/>
          <p:nvPr/>
        </p:nvSpPr>
        <p:spPr>
          <a:xfrm>
            <a:off x="11477767" y="0"/>
            <a:ext cx="714233" cy="68580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790" name="Google Shape;790;p70"/>
          <p:cNvPicPr preferRelativeResize="0"/>
          <p:nvPr/>
        </p:nvPicPr>
        <p:blipFill rotWithShape="1">
          <a:blip r:embed="rId3">
            <a:alphaModFix/>
          </a:blip>
          <a:srcRect b="0" l="0" r="0" t="0"/>
          <a:stretch/>
        </p:blipFill>
        <p:spPr>
          <a:xfrm>
            <a:off x="163772" y="6209730"/>
            <a:ext cx="778199" cy="593679"/>
          </a:xfrm>
          <a:prstGeom prst="rect">
            <a:avLst/>
          </a:prstGeom>
          <a:noFill/>
          <a:ln cap="flat" cmpd="sng" w="9525">
            <a:solidFill>
              <a:srgbClr val="860000"/>
            </a:solidFill>
            <a:prstDash val="solid"/>
            <a:round/>
            <a:headEnd len="sm" w="sm" type="none"/>
            <a:tailEnd len="sm" w="sm" type="none"/>
          </a:ln>
        </p:spPr>
      </p:pic>
      <p:sp>
        <p:nvSpPr>
          <p:cNvPr id="791" name="Google Shape;791;p70"/>
          <p:cNvSpPr/>
          <p:nvPr/>
        </p:nvSpPr>
        <p:spPr>
          <a:xfrm>
            <a:off x="3346973" y="6209731"/>
            <a:ext cx="8144442" cy="648269"/>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2" name="Google Shape;792;p70"/>
          <p:cNvSpPr/>
          <p:nvPr/>
        </p:nvSpPr>
        <p:spPr>
          <a:xfrm>
            <a:off x="2646389" y="6209730"/>
            <a:ext cx="700584" cy="64827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71"/>
          <p:cNvSpPr txBox="1"/>
          <p:nvPr/>
        </p:nvSpPr>
        <p:spPr>
          <a:xfrm>
            <a:off x="163771" y="204716"/>
            <a:ext cx="11778019"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External Style Sheet</a:t>
            </a:r>
            <a:endParaRPr b="1" i="0" sz="3600" u="none" cap="none" strike="noStrike">
              <a:solidFill>
                <a:srgbClr val="600000"/>
              </a:solidFill>
              <a:latin typeface="Times New Roman"/>
              <a:ea typeface="Times New Roman"/>
              <a:cs typeface="Times New Roman"/>
              <a:sym typeface="Times New Roman"/>
            </a:endParaRPr>
          </a:p>
        </p:txBody>
      </p:sp>
      <p:sp>
        <p:nvSpPr>
          <p:cNvPr id="798" name="Google Shape;798;p71"/>
          <p:cNvSpPr txBox="1"/>
          <p:nvPr/>
        </p:nvSpPr>
        <p:spPr>
          <a:xfrm>
            <a:off x="163772" y="979096"/>
            <a:ext cx="11764371" cy="5225185"/>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lnSpcReduction="10000"/>
          </a:bodyPr>
          <a:lstStyle/>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a:t>
            </a:r>
            <a:r>
              <a:rPr b="0" i="0" lang="en-US" sz="2800" u="none" cap="none" strike="noStrike">
                <a:solidFill>
                  <a:srgbClr val="600000"/>
                </a:solidFill>
                <a:latin typeface="Times New Roman"/>
                <a:ea typeface="Times New Roman"/>
                <a:cs typeface="Times New Roman"/>
                <a:sym typeface="Times New Roman"/>
              </a:rPr>
              <a:t>&lt;link rel="stylesheet" type="text/css” href=“cbitexternal.css"&gt;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3" marL="137160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&lt;h1&gt;This is a heading&lt;/h1&gt;</a:t>
            </a:r>
            <a:endParaRPr b="0" i="0" sz="1400" u="none" cap="none" strike="noStrike">
              <a:solidFill>
                <a:srgbClr val="000000"/>
              </a:solidFill>
              <a:latin typeface="Arial"/>
              <a:ea typeface="Arial"/>
              <a:cs typeface="Arial"/>
              <a:sym typeface="Arial"/>
            </a:endParaRPr>
          </a:p>
          <a:p>
            <a:pPr indent="0" lvl="3" marL="137160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00"/>
                </a:solidFill>
                <a:latin typeface="Times New Roman"/>
                <a:ea typeface="Times New Roman"/>
                <a:cs typeface="Times New Roman"/>
                <a:sym typeface="Times New Roman"/>
              </a:rPr>
              <a:t>&lt;p&gt;This is a paragraph.&lt;/p&gt;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799" name="Google Shape;799;p71"/>
          <p:cNvPicPr preferRelativeResize="0"/>
          <p:nvPr/>
        </p:nvPicPr>
        <p:blipFill rotWithShape="1">
          <a:blip r:embed="rId3">
            <a:alphaModFix/>
          </a:blip>
          <a:srcRect b="0" l="0" r="0" t="0"/>
          <a:stretch/>
        </p:blipFill>
        <p:spPr>
          <a:xfrm>
            <a:off x="11305780" y="6242918"/>
            <a:ext cx="622363" cy="615082"/>
          </a:xfrm>
          <a:prstGeom prst="rect">
            <a:avLst/>
          </a:prstGeom>
          <a:noFill/>
          <a:ln cap="flat" cmpd="sng" w="9525">
            <a:solidFill>
              <a:srgbClr val="860000"/>
            </a:solidFill>
            <a:prstDash val="solid"/>
            <a:round/>
            <a:headEnd len="sm" w="sm" type="none"/>
            <a:tailEnd len="sm" w="sm" type="none"/>
          </a:ln>
        </p:spPr>
      </p:pic>
      <p:sp>
        <p:nvSpPr>
          <p:cNvPr id="800" name="Google Shape;800;p71"/>
          <p:cNvSpPr/>
          <p:nvPr/>
        </p:nvSpPr>
        <p:spPr>
          <a:xfrm>
            <a:off x="0" y="6553209"/>
            <a:ext cx="11305780" cy="304791"/>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01" name="Google Shape;801;p71"/>
          <p:cNvSpPr/>
          <p:nvPr/>
        </p:nvSpPr>
        <p:spPr>
          <a:xfrm>
            <a:off x="1" y="6336406"/>
            <a:ext cx="10683416" cy="216803"/>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02" name="Google Shape;802;p71"/>
          <p:cNvPicPr preferRelativeResize="0"/>
          <p:nvPr/>
        </p:nvPicPr>
        <p:blipFill rotWithShape="1">
          <a:blip r:embed="rId4">
            <a:alphaModFix/>
          </a:blip>
          <a:srcRect b="0" l="0" r="0" t="0"/>
          <a:stretch/>
        </p:blipFill>
        <p:spPr>
          <a:xfrm>
            <a:off x="8311692" y="2789949"/>
            <a:ext cx="2371725" cy="92392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72"/>
          <p:cNvSpPr txBox="1"/>
          <p:nvPr/>
        </p:nvSpPr>
        <p:spPr>
          <a:xfrm>
            <a:off x="68236" y="43974"/>
            <a:ext cx="11123505"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"cbitexternal.css" </a:t>
            </a:r>
            <a:endParaRPr b="1" i="0" sz="3600" u="none" cap="none" strike="noStrike">
              <a:solidFill>
                <a:srgbClr val="600000"/>
              </a:solidFill>
              <a:latin typeface="Times New Roman"/>
              <a:ea typeface="Times New Roman"/>
              <a:cs typeface="Times New Roman"/>
              <a:sym typeface="Times New Roman"/>
            </a:endParaRPr>
          </a:p>
        </p:txBody>
      </p:sp>
      <p:sp>
        <p:nvSpPr>
          <p:cNvPr id="808" name="Google Shape;808;p72"/>
          <p:cNvSpPr txBox="1"/>
          <p:nvPr/>
        </p:nvSpPr>
        <p:spPr>
          <a:xfrm>
            <a:off x="68236" y="800859"/>
            <a:ext cx="12012147" cy="546660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body</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a:t>
            </a:r>
            <a:br>
              <a:rPr b="0" i="0" lang="en-US" sz="2800" u="none" cap="none" strike="noStrike">
                <a:solidFill>
                  <a:srgbClr val="003300"/>
                </a:solidFill>
                <a:latin typeface="Times New Roman"/>
                <a:ea typeface="Times New Roman"/>
                <a:cs typeface="Times New Roman"/>
                <a:sym typeface="Times New Roman"/>
              </a:rPr>
            </a:br>
            <a:r>
              <a:rPr b="0" i="0" lang="en-US" sz="2800" u="none" cap="none" strike="noStrike">
                <a:solidFill>
                  <a:srgbClr val="003300"/>
                </a:solidFill>
                <a:latin typeface="Times New Roman"/>
                <a:ea typeface="Times New Roman"/>
                <a:cs typeface="Times New Roman"/>
                <a:sym typeface="Times New Roman"/>
              </a:rPr>
              <a:t>    background-color: lightblue;</a:t>
            </a:r>
            <a:br>
              <a:rPr b="0" i="0" lang="en-US" sz="2800" u="none" cap="none" strike="noStrike">
                <a:solidFill>
                  <a:srgbClr val="003300"/>
                </a:solidFill>
                <a:latin typeface="Times New Roman"/>
                <a:ea typeface="Times New Roman"/>
                <a:cs typeface="Times New Roman"/>
                <a:sym typeface="Times New Roman"/>
              </a:rPr>
            </a:br>
            <a:r>
              <a:rPr b="0" i="0" lang="en-US" sz="2800" u="none" cap="none" strike="noStrike">
                <a:solidFill>
                  <a:srgbClr val="003300"/>
                </a:solidFill>
                <a:latin typeface="Times New Roman"/>
                <a:ea typeface="Times New Roman"/>
                <a:cs typeface="Times New Roman"/>
                <a:sym typeface="Times New Roman"/>
              </a:rPr>
              <a:t>  }</a:t>
            </a:r>
            <a:br>
              <a:rPr b="0" i="0" lang="en-US" sz="2800" u="none" cap="none" strike="noStrike">
                <a:solidFill>
                  <a:srgbClr val="003300"/>
                </a:solidFill>
                <a:latin typeface="Times New Roman"/>
                <a:ea typeface="Times New Roman"/>
                <a:cs typeface="Times New Roman"/>
                <a:sym typeface="Times New Roman"/>
              </a:rPr>
            </a:b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h1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ts val="2800"/>
              <a:buFont typeface="Times New Roman"/>
              <a:buNone/>
            </a:pPr>
            <a:r>
              <a:rPr b="0" i="0" lang="en-US" sz="2800" u="none" cap="none" strike="noStrike">
                <a:solidFill>
                  <a:srgbClr val="003300"/>
                </a:solidFill>
                <a:latin typeface="Times New Roman"/>
                <a:ea typeface="Times New Roman"/>
                <a:cs typeface="Times New Roman"/>
                <a:sym typeface="Times New Roman"/>
              </a:rPr>
              <a:t>  {</a:t>
            </a:r>
            <a:br>
              <a:rPr b="0" i="0" lang="en-US" sz="2800" u="none" cap="none" strike="noStrike">
                <a:solidFill>
                  <a:srgbClr val="003300"/>
                </a:solidFill>
                <a:latin typeface="Times New Roman"/>
                <a:ea typeface="Times New Roman"/>
                <a:cs typeface="Times New Roman"/>
                <a:sym typeface="Times New Roman"/>
              </a:rPr>
            </a:br>
            <a:r>
              <a:rPr b="0" i="0" lang="en-US" sz="2800" u="none" cap="none" strike="noStrike">
                <a:solidFill>
                  <a:srgbClr val="003300"/>
                </a:solidFill>
                <a:latin typeface="Times New Roman"/>
                <a:ea typeface="Times New Roman"/>
                <a:cs typeface="Times New Roman"/>
                <a:sym typeface="Times New Roman"/>
              </a:rPr>
              <a:t>    color: navy;</a:t>
            </a:r>
            <a:br>
              <a:rPr b="0" i="0" lang="en-US" sz="2800" u="none" cap="none" strike="noStrike">
                <a:solidFill>
                  <a:srgbClr val="003300"/>
                </a:solidFill>
                <a:latin typeface="Times New Roman"/>
                <a:ea typeface="Times New Roman"/>
                <a:cs typeface="Times New Roman"/>
                <a:sym typeface="Times New Roman"/>
              </a:rPr>
            </a:br>
            <a:r>
              <a:rPr b="0" i="0" lang="en-US" sz="2800" u="none" cap="none" strike="noStrike">
                <a:solidFill>
                  <a:srgbClr val="003300"/>
                </a:solidFill>
                <a:latin typeface="Times New Roman"/>
                <a:ea typeface="Times New Roman"/>
                <a:cs typeface="Times New Roman"/>
                <a:sym typeface="Times New Roman"/>
              </a:rPr>
              <a:t>    margin-left: 20px;</a:t>
            </a:r>
            <a:br>
              <a:rPr b="0" i="0" lang="en-US" sz="2800" u="none" cap="none" strike="noStrike">
                <a:solidFill>
                  <a:srgbClr val="003300"/>
                </a:solidFill>
                <a:latin typeface="Times New Roman"/>
                <a:ea typeface="Times New Roman"/>
                <a:cs typeface="Times New Roman"/>
                <a:sym typeface="Times New Roman"/>
              </a:rPr>
            </a:br>
            <a:r>
              <a:rPr b="0" i="0" lang="en-US" sz="2800" u="none" cap="none" strike="noStrike">
                <a:solidFill>
                  <a:srgbClr val="0033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809" name="Google Shape;809;p72"/>
          <p:cNvPicPr preferRelativeResize="0"/>
          <p:nvPr/>
        </p:nvPicPr>
        <p:blipFill rotWithShape="1">
          <a:blip r:embed="rId3">
            <a:alphaModFix/>
          </a:blip>
          <a:srcRect b="0" l="0" r="0" t="0"/>
          <a:stretch/>
        </p:blipFill>
        <p:spPr>
          <a:xfrm>
            <a:off x="11333408" y="68781"/>
            <a:ext cx="746975" cy="660699"/>
          </a:xfrm>
          <a:prstGeom prst="rect">
            <a:avLst/>
          </a:prstGeom>
          <a:noFill/>
          <a:ln cap="flat" cmpd="sng" w="9525">
            <a:solidFill>
              <a:srgbClr val="860000"/>
            </a:solidFill>
            <a:prstDash val="solid"/>
            <a:round/>
            <a:headEnd len="sm" w="sm" type="none"/>
            <a:tailEnd len="sm" w="sm" type="none"/>
          </a:ln>
        </p:spPr>
      </p:pic>
      <p:sp>
        <p:nvSpPr>
          <p:cNvPr id="810" name="Google Shape;810;p72"/>
          <p:cNvSpPr/>
          <p:nvPr/>
        </p:nvSpPr>
        <p:spPr>
          <a:xfrm>
            <a:off x="0" y="6564573"/>
            <a:ext cx="12192000" cy="293427"/>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1" name="Google Shape;811;p72"/>
          <p:cNvSpPr/>
          <p:nvPr/>
        </p:nvSpPr>
        <p:spPr>
          <a:xfrm>
            <a:off x="1" y="6359859"/>
            <a:ext cx="10276764" cy="19335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73"/>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lang="en-US" sz="3600">
                <a:solidFill>
                  <a:srgbClr val="600000"/>
                </a:solidFill>
                <a:latin typeface="Times New Roman"/>
                <a:ea typeface="Times New Roman"/>
                <a:cs typeface="Times New Roman"/>
                <a:sym typeface="Times New Roman"/>
              </a:rPr>
              <a:t>Internal Style Sheet</a:t>
            </a:r>
            <a:endParaRPr b="1" sz="3600">
              <a:solidFill>
                <a:srgbClr val="600000"/>
              </a:solidFill>
              <a:latin typeface="Times New Roman"/>
              <a:ea typeface="Times New Roman"/>
              <a:cs typeface="Times New Roman"/>
              <a:sym typeface="Times New Roman"/>
            </a:endParaRPr>
          </a:p>
        </p:txBody>
      </p:sp>
      <p:pic>
        <p:nvPicPr>
          <p:cNvPr descr="C:\Users\GANGA\Desktop\download.jpg" id="817" name="Google Shape;817;p73"/>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818" name="Google Shape;818;p73"/>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9" name="Google Shape;819;p73"/>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0" name="Google Shape;820;p73"/>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92500" lnSpcReduction="20000"/>
          </a:bodyPr>
          <a:lstStyle/>
          <a:p>
            <a:pPr indent="-164465" lvl="0" marL="0" marR="0" rtl="0" algn="l">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An internal style sheet may be used if one </a:t>
            </a:r>
            <a:r>
              <a:rPr b="1" i="0" lang="en-US" sz="2800" u="none" cap="none" strike="noStrike">
                <a:solidFill>
                  <a:srgbClr val="600000"/>
                </a:solidFill>
                <a:latin typeface="Times New Roman"/>
                <a:ea typeface="Times New Roman"/>
                <a:cs typeface="Times New Roman"/>
                <a:sym typeface="Times New Roman"/>
              </a:rPr>
              <a:t>single page has a unique style</a:t>
            </a:r>
            <a:r>
              <a:rPr b="0" i="0" lang="en-US" sz="2800" u="none" cap="none" strike="noStrike">
                <a:solidFill>
                  <a:srgbClr val="0033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164465" lvl="0" marL="0" marR="0" rtl="0" algn="l">
              <a:lnSpc>
                <a:spcPct val="150000"/>
              </a:lnSpc>
              <a:spcBef>
                <a:spcPts val="0"/>
              </a:spcBef>
              <a:spcAft>
                <a:spcPts val="0"/>
              </a:spcAft>
              <a:buClr>
                <a:srgbClr val="003300"/>
              </a:buClr>
              <a:buSzPct val="100000"/>
              <a:buFont typeface="Noto Sans Symbols"/>
              <a:buChar char="⮚"/>
            </a:pPr>
            <a:r>
              <a:rPr b="0" i="0" lang="en-US" sz="2800" u="none" cap="none" strike="noStrike">
                <a:solidFill>
                  <a:srgbClr val="003300"/>
                </a:solidFill>
                <a:latin typeface="Times New Roman"/>
                <a:ea typeface="Times New Roman"/>
                <a:cs typeface="Times New Roman"/>
                <a:sym typeface="Times New Roman"/>
              </a:rPr>
              <a:t>Internal styles are defined within the </a:t>
            </a:r>
            <a:r>
              <a:rPr b="1" i="0" lang="en-US" sz="2800" u="none" cap="none" strike="noStrike">
                <a:solidFill>
                  <a:srgbClr val="003300"/>
                </a:solidFill>
                <a:latin typeface="Times New Roman"/>
                <a:ea typeface="Times New Roman"/>
                <a:cs typeface="Times New Roman"/>
                <a:sym typeface="Times New Roman"/>
              </a:rPr>
              <a:t>&lt;style&gt; </a:t>
            </a:r>
            <a:r>
              <a:rPr b="0" i="0" lang="en-US" sz="2800" u="none" cap="none" strike="noStrike">
                <a:solidFill>
                  <a:srgbClr val="003300"/>
                </a:solidFill>
                <a:latin typeface="Times New Roman"/>
                <a:ea typeface="Times New Roman"/>
                <a:cs typeface="Times New Roman"/>
                <a:sym typeface="Times New Roman"/>
              </a:rPr>
              <a:t>element, inside the </a:t>
            </a:r>
            <a:r>
              <a:rPr b="1" i="0" lang="en-US" sz="2800" u="none" cap="none" strike="noStrike">
                <a:solidFill>
                  <a:srgbClr val="003300"/>
                </a:solidFill>
                <a:latin typeface="Times New Roman"/>
                <a:ea typeface="Times New Roman"/>
                <a:cs typeface="Times New Roman"/>
                <a:sym typeface="Times New Roman"/>
              </a:rPr>
              <a:t>&lt;head&gt; </a:t>
            </a:r>
            <a:r>
              <a:rPr b="0" i="0" lang="en-US" sz="2800" u="none" cap="none" strike="noStrike">
                <a:solidFill>
                  <a:srgbClr val="003300"/>
                </a:solidFill>
                <a:latin typeface="Times New Roman"/>
                <a:ea typeface="Times New Roman"/>
                <a:cs typeface="Times New Roman"/>
                <a:sym typeface="Times New Roman"/>
              </a:rPr>
              <a:t>section of an HTML page.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2800" u="none" cap="none" strike="noStrike">
              <a:solidFill>
                <a:srgbClr val="003300"/>
              </a:solidFill>
              <a:latin typeface="Times New Roman"/>
              <a:ea typeface="Times New Roman"/>
              <a:cs typeface="Times New Roman"/>
              <a:sym typeface="Times New Roman"/>
            </a:endParaRPr>
          </a:p>
          <a:p>
            <a:pPr indent="0" lvl="8" marL="3657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600000"/>
                </a:solidFill>
                <a:latin typeface="Times New Roman"/>
                <a:ea typeface="Times New Roman"/>
                <a:cs typeface="Times New Roman"/>
                <a:sym typeface="Times New Roman"/>
              </a:rPr>
              <a:t>&lt;head&gt;</a:t>
            </a:r>
            <a:endParaRPr b="0" i="0" sz="1400" u="none" cap="none" strike="noStrike">
              <a:solidFill>
                <a:srgbClr val="000000"/>
              </a:solidFill>
              <a:latin typeface="Arial"/>
              <a:ea typeface="Arial"/>
              <a:cs typeface="Arial"/>
              <a:sym typeface="Arial"/>
            </a:endParaRPr>
          </a:p>
          <a:p>
            <a:pPr indent="0" lvl="8" marL="3657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6000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8" marL="3657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600000"/>
                </a:solidFill>
                <a:latin typeface="Times New Roman"/>
                <a:ea typeface="Times New Roman"/>
                <a:cs typeface="Times New Roman"/>
                <a:sym typeface="Times New Roman"/>
              </a:rPr>
              <a:t>				Selector</a:t>
            </a:r>
            <a:endParaRPr b="0" i="0" sz="1400" u="none" cap="none" strike="noStrike">
              <a:solidFill>
                <a:srgbClr val="000000"/>
              </a:solidFill>
              <a:latin typeface="Arial"/>
              <a:ea typeface="Arial"/>
              <a:cs typeface="Arial"/>
              <a:sym typeface="Arial"/>
            </a:endParaRPr>
          </a:p>
          <a:p>
            <a:pPr indent="0" lvl="8" marL="3657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600000"/>
                </a:solidFill>
                <a:latin typeface="Times New Roman"/>
                <a:ea typeface="Times New Roman"/>
                <a:cs typeface="Times New Roman"/>
                <a:sym typeface="Times New Roman"/>
              </a:rPr>
              <a:t>						{ </a:t>
            </a:r>
            <a:endParaRPr b="0" i="0" sz="1400" u="none" cap="none" strike="noStrike">
              <a:solidFill>
                <a:srgbClr val="000000"/>
              </a:solidFill>
              <a:latin typeface="Arial"/>
              <a:ea typeface="Arial"/>
              <a:cs typeface="Arial"/>
              <a:sym typeface="Arial"/>
            </a:endParaRPr>
          </a:p>
          <a:p>
            <a:pPr indent="0" lvl="8" marL="3657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600000"/>
                </a:solidFill>
                <a:latin typeface="Times New Roman"/>
                <a:ea typeface="Times New Roman"/>
                <a:cs typeface="Times New Roman"/>
                <a:sym typeface="Times New Roman"/>
              </a:rPr>
              <a:t>						property: value </a:t>
            </a:r>
            <a:endParaRPr b="0" i="0" sz="1400" u="none" cap="none" strike="noStrike">
              <a:solidFill>
                <a:srgbClr val="000000"/>
              </a:solidFill>
              <a:latin typeface="Arial"/>
              <a:ea typeface="Arial"/>
              <a:cs typeface="Arial"/>
              <a:sym typeface="Arial"/>
            </a:endParaRPr>
          </a:p>
          <a:p>
            <a:pPr indent="0" lvl="8" marL="3657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600000"/>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8" marL="3657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6000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8" marL="3657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600000"/>
                </a:solidFill>
                <a:latin typeface="Times New Roman"/>
                <a:ea typeface="Times New Roman"/>
                <a:cs typeface="Times New Roman"/>
                <a:sym typeface="Times New Roman"/>
              </a:rPr>
              <a:t>&lt;/head&gt;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74"/>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lang="en-US" sz="3600">
                <a:solidFill>
                  <a:srgbClr val="600000"/>
                </a:solidFill>
                <a:latin typeface="Times New Roman"/>
                <a:ea typeface="Times New Roman"/>
                <a:cs typeface="Times New Roman"/>
                <a:sym typeface="Times New Roman"/>
              </a:rPr>
              <a:t>Internal Style Sheet</a:t>
            </a:r>
            <a:endParaRPr b="1" sz="3600">
              <a:solidFill>
                <a:srgbClr val="860000"/>
              </a:solidFill>
              <a:latin typeface="Marcellus"/>
              <a:ea typeface="Marcellus"/>
              <a:cs typeface="Marcellus"/>
              <a:sym typeface="Marcellus"/>
            </a:endParaRPr>
          </a:p>
        </p:txBody>
      </p:sp>
      <p:pic>
        <p:nvPicPr>
          <p:cNvPr descr="C:\Users\GANGA\Desktop\download.jpg" id="826" name="Google Shape;826;p74"/>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827" name="Google Shape;827;p74"/>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8" name="Google Shape;828;p74"/>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9" name="Google Shape;829;p74"/>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77500" lnSpcReduction="20000"/>
          </a:bodyPr>
          <a:lstStyle/>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a:t>
            </a:r>
            <a:r>
              <a:rPr b="0" i="0" lang="en-US" sz="2800" u="none" cap="none" strike="noStrike">
                <a:solidFill>
                  <a:srgbClr val="600000"/>
                </a:solidFill>
                <a:latin typeface="Times New Roman"/>
                <a:ea typeface="Times New Roman"/>
                <a:cs typeface="Times New Roman"/>
                <a:sym typeface="Times New Roman"/>
              </a:rPr>
              <a:t>&lt;style&gt;</a:t>
            </a:r>
            <a:endParaRPr b="0" i="0" sz="1400" u="none" cap="none" strike="noStrike">
              <a:solidFill>
                <a:srgbClr val="000000"/>
              </a:solidFill>
              <a:latin typeface="Arial"/>
              <a:ea typeface="Arial"/>
              <a:cs typeface="Arial"/>
              <a:sym typeface="Arial"/>
            </a:endParaRPr>
          </a:p>
          <a:p>
            <a:pPr indent="0" lvl="2" marL="9144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body</a:t>
            </a:r>
            <a:endParaRPr b="0" i="0" sz="2800" u="none" cap="none" strike="noStrike">
              <a:solidFill>
                <a:srgbClr val="600000"/>
              </a:solidFill>
              <a:latin typeface="Times New Roman"/>
              <a:ea typeface="Times New Roman"/>
              <a:cs typeface="Times New Roman"/>
              <a:sym typeface="Times New Roman"/>
            </a:endParaRPr>
          </a:p>
          <a:p>
            <a:pPr indent="0" lvl="2" marL="9144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a:t>
            </a:r>
            <a:endParaRPr b="0" i="0" sz="2800" u="none" cap="none" strike="noStrike">
              <a:solidFill>
                <a:srgbClr val="600000"/>
              </a:solidFill>
              <a:latin typeface="Times New Roman"/>
              <a:ea typeface="Times New Roman"/>
              <a:cs typeface="Times New Roman"/>
              <a:sym typeface="Times New Roman"/>
            </a:endParaRPr>
          </a:p>
          <a:p>
            <a:pPr indent="0" lvl="2" marL="9144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background-color: linen;</a:t>
            </a:r>
            <a:endParaRPr b="0" i="0" sz="1400" u="none" cap="none" strike="noStrike">
              <a:solidFill>
                <a:srgbClr val="000000"/>
              </a:solidFill>
              <a:latin typeface="Arial"/>
              <a:ea typeface="Arial"/>
              <a:cs typeface="Arial"/>
              <a:sym typeface="Arial"/>
            </a:endParaRPr>
          </a:p>
          <a:p>
            <a:pPr indent="0" lvl="2" marL="9144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a:t>
            </a:r>
            <a:endParaRPr b="0" i="0" sz="2800" u="none" cap="none" strike="noStrike">
              <a:solidFill>
                <a:srgbClr val="600000"/>
              </a:solidFill>
              <a:latin typeface="Times New Roman"/>
              <a:ea typeface="Times New Roman"/>
              <a:cs typeface="Times New Roman"/>
              <a:sym typeface="Times New Roman"/>
            </a:endParaRPr>
          </a:p>
          <a:p>
            <a:pPr indent="0" lvl="2" marL="9144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h1</a:t>
            </a:r>
            <a:endParaRPr b="0" i="0" sz="2800" u="none" cap="none" strike="noStrike">
              <a:solidFill>
                <a:srgbClr val="600000"/>
              </a:solidFill>
              <a:latin typeface="Times New Roman"/>
              <a:ea typeface="Times New Roman"/>
              <a:cs typeface="Times New Roman"/>
              <a:sym typeface="Times New Roman"/>
            </a:endParaRPr>
          </a:p>
          <a:p>
            <a:pPr indent="0" lvl="2" marL="9144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a:t>
            </a:r>
            <a:endParaRPr b="0" i="0" sz="2800" u="none" cap="none" strike="noStrike">
              <a:solidFill>
                <a:srgbClr val="600000"/>
              </a:solidFill>
              <a:latin typeface="Times New Roman"/>
              <a:ea typeface="Times New Roman"/>
              <a:cs typeface="Times New Roman"/>
              <a:sym typeface="Times New Roman"/>
            </a:endParaRPr>
          </a:p>
          <a:p>
            <a:pPr indent="0" lvl="2" marL="9144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color: maroon;</a:t>
            </a:r>
            <a:endParaRPr b="0" i="0" sz="1400" u="none" cap="none" strike="noStrike">
              <a:solidFill>
                <a:srgbClr val="000000"/>
              </a:solidFill>
              <a:latin typeface="Arial"/>
              <a:ea typeface="Arial"/>
              <a:cs typeface="Arial"/>
              <a:sym typeface="Arial"/>
            </a:endParaRPr>
          </a:p>
          <a:p>
            <a:pPr indent="0" lvl="2" marL="9144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margin-left: 40px;</a:t>
            </a:r>
            <a:endParaRPr b="0" i="0" sz="1400" u="none" cap="none" strike="noStrike">
              <a:solidFill>
                <a:srgbClr val="000000"/>
              </a:solidFill>
              <a:latin typeface="Arial"/>
              <a:ea typeface="Arial"/>
              <a:cs typeface="Arial"/>
              <a:sym typeface="Arial"/>
            </a:endParaRPr>
          </a:p>
          <a:p>
            <a:pPr indent="0" lvl="2" marL="914400" marR="0" rtl="0" algn="l">
              <a:lnSpc>
                <a:spcPct val="100000"/>
              </a:lnSpc>
              <a:spcBef>
                <a:spcPts val="0"/>
              </a:spcBef>
              <a:spcAft>
                <a:spcPts val="0"/>
              </a:spcAft>
              <a:buClr>
                <a:srgbClr val="000000"/>
              </a:buClr>
              <a:buSzPct val="100000"/>
              <a:buFont typeface="Arial"/>
              <a:buNone/>
            </a:pPr>
            <a:r>
              <a:rPr b="0" i="0" lang="en-US" sz="2800" u="none" cap="none" strike="noStrike">
                <a:solidFill>
                  <a:srgbClr val="600000"/>
                </a:solidFill>
                <a:latin typeface="Times New Roman"/>
                <a:ea typeface="Times New Roman"/>
                <a:cs typeface="Times New Roman"/>
                <a:sym typeface="Times New Roman"/>
              </a:rPr>
              <a:t>	} </a:t>
            </a:r>
            <a:endParaRPr b="0" i="0" sz="2800" u="none" cap="none" strike="noStrike">
              <a:solidFill>
                <a:srgbClr val="6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600000"/>
              </a:buClr>
              <a:buSzPct val="100000"/>
              <a:buFont typeface="Times New Roman"/>
              <a:buNone/>
            </a:pPr>
            <a:r>
              <a:rPr b="0" i="0" lang="en-US" sz="2800" u="none" cap="none" strike="noStrike">
                <a:solidFill>
                  <a:srgbClr val="6000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&lt;h1&gt;This is a heading&lt;/h1&gt;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&lt;p&gt;This is a paragraph.&lt;/p&gt;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id="830" name="Google Shape;830;p74"/>
          <p:cNvPicPr preferRelativeResize="0"/>
          <p:nvPr/>
        </p:nvPicPr>
        <p:blipFill rotWithShape="1">
          <a:blip r:embed="rId4">
            <a:alphaModFix/>
          </a:blip>
          <a:srcRect b="0" l="0" r="0" t="0"/>
          <a:stretch/>
        </p:blipFill>
        <p:spPr>
          <a:xfrm>
            <a:off x="6876558" y="2282333"/>
            <a:ext cx="3609975" cy="198120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75"/>
          <p:cNvSpPr txBox="1"/>
          <p:nvPr/>
        </p:nvSpPr>
        <p:spPr>
          <a:xfrm>
            <a:off x="163772" y="204716"/>
            <a:ext cx="10781732"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Inline Styles</a:t>
            </a:r>
            <a:endParaRPr b="1" i="0" sz="3600" u="none" cap="none" strike="noStrike">
              <a:solidFill>
                <a:srgbClr val="600000"/>
              </a:solidFill>
              <a:latin typeface="Times New Roman"/>
              <a:ea typeface="Times New Roman"/>
              <a:cs typeface="Times New Roman"/>
              <a:sym typeface="Times New Roman"/>
            </a:endParaRPr>
          </a:p>
        </p:txBody>
      </p:sp>
      <p:sp>
        <p:nvSpPr>
          <p:cNvPr id="836" name="Google Shape;836;p75"/>
          <p:cNvSpPr txBox="1"/>
          <p:nvPr/>
        </p:nvSpPr>
        <p:spPr>
          <a:xfrm>
            <a:off x="163772" y="1017732"/>
            <a:ext cx="10781731" cy="567928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457200" lvl="0" marL="457200" marR="0" rtl="0" algn="just">
              <a:lnSpc>
                <a:spcPct val="2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An inline style may be used to apply a unique style for a single element.</a:t>
            </a:r>
            <a:endParaRPr b="0" i="0" sz="1400" u="none" cap="none" strike="noStrike">
              <a:solidFill>
                <a:srgbClr val="000000"/>
              </a:solidFill>
              <a:latin typeface="Arial"/>
              <a:ea typeface="Arial"/>
              <a:cs typeface="Arial"/>
              <a:sym typeface="Arial"/>
            </a:endParaRPr>
          </a:p>
          <a:p>
            <a:pPr indent="-457200" lvl="0" marL="457200" marR="0" rtl="0" algn="just">
              <a:lnSpc>
                <a:spcPct val="2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To use inline styles, add the style attribute to the relevant element. The style attribute can contain any CSS property.</a:t>
            </a:r>
            <a:endParaRPr b="0" i="0" sz="1400" u="none" cap="none" strike="noStrike">
              <a:solidFill>
                <a:srgbClr val="000000"/>
              </a:solidFill>
              <a:latin typeface="Arial"/>
              <a:ea typeface="Arial"/>
              <a:cs typeface="Arial"/>
              <a:sym typeface="Arial"/>
            </a:endParaRPr>
          </a:p>
          <a:p>
            <a:pPr indent="0" lvl="0" marL="0" marR="0" rtl="0" algn="ctr">
              <a:lnSpc>
                <a:spcPct val="250000"/>
              </a:lnSpc>
              <a:spcBef>
                <a:spcPts val="0"/>
              </a:spcBef>
              <a:spcAft>
                <a:spcPts val="0"/>
              </a:spcAft>
              <a:buClr>
                <a:srgbClr val="000000"/>
              </a:buClr>
              <a:buSzPts val="2800"/>
              <a:buFont typeface="Arial"/>
              <a:buNone/>
            </a:pPr>
            <a:r>
              <a:rPr b="1" i="0" lang="en-US" sz="2800" u="none" cap="none" strike="noStrike">
                <a:solidFill>
                  <a:srgbClr val="600000"/>
                </a:solidFill>
                <a:latin typeface="Times New Roman"/>
                <a:ea typeface="Times New Roman"/>
                <a:cs typeface="Times New Roman"/>
                <a:sym typeface="Times New Roman"/>
              </a:rPr>
              <a:t>&lt;tag style=“property:value&gt;content&lt;/tag&gt;</a:t>
            </a:r>
            <a:endParaRPr b="0" i="0" sz="1400" u="none" cap="none" strike="noStrike">
              <a:solidFill>
                <a:srgbClr val="000000"/>
              </a:solidFill>
              <a:latin typeface="Arial"/>
              <a:ea typeface="Arial"/>
              <a:cs typeface="Arial"/>
              <a:sym typeface="Arial"/>
            </a:endParaRPr>
          </a:p>
        </p:txBody>
      </p:sp>
      <p:sp>
        <p:nvSpPr>
          <p:cNvPr id="837" name="Google Shape;837;p75"/>
          <p:cNvSpPr/>
          <p:nvPr/>
        </p:nvSpPr>
        <p:spPr>
          <a:xfrm>
            <a:off x="11191167" y="0"/>
            <a:ext cx="259311" cy="551369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8" name="Google Shape;838;p75"/>
          <p:cNvSpPr/>
          <p:nvPr/>
        </p:nvSpPr>
        <p:spPr>
          <a:xfrm>
            <a:off x="11450472" y="0"/>
            <a:ext cx="741528" cy="5882183"/>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839" name="Google Shape;839;p75"/>
          <p:cNvPicPr preferRelativeResize="0"/>
          <p:nvPr/>
        </p:nvPicPr>
        <p:blipFill rotWithShape="1">
          <a:blip r:embed="rId3">
            <a:alphaModFix/>
          </a:blip>
          <a:srcRect b="0" l="0" r="0" t="0"/>
          <a:stretch/>
        </p:blipFill>
        <p:spPr>
          <a:xfrm>
            <a:off x="11191166" y="5915467"/>
            <a:ext cx="1000833" cy="915237"/>
          </a:xfrm>
          <a:prstGeom prst="rect">
            <a:avLst/>
          </a:prstGeom>
          <a:noFill/>
          <a:ln cap="flat" cmpd="sng" w="9525">
            <a:solidFill>
              <a:srgbClr val="860000"/>
            </a:solidFill>
            <a:prstDash val="solid"/>
            <a:round/>
            <a:headEnd len="sm" w="sm" type="none"/>
            <a:tailEnd len="sm" w="sm" type="none"/>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76"/>
          <p:cNvSpPr txBox="1"/>
          <p:nvPr/>
        </p:nvSpPr>
        <p:spPr>
          <a:xfrm>
            <a:off x="163772" y="204716"/>
            <a:ext cx="11136574"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Inline Styles</a:t>
            </a:r>
            <a:endParaRPr b="1" i="0" sz="3600" u="none" cap="none" strike="noStrike">
              <a:solidFill>
                <a:srgbClr val="600000"/>
              </a:solidFill>
              <a:latin typeface="Times New Roman"/>
              <a:ea typeface="Times New Roman"/>
              <a:cs typeface="Times New Roman"/>
              <a:sym typeface="Times New Roman"/>
            </a:endParaRPr>
          </a:p>
        </p:txBody>
      </p:sp>
      <p:sp>
        <p:nvSpPr>
          <p:cNvPr id="845" name="Google Shape;845;p76"/>
          <p:cNvSpPr txBox="1"/>
          <p:nvPr/>
        </p:nvSpPr>
        <p:spPr>
          <a:xfrm>
            <a:off x="163772" y="1017733"/>
            <a:ext cx="11122927" cy="5073974"/>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50000"/>
              </a:lnSpc>
              <a:spcBef>
                <a:spcPts val="0"/>
              </a:spcBef>
              <a:spcAft>
                <a:spcPts val="0"/>
              </a:spcAft>
              <a:buClr>
                <a:srgbClr val="003300"/>
              </a:buClr>
              <a:buSzPts val="2200"/>
              <a:buFont typeface="Times New Roman"/>
              <a:buNone/>
            </a:pPr>
            <a:r>
              <a:rPr b="0" i="0" lang="en-US" sz="22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200"/>
              <a:buFont typeface="Times New Roman"/>
              <a:buNone/>
            </a:pPr>
            <a:r>
              <a:rPr b="0" i="0" lang="en-US" sz="22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200"/>
              <a:buFont typeface="Times New Roman"/>
              <a:buNone/>
            </a:pPr>
            <a:r>
              <a:rPr b="0" i="0" lang="en-US" sz="2200" u="none" cap="none" strike="noStrike">
                <a:solidFill>
                  <a:srgbClr val="003300"/>
                </a:solidFill>
                <a:latin typeface="Times New Roman"/>
                <a:ea typeface="Times New Roman"/>
                <a:cs typeface="Times New Roman"/>
                <a:sym typeface="Times New Roman"/>
              </a:rPr>
              <a:t>&lt;body&gt;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200"/>
              <a:buFont typeface="Arial"/>
              <a:buNone/>
            </a:pPr>
            <a:r>
              <a:t/>
            </a:r>
            <a:endParaRPr b="0" i="0" sz="2200" u="none" cap="none" strike="noStrike">
              <a:solidFill>
                <a:srgbClr val="0033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3300"/>
              </a:buClr>
              <a:buSzPts val="2200"/>
              <a:buFont typeface="Times New Roman"/>
              <a:buNone/>
            </a:pPr>
            <a:r>
              <a:rPr b="0" i="0" lang="en-US" sz="2200" u="none" cap="none" strike="noStrike">
                <a:solidFill>
                  <a:srgbClr val="003300"/>
                </a:solidFill>
                <a:latin typeface="Times New Roman"/>
                <a:ea typeface="Times New Roman"/>
                <a:cs typeface="Times New Roman"/>
                <a:sym typeface="Times New Roman"/>
              </a:rPr>
              <a:t>&lt;h1 style="color:blue;margin-left:30px;"&gt;This is a heading.&lt;/h1&gt;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200"/>
              <a:buFont typeface="Times New Roman"/>
              <a:buNone/>
            </a:pPr>
            <a:r>
              <a:rPr b="0" i="0" lang="en-US" sz="2200" u="none" cap="none" strike="noStrike">
                <a:solidFill>
                  <a:srgbClr val="003300"/>
                </a:solidFill>
                <a:latin typeface="Times New Roman"/>
                <a:ea typeface="Times New Roman"/>
                <a:cs typeface="Times New Roman"/>
                <a:sym typeface="Times New Roman"/>
              </a:rPr>
              <a:t>&lt;p&gt;This is a paragraph.&lt;/p&gt;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200"/>
              <a:buFont typeface="Arial"/>
              <a:buNone/>
            </a:pPr>
            <a:r>
              <a:t/>
            </a:r>
            <a:endParaRPr b="0" i="0" sz="2200" u="none" cap="none" strike="noStrike">
              <a:solidFill>
                <a:srgbClr val="0033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3300"/>
              </a:buClr>
              <a:buSzPts val="2200"/>
              <a:buFont typeface="Times New Roman"/>
              <a:buNone/>
            </a:pPr>
            <a:r>
              <a:rPr b="0" i="0" lang="en-US" sz="2200" u="none" cap="none" strike="noStrike">
                <a:solidFill>
                  <a:srgbClr val="003300"/>
                </a:solidFill>
                <a:latin typeface="Times New Roman"/>
                <a:ea typeface="Times New Roman"/>
                <a:cs typeface="Times New Roman"/>
                <a:sym typeface="Times New Roman"/>
              </a:rPr>
              <a:t>&lt;/body&gt;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3300"/>
              </a:buClr>
              <a:buSzPts val="2200"/>
              <a:buFont typeface="Times New Roman"/>
              <a:buNone/>
            </a:pPr>
            <a:r>
              <a:rPr b="0" i="0" lang="en-US" sz="22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846" name="Google Shape;846;p76"/>
          <p:cNvSpPr/>
          <p:nvPr/>
        </p:nvSpPr>
        <p:spPr>
          <a:xfrm>
            <a:off x="11477767" y="0"/>
            <a:ext cx="714233" cy="68580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847" name="Google Shape;847;p76"/>
          <p:cNvPicPr preferRelativeResize="0"/>
          <p:nvPr/>
        </p:nvPicPr>
        <p:blipFill rotWithShape="1">
          <a:blip r:embed="rId3">
            <a:alphaModFix/>
          </a:blip>
          <a:srcRect b="0" l="0" r="0" t="0"/>
          <a:stretch/>
        </p:blipFill>
        <p:spPr>
          <a:xfrm>
            <a:off x="163772" y="6209730"/>
            <a:ext cx="778199" cy="593679"/>
          </a:xfrm>
          <a:prstGeom prst="rect">
            <a:avLst/>
          </a:prstGeom>
          <a:noFill/>
          <a:ln cap="flat" cmpd="sng" w="9525">
            <a:solidFill>
              <a:srgbClr val="860000"/>
            </a:solidFill>
            <a:prstDash val="solid"/>
            <a:round/>
            <a:headEnd len="sm" w="sm" type="none"/>
            <a:tailEnd len="sm" w="sm" type="none"/>
          </a:ln>
        </p:spPr>
      </p:pic>
      <p:sp>
        <p:nvSpPr>
          <p:cNvPr id="848" name="Google Shape;848;p76"/>
          <p:cNvSpPr/>
          <p:nvPr/>
        </p:nvSpPr>
        <p:spPr>
          <a:xfrm>
            <a:off x="3346973" y="6209731"/>
            <a:ext cx="8144442" cy="648269"/>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9" name="Google Shape;849;p76"/>
          <p:cNvSpPr/>
          <p:nvPr/>
        </p:nvSpPr>
        <p:spPr>
          <a:xfrm>
            <a:off x="2646389" y="6209730"/>
            <a:ext cx="700584" cy="64827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50" name="Google Shape;850;p76"/>
          <p:cNvPicPr preferRelativeResize="0"/>
          <p:nvPr/>
        </p:nvPicPr>
        <p:blipFill rotWithShape="1">
          <a:blip r:embed="rId4">
            <a:alphaModFix/>
          </a:blip>
          <a:srcRect b="0" l="0" r="0" t="0"/>
          <a:stretch/>
        </p:blipFill>
        <p:spPr>
          <a:xfrm>
            <a:off x="7227012" y="1535167"/>
            <a:ext cx="2867025" cy="120015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77"/>
          <p:cNvSpPr txBox="1"/>
          <p:nvPr/>
        </p:nvSpPr>
        <p:spPr>
          <a:xfrm>
            <a:off x="163771" y="204716"/>
            <a:ext cx="11778019"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CSS Background Color</a:t>
            </a:r>
            <a:endParaRPr b="1" i="0" sz="3600" u="none" cap="none" strike="noStrike">
              <a:solidFill>
                <a:srgbClr val="600000"/>
              </a:solidFill>
              <a:latin typeface="Times New Roman"/>
              <a:ea typeface="Times New Roman"/>
              <a:cs typeface="Times New Roman"/>
              <a:sym typeface="Times New Roman"/>
            </a:endParaRPr>
          </a:p>
        </p:txBody>
      </p:sp>
      <p:sp>
        <p:nvSpPr>
          <p:cNvPr id="856" name="Google Shape;856;p77"/>
          <p:cNvSpPr txBox="1"/>
          <p:nvPr/>
        </p:nvSpPr>
        <p:spPr>
          <a:xfrm>
            <a:off x="163772" y="979096"/>
            <a:ext cx="11764371" cy="5225185"/>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40000" lnSpcReduction="20000"/>
          </a:bodyPr>
          <a:lstStyle/>
          <a:p>
            <a:pPr indent="0" lvl="0" marL="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3" marL="1371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h1 </a:t>
            </a:r>
            <a:endParaRPr b="1" i="0" sz="2800" u="none" cap="none" strike="noStrike">
              <a:solidFill>
                <a:srgbClr val="003300"/>
              </a:solidFill>
              <a:latin typeface="Times New Roman"/>
              <a:ea typeface="Times New Roman"/>
              <a:cs typeface="Times New Roman"/>
              <a:sym typeface="Times New Roman"/>
            </a:endParaRPr>
          </a:p>
          <a:p>
            <a:pPr indent="0" lvl="3" marL="1371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a:t>
            </a:r>
            <a:endParaRPr b="1" i="0" sz="2800" u="none" cap="none" strike="noStrike">
              <a:solidFill>
                <a:srgbClr val="003300"/>
              </a:solidFill>
              <a:latin typeface="Times New Roman"/>
              <a:ea typeface="Times New Roman"/>
              <a:cs typeface="Times New Roman"/>
              <a:sym typeface="Times New Roman"/>
            </a:endParaRPr>
          </a:p>
          <a:p>
            <a:pPr indent="0" lvl="3" marL="1371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    background-color: green;</a:t>
            </a:r>
            <a:endParaRPr b="0" i="0" sz="1400" u="none" cap="none" strike="noStrike">
              <a:solidFill>
                <a:srgbClr val="000000"/>
              </a:solidFill>
              <a:latin typeface="Arial"/>
              <a:ea typeface="Arial"/>
              <a:cs typeface="Arial"/>
              <a:sym typeface="Arial"/>
            </a:endParaRPr>
          </a:p>
          <a:p>
            <a:pPr indent="0" lvl="3" marL="1371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3" marL="1371600" marR="0" rtl="0" algn="l">
              <a:lnSpc>
                <a:spcPct val="120000"/>
              </a:lnSpc>
              <a:spcBef>
                <a:spcPts val="0"/>
              </a:spcBef>
              <a:spcAft>
                <a:spcPts val="0"/>
              </a:spcAft>
              <a:buClr>
                <a:srgbClr val="000000"/>
              </a:buClr>
              <a:buSzPct val="100000"/>
              <a:buFont typeface="Arial"/>
              <a:buNone/>
            </a:pPr>
            <a:r>
              <a:t/>
            </a:r>
            <a:endParaRPr b="1" i="0" sz="2800" u="none" cap="none" strike="noStrike">
              <a:solidFill>
                <a:srgbClr val="003300"/>
              </a:solidFill>
              <a:latin typeface="Times New Roman"/>
              <a:ea typeface="Times New Roman"/>
              <a:cs typeface="Times New Roman"/>
              <a:sym typeface="Times New Roman"/>
            </a:endParaRPr>
          </a:p>
          <a:p>
            <a:pPr indent="0" lvl="3" marL="1371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div </a:t>
            </a:r>
            <a:endParaRPr b="1" i="0" sz="2800" u="none" cap="none" strike="noStrike">
              <a:solidFill>
                <a:srgbClr val="003300"/>
              </a:solidFill>
              <a:latin typeface="Times New Roman"/>
              <a:ea typeface="Times New Roman"/>
              <a:cs typeface="Times New Roman"/>
              <a:sym typeface="Times New Roman"/>
            </a:endParaRPr>
          </a:p>
          <a:p>
            <a:pPr indent="0" lvl="3" marL="1371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a:t>
            </a:r>
            <a:endParaRPr b="1" i="0" sz="2800" u="none" cap="none" strike="noStrike">
              <a:solidFill>
                <a:srgbClr val="003300"/>
              </a:solidFill>
              <a:latin typeface="Times New Roman"/>
              <a:ea typeface="Times New Roman"/>
              <a:cs typeface="Times New Roman"/>
              <a:sym typeface="Times New Roman"/>
            </a:endParaRPr>
          </a:p>
          <a:p>
            <a:pPr indent="0" lvl="3" marL="1371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    background-color: lightblue;</a:t>
            </a:r>
            <a:endParaRPr b="0" i="0" sz="1400" u="none" cap="none" strike="noStrike">
              <a:solidFill>
                <a:srgbClr val="000000"/>
              </a:solidFill>
              <a:latin typeface="Arial"/>
              <a:ea typeface="Arial"/>
              <a:cs typeface="Arial"/>
              <a:sym typeface="Arial"/>
            </a:endParaRPr>
          </a:p>
          <a:p>
            <a:pPr indent="0" lvl="3" marL="1371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3" marL="1371600" marR="0" rtl="0" algn="l">
              <a:lnSpc>
                <a:spcPct val="120000"/>
              </a:lnSpc>
              <a:spcBef>
                <a:spcPts val="0"/>
              </a:spcBef>
              <a:spcAft>
                <a:spcPts val="0"/>
              </a:spcAft>
              <a:buClr>
                <a:srgbClr val="000000"/>
              </a:buClr>
              <a:buSzPct val="100000"/>
              <a:buFont typeface="Arial"/>
              <a:buNone/>
            </a:pPr>
            <a:r>
              <a:t/>
            </a:r>
            <a:endParaRPr b="1" i="0" sz="2800" u="none" cap="none" strike="noStrike">
              <a:solidFill>
                <a:srgbClr val="003300"/>
              </a:solidFill>
              <a:latin typeface="Times New Roman"/>
              <a:ea typeface="Times New Roman"/>
              <a:cs typeface="Times New Roman"/>
              <a:sym typeface="Times New Roman"/>
            </a:endParaRPr>
          </a:p>
          <a:p>
            <a:pPr indent="0" lvl="3" marL="1371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p </a:t>
            </a:r>
            <a:endParaRPr b="1" i="0" sz="2800" u="none" cap="none" strike="noStrike">
              <a:solidFill>
                <a:srgbClr val="003300"/>
              </a:solidFill>
              <a:latin typeface="Times New Roman"/>
              <a:ea typeface="Times New Roman"/>
              <a:cs typeface="Times New Roman"/>
              <a:sym typeface="Times New Roman"/>
            </a:endParaRPr>
          </a:p>
          <a:p>
            <a:pPr indent="0" lvl="3" marL="1371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a:t>
            </a:r>
            <a:endParaRPr b="1" i="0" sz="2800" u="none" cap="none" strike="noStrike">
              <a:solidFill>
                <a:srgbClr val="003300"/>
              </a:solidFill>
              <a:latin typeface="Times New Roman"/>
              <a:ea typeface="Times New Roman"/>
              <a:cs typeface="Times New Roman"/>
              <a:sym typeface="Times New Roman"/>
            </a:endParaRPr>
          </a:p>
          <a:p>
            <a:pPr indent="0" lvl="3" marL="1371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    background-color: yellow;</a:t>
            </a:r>
            <a:endParaRPr b="0" i="0" sz="1400" u="none" cap="none" strike="noStrike">
              <a:solidFill>
                <a:srgbClr val="000000"/>
              </a:solidFill>
              <a:latin typeface="Arial"/>
              <a:ea typeface="Arial"/>
              <a:cs typeface="Arial"/>
              <a:sym typeface="Arial"/>
            </a:endParaRPr>
          </a:p>
          <a:p>
            <a:pPr indent="0" lvl="3" marL="137160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t/>
            </a:r>
            <a:endParaRPr b="1" i="0" sz="2800" u="none" cap="none" strike="noStrike">
              <a:solidFill>
                <a:srgbClr val="003300"/>
              </a:solidFill>
              <a:latin typeface="Times New Roman"/>
              <a:ea typeface="Times New Roman"/>
              <a:cs typeface="Times New Roman"/>
              <a:sym typeface="Times New Roman"/>
            </a:endParaRPr>
          </a:p>
          <a:p>
            <a:pPr indent="0" lvl="1" marL="45720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&lt;h1&gt;CSS background-color example!&lt;/h1&gt;</a:t>
            </a:r>
            <a:endParaRPr b="0" i="0" sz="1400" u="none" cap="none" strike="noStrike">
              <a:solidFill>
                <a:srgbClr val="000000"/>
              </a:solidFill>
              <a:latin typeface="Arial"/>
              <a:ea typeface="Arial"/>
              <a:cs typeface="Arial"/>
              <a:sym typeface="Arial"/>
            </a:endParaRPr>
          </a:p>
          <a:p>
            <a:pPr indent="0" lvl="1" marL="45720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&lt;div&gt;</a:t>
            </a:r>
            <a:endParaRPr b="0" i="0" sz="1400" u="none" cap="none" strike="noStrike">
              <a:solidFill>
                <a:srgbClr val="000000"/>
              </a:solidFill>
              <a:latin typeface="Arial"/>
              <a:ea typeface="Arial"/>
              <a:cs typeface="Arial"/>
              <a:sym typeface="Arial"/>
            </a:endParaRPr>
          </a:p>
          <a:p>
            <a:pPr indent="0" lvl="1" marL="45720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This is a text inside a div element.</a:t>
            </a:r>
            <a:endParaRPr b="0" i="0" sz="1400" u="none" cap="none" strike="noStrike">
              <a:solidFill>
                <a:srgbClr val="000000"/>
              </a:solidFill>
              <a:latin typeface="Arial"/>
              <a:ea typeface="Arial"/>
              <a:cs typeface="Arial"/>
              <a:sym typeface="Arial"/>
            </a:endParaRPr>
          </a:p>
          <a:p>
            <a:pPr indent="0" lvl="1" marL="45720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&lt;p&gt;This paragraph has its own background color.&lt;/p&gt;</a:t>
            </a:r>
            <a:endParaRPr b="0" i="0" sz="1400" u="none" cap="none" strike="noStrike">
              <a:solidFill>
                <a:srgbClr val="000000"/>
              </a:solidFill>
              <a:latin typeface="Arial"/>
              <a:ea typeface="Arial"/>
              <a:cs typeface="Arial"/>
              <a:sym typeface="Arial"/>
            </a:endParaRPr>
          </a:p>
          <a:p>
            <a:pPr indent="0" lvl="1" marL="45720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We are still in the div element.</a:t>
            </a:r>
            <a:endParaRPr b="0" i="0" sz="1400" u="none" cap="none" strike="noStrike">
              <a:solidFill>
                <a:srgbClr val="000000"/>
              </a:solidFill>
              <a:latin typeface="Arial"/>
              <a:ea typeface="Arial"/>
              <a:cs typeface="Arial"/>
              <a:sym typeface="Arial"/>
            </a:endParaRPr>
          </a:p>
          <a:p>
            <a:pPr indent="0" lvl="1" marL="45720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&lt;/div&gt;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t/>
            </a:r>
            <a:endParaRPr b="1" i="0" sz="2800" u="none" cap="none" strike="noStrike">
              <a:solidFill>
                <a:srgbClr val="003300"/>
              </a:solidFill>
              <a:latin typeface="Times New Roman"/>
              <a:ea typeface="Times New Roman"/>
              <a:cs typeface="Times New Roman"/>
              <a:sym typeface="Times New Roman"/>
            </a:endParaRPr>
          </a:p>
          <a:p>
            <a:pPr indent="0" lvl="0" marL="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&lt;/body&gt;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ct val="100000"/>
              <a:buFont typeface="Arial"/>
              <a:buNone/>
            </a:pPr>
            <a:r>
              <a:rPr b="1" i="0" lang="en-US" sz="28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857" name="Google Shape;857;p77"/>
          <p:cNvPicPr preferRelativeResize="0"/>
          <p:nvPr/>
        </p:nvPicPr>
        <p:blipFill rotWithShape="1">
          <a:blip r:embed="rId3">
            <a:alphaModFix/>
          </a:blip>
          <a:srcRect b="0" l="0" r="0" t="0"/>
          <a:stretch/>
        </p:blipFill>
        <p:spPr>
          <a:xfrm>
            <a:off x="11305780" y="6242918"/>
            <a:ext cx="622363" cy="615082"/>
          </a:xfrm>
          <a:prstGeom prst="rect">
            <a:avLst/>
          </a:prstGeom>
          <a:noFill/>
          <a:ln cap="flat" cmpd="sng" w="9525">
            <a:solidFill>
              <a:srgbClr val="860000"/>
            </a:solidFill>
            <a:prstDash val="solid"/>
            <a:round/>
            <a:headEnd len="sm" w="sm" type="none"/>
            <a:tailEnd len="sm" w="sm" type="none"/>
          </a:ln>
        </p:spPr>
      </p:pic>
      <p:sp>
        <p:nvSpPr>
          <p:cNvPr id="858" name="Google Shape;858;p77"/>
          <p:cNvSpPr/>
          <p:nvPr/>
        </p:nvSpPr>
        <p:spPr>
          <a:xfrm>
            <a:off x="0" y="6553209"/>
            <a:ext cx="11305780" cy="304791"/>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9" name="Google Shape;859;p77"/>
          <p:cNvSpPr/>
          <p:nvPr/>
        </p:nvSpPr>
        <p:spPr>
          <a:xfrm>
            <a:off x="1" y="6336406"/>
            <a:ext cx="10683416" cy="216803"/>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60" name="Google Shape;860;p77"/>
          <p:cNvPicPr preferRelativeResize="0"/>
          <p:nvPr/>
        </p:nvPicPr>
        <p:blipFill rotWithShape="1">
          <a:blip r:embed="rId4">
            <a:alphaModFix/>
          </a:blip>
          <a:srcRect b="0" l="0" r="0" t="0"/>
          <a:stretch/>
        </p:blipFill>
        <p:spPr>
          <a:xfrm>
            <a:off x="5122467" y="2055375"/>
            <a:ext cx="6183313" cy="165735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78"/>
          <p:cNvSpPr txBox="1"/>
          <p:nvPr/>
        </p:nvSpPr>
        <p:spPr>
          <a:xfrm>
            <a:off x="68236" y="43974"/>
            <a:ext cx="11123505"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CSS Background Image</a:t>
            </a:r>
            <a:endParaRPr b="1" i="0" sz="3600" u="none" cap="none" strike="noStrike">
              <a:solidFill>
                <a:srgbClr val="600000"/>
              </a:solidFill>
              <a:latin typeface="Times New Roman"/>
              <a:ea typeface="Times New Roman"/>
              <a:cs typeface="Times New Roman"/>
              <a:sym typeface="Times New Roman"/>
            </a:endParaRPr>
          </a:p>
        </p:txBody>
      </p:sp>
      <p:sp>
        <p:nvSpPr>
          <p:cNvPr id="866" name="Google Shape;866;p78"/>
          <p:cNvSpPr txBox="1"/>
          <p:nvPr/>
        </p:nvSpPr>
        <p:spPr>
          <a:xfrm>
            <a:off x="68236" y="790349"/>
            <a:ext cx="12012147" cy="546660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85000" lnSpcReduction="20000"/>
          </a:bodyPr>
          <a:lstStyle/>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body </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None/>
            </a:pPr>
            <a:r>
              <a:rPr b="0" i="0" lang="en-US" sz="2800" u="none" cap="none" strike="noStrike">
                <a:solidFill>
                  <a:srgbClr val="003300"/>
                </a:solidFill>
                <a:latin typeface="Times New Roman"/>
                <a:ea typeface="Times New Roman"/>
                <a:cs typeface="Times New Roman"/>
                <a:sym typeface="Times New Roman"/>
              </a:rPr>
              <a:t>    background-image: url("delighted.webp");</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2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&lt;h1&gt;Hello World!&lt;/h1&gt;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&lt;p&gt;This page has an image as the background!&lt;/p&gt;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Calibri"/>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867" name="Google Shape;867;p78"/>
          <p:cNvPicPr preferRelativeResize="0"/>
          <p:nvPr/>
        </p:nvPicPr>
        <p:blipFill rotWithShape="1">
          <a:blip r:embed="rId3">
            <a:alphaModFix/>
          </a:blip>
          <a:srcRect b="0" l="0" r="0" t="0"/>
          <a:stretch/>
        </p:blipFill>
        <p:spPr>
          <a:xfrm>
            <a:off x="11333408" y="68781"/>
            <a:ext cx="746975" cy="660699"/>
          </a:xfrm>
          <a:prstGeom prst="rect">
            <a:avLst/>
          </a:prstGeom>
          <a:noFill/>
          <a:ln cap="flat" cmpd="sng" w="9525">
            <a:solidFill>
              <a:srgbClr val="860000"/>
            </a:solidFill>
            <a:prstDash val="solid"/>
            <a:round/>
            <a:headEnd len="sm" w="sm" type="none"/>
            <a:tailEnd len="sm" w="sm" type="none"/>
          </a:ln>
        </p:spPr>
      </p:pic>
      <p:sp>
        <p:nvSpPr>
          <p:cNvPr id="868" name="Google Shape;868;p78"/>
          <p:cNvSpPr/>
          <p:nvPr/>
        </p:nvSpPr>
        <p:spPr>
          <a:xfrm>
            <a:off x="0" y="6564573"/>
            <a:ext cx="12192000" cy="293427"/>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9" name="Google Shape;869;p78"/>
          <p:cNvSpPr/>
          <p:nvPr/>
        </p:nvSpPr>
        <p:spPr>
          <a:xfrm>
            <a:off x="1" y="6359859"/>
            <a:ext cx="10276764" cy="19335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70" name="Google Shape;870;p78"/>
          <p:cNvPicPr preferRelativeResize="0"/>
          <p:nvPr/>
        </p:nvPicPr>
        <p:blipFill rotWithShape="1">
          <a:blip r:embed="rId4">
            <a:alphaModFix/>
          </a:blip>
          <a:srcRect b="0" l="0" r="0" t="0"/>
          <a:stretch/>
        </p:blipFill>
        <p:spPr>
          <a:xfrm>
            <a:off x="7705300" y="1429407"/>
            <a:ext cx="4139859" cy="3247696"/>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79"/>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b="1" lang="en-US" sz="3600">
                <a:solidFill>
                  <a:srgbClr val="600000"/>
                </a:solidFill>
                <a:latin typeface="Times New Roman"/>
                <a:ea typeface="Times New Roman"/>
                <a:cs typeface="Times New Roman"/>
                <a:sym typeface="Times New Roman"/>
              </a:rPr>
              <a:t>CSS Background</a:t>
            </a:r>
            <a:endParaRPr b="1" sz="3600">
              <a:solidFill>
                <a:srgbClr val="600000"/>
              </a:solidFill>
              <a:latin typeface="Times New Roman"/>
              <a:ea typeface="Times New Roman"/>
              <a:cs typeface="Times New Roman"/>
              <a:sym typeface="Times New Roman"/>
            </a:endParaRPr>
          </a:p>
        </p:txBody>
      </p:sp>
      <p:pic>
        <p:nvPicPr>
          <p:cNvPr descr="C:\Users\GANGA\Desktop\download.jpg" id="876" name="Google Shape;876;p79"/>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877" name="Google Shape;877;p79"/>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8" name="Google Shape;878;p79"/>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79" name="Google Shape;879;p79"/>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2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background-color</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background-image</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background-repeat</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background-attachment</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3300"/>
              </a:buClr>
              <a:buSzPts val="2800"/>
              <a:buFont typeface="Noto Sans Symbols"/>
              <a:buChar char="⮚"/>
            </a:pPr>
            <a:r>
              <a:rPr b="0" i="0" lang="en-US" sz="2800" u="none" cap="none" strike="noStrike">
                <a:solidFill>
                  <a:srgbClr val="003300"/>
                </a:solidFill>
                <a:latin typeface="Times New Roman"/>
                <a:ea typeface="Times New Roman"/>
                <a:cs typeface="Times New Roman"/>
                <a:sym typeface="Times New Roman"/>
              </a:rPr>
              <a:t>background-position</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80"/>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b="1" lang="en-US" sz="3600">
                <a:solidFill>
                  <a:srgbClr val="600000"/>
                </a:solidFill>
                <a:latin typeface="Times New Roman"/>
                <a:ea typeface="Times New Roman"/>
                <a:cs typeface="Times New Roman"/>
                <a:sym typeface="Times New Roman"/>
              </a:rPr>
              <a:t>The CSS Box Model</a:t>
            </a:r>
            <a:endParaRPr/>
          </a:p>
        </p:txBody>
      </p:sp>
      <p:pic>
        <p:nvPicPr>
          <p:cNvPr descr="C:\Users\GANGA\Desktop\download.jpg" id="885" name="Google Shape;885;p80"/>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886" name="Google Shape;886;p80"/>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7" name="Google Shape;887;p80"/>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8" name="Google Shape;888;p80"/>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just">
              <a:lnSpc>
                <a:spcPct val="200000"/>
              </a:lnSpc>
              <a:spcBef>
                <a:spcPts val="0"/>
              </a:spcBef>
              <a:spcAft>
                <a:spcPts val="0"/>
              </a:spcAft>
              <a:buClr>
                <a:srgbClr val="003300"/>
              </a:buClr>
              <a:buSzPts val="2200"/>
              <a:buFont typeface="Noto Sans Symbols"/>
              <a:buChar char="⮚"/>
            </a:pPr>
            <a:r>
              <a:rPr b="0" i="0" lang="en-US" sz="2200" u="none" cap="none" strike="noStrike">
                <a:solidFill>
                  <a:srgbClr val="003300"/>
                </a:solidFill>
                <a:latin typeface="Times New Roman"/>
                <a:ea typeface="Times New Roman"/>
                <a:cs typeface="Times New Roman"/>
                <a:sym typeface="Times New Roman"/>
              </a:rPr>
              <a:t>All HTML elements can be considered as boxes. In CSS, the term "box model" is used when talking about design and layout.</a:t>
            </a:r>
            <a:endParaRPr b="0" i="0" sz="1400" u="none" cap="none" strike="noStrike">
              <a:solidFill>
                <a:srgbClr val="000000"/>
              </a:solidFill>
              <a:latin typeface="Arial"/>
              <a:ea typeface="Arial"/>
              <a:cs typeface="Arial"/>
              <a:sym typeface="Arial"/>
            </a:endParaRPr>
          </a:p>
          <a:p>
            <a:pPr indent="0" lvl="0" marL="0" marR="0" rtl="0" algn="just">
              <a:lnSpc>
                <a:spcPct val="200000"/>
              </a:lnSpc>
              <a:spcBef>
                <a:spcPts val="0"/>
              </a:spcBef>
              <a:spcAft>
                <a:spcPts val="0"/>
              </a:spcAft>
              <a:buClr>
                <a:srgbClr val="003300"/>
              </a:buClr>
              <a:buSzPts val="2200"/>
              <a:buFont typeface="Noto Sans Symbols"/>
              <a:buChar char="⮚"/>
            </a:pPr>
            <a:r>
              <a:rPr b="0" i="0" lang="en-US" sz="2200" u="none" cap="none" strike="noStrike">
                <a:solidFill>
                  <a:srgbClr val="003300"/>
                </a:solidFill>
                <a:latin typeface="Times New Roman"/>
                <a:ea typeface="Times New Roman"/>
                <a:cs typeface="Times New Roman"/>
                <a:sym typeface="Times New Roman"/>
              </a:rPr>
              <a:t>The CSS box model is essentially a box that wraps around every HTML element. </a:t>
            </a:r>
            <a:endParaRPr b="0" i="0" sz="1400" u="none" cap="none" strike="noStrike">
              <a:solidFill>
                <a:srgbClr val="000000"/>
              </a:solidFill>
              <a:latin typeface="Arial"/>
              <a:ea typeface="Arial"/>
              <a:cs typeface="Arial"/>
              <a:sym typeface="Arial"/>
            </a:endParaRPr>
          </a:p>
          <a:p>
            <a:pPr indent="0" lvl="0" marL="0" marR="0" rtl="0" algn="just">
              <a:lnSpc>
                <a:spcPct val="200000"/>
              </a:lnSpc>
              <a:spcBef>
                <a:spcPts val="0"/>
              </a:spcBef>
              <a:spcAft>
                <a:spcPts val="0"/>
              </a:spcAft>
              <a:buClr>
                <a:srgbClr val="003300"/>
              </a:buClr>
              <a:buSzPts val="2200"/>
              <a:buFont typeface="Noto Sans Symbols"/>
              <a:buChar char="⮚"/>
            </a:pPr>
            <a:r>
              <a:rPr b="0" i="0" lang="en-US" sz="2200" u="none" cap="none" strike="noStrike">
                <a:solidFill>
                  <a:srgbClr val="003300"/>
                </a:solidFill>
                <a:latin typeface="Times New Roman"/>
                <a:ea typeface="Times New Roman"/>
                <a:cs typeface="Times New Roman"/>
                <a:sym typeface="Times New Roman"/>
              </a:rPr>
              <a:t>Each Rectangular Box contains 4 edges.</a:t>
            </a:r>
            <a:endParaRPr b="0" i="0" sz="1400" u="none" cap="none" strike="noStrike">
              <a:solidFill>
                <a:srgbClr val="000000"/>
              </a:solidFill>
              <a:latin typeface="Arial"/>
              <a:ea typeface="Arial"/>
              <a:cs typeface="Arial"/>
              <a:sym typeface="Arial"/>
            </a:endParaRPr>
          </a:p>
          <a:p>
            <a:pPr indent="-139700" lvl="5" marL="2286000" marR="0" rtl="0" algn="just">
              <a:lnSpc>
                <a:spcPct val="200000"/>
              </a:lnSpc>
              <a:spcBef>
                <a:spcPts val="0"/>
              </a:spcBef>
              <a:spcAft>
                <a:spcPts val="0"/>
              </a:spcAft>
              <a:buClr>
                <a:srgbClr val="600000"/>
              </a:buClr>
              <a:buSzPts val="2200"/>
              <a:buFont typeface="Noto Sans Symbols"/>
              <a:buChar char="⮚"/>
            </a:pPr>
            <a:r>
              <a:rPr b="0" i="0" lang="en-US" sz="2200" u="none" cap="none" strike="noStrike">
                <a:solidFill>
                  <a:srgbClr val="600000"/>
                </a:solidFill>
                <a:latin typeface="Times New Roman"/>
                <a:ea typeface="Times New Roman"/>
                <a:cs typeface="Times New Roman"/>
                <a:sym typeface="Times New Roman"/>
              </a:rPr>
              <a:t>Content Edge</a:t>
            </a:r>
            <a:endParaRPr b="0" i="0" sz="1400" u="none" cap="none" strike="noStrike">
              <a:solidFill>
                <a:srgbClr val="000000"/>
              </a:solidFill>
              <a:latin typeface="Arial"/>
              <a:ea typeface="Arial"/>
              <a:cs typeface="Arial"/>
              <a:sym typeface="Arial"/>
            </a:endParaRPr>
          </a:p>
          <a:p>
            <a:pPr indent="-139700" lvl="5" marL="2286000" marR="0" rtl="0" algn="just">
              <a:lnSpc>
                <a:spcPct val="200000"/>
              </a:lnSpc>
              <a:spcBef>
                <a:spcPts val="0"/>
              </a:spcBef>
              <a:spcAft>
                <a:spcPts val="0"/>
              </a:spcAft>
              <a:buClr>
                <a:srgbClr val="600000"/>
              </a:buClr>
              <a:buSzPts val="2200"/>
              <a:buFont typeface="Noto Sans Symbols"/>
              <a:buChar char="⮚"/>
            </a:pPr>
            <a:r>
              <a:rPr b="0" i="0" lang="en-US" sz="2200" u="none" cap="none" strike="noStrike">
                <a:solidFill>
                  <a:srgbClr val="600000"/>
                </a:solidFill>
                <a:latin typeface="Times New Roman"/>
                <a:ea typeface="Times New Roman"/>
                <a:cs typeface="Times New Roman"/>
                <a:sym typeface="Times New Roman"/>
              </a:rPr>
              <a:t>Padding Edge</a:t>
            </a:r>
            <a:endParaRPr b="0" i="0" sz="1400" u="none" cap="none" strike="noStrike">
              <a:solidFill>
                <a:srgbClr val="000000"/>
              </a:solidFill>
              <a:latin typeface="Arial"/>
              <a:ea typeface="Arial"/>
              <a:cs typeface="Arial"/>
              <a:sym typeface="Arial"/>
            </a:endParaRPr>
          </a:p>
          <a:p>
            <a:pPr indent="-139700" lvl="5" marL="2286000" marR="0" rtl="0" algn="just">
              <a:lnSpc>
                <a:spcPct val="200000"/>
              </a:lnSpc>
              <a:spcBef>
                <a:spcPts val="0"/>
              </a:spcBef>
              <a:spcAft>
                <a:spcPts val="0"/>
              </a:spcAft>
              <a:buClr>
                <a:srgbClr val="600000"/>
              </a:buClr>
              <a:buSzPts val="2200"/>
              <a:buFont typeface="Noto Sans Symbols"/>
              <a:buChar char="⮚"/>
            </a:pPr>
            <a:r>
              <a:rPr b="0" i="0" lang="en-US" sz="2200" u="none" cap="none" strike="noStrike">
                <a:solidFill>
                  <a:srgbClr val="600000"/>
                </a:solidFill>
                <a:latin typeface="Times New Roman"/>
                <a:ea typeface="Times New Roman"/>
                <a:cs typeface="Times New Roman"/>
                <a:sym typeface="Times New Roman"/>
              </a:rPr>
              <a:t>Border Edge</a:t>
            </a:r>
            <a:endParaRPr b="0" i="0" sz="1400" u="none" cap="none" strike="noStrike">
              <a:solidFill>
                <a:srgbClr val="000000"/>
              </a:solidFill>
              <a:latin typeface="Arial"/>
              <a:ea typeface="Arial"/>
              <a:cs typeface="Arial"/>
              <a:sym typeface="Arial"/>
            </a:endParaRPr>
          </a:p>
          <a:p>
            <a:pPr indent="-139700" lvl="5" marL="2286000" marR="0" rtl="0" algn="just">
              <a:lnSpc>
                <a:spcPct val="200000"/>
              </a:lnSpc>
              <a:spcBef>
                <a:spcPts val="0"/>
              </a:spcBef>
              <a:spcAft>
                <a:spcPts val="0"/>
              </a:spcAft>
              <a:buClr>
                <a:srgbClr val="600000"/>
              </a:buClr>
              <a:buSzPts val="2200"/>
              <a:buFont typeface="Noto Sans Symbols"/>
              <a:buChar char="⮚"/>
            </a:pPr>
            <a:r>
              <a:rPr b="0" i="0" lang="en-US" sz="2200" u="none" cap="none" strike="noStrike">
                <a:solidFill>
                  <a:srgbClr val="600000"/>
                </a:solidFill>
                <a:latin typeface="Times New Roman"/>
                <a:ea typeface="Times New Roman"/>
                <a:cs typeface="Times New Roman"/>
                <a:sym typeface="Times New Roman"/>
              </a:rPr>
              <a:t>Margin Edge</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81"/>
          <p:cNvSpPr txBox="1"/>
          <p:nvPr/>
        </p:nvSpPr>
        <p:spPr>
          <a:xfrm>
            <a:off x="163772" y="204716"/>
            <a:ext cx="10781732"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The CSS Box Model</a:t>
            </a:r>
            <a:endParaRPr b="1" i="0" sz="3600" u="none" cap="none" strike="noStrike">
              <a:solidFill>
                <a:srgbClr val="860000"/>
              </a:solidFill>
              <a:latin typeface="Marcellus"/>
              <a:ea typeface="Marcellus"/>
              <a:cs typeface="Marcellus"/>
              <a:sym typeface="Marcellus"/>
            </a:endParaRPr>
          </a:p>
        </p:txBody>
      </p:sp>
      <p:sp>
        <p:nvSpPr>
          <p:cNvPr id="894" name="Google Shape;894;p81"/>
          <p:cNvSpPr txBox="1"/>
          <p:nvPr/>
        </p:nvSpPr>
        <p:spPr>
          <a:xfrm>
            <a:off x="163772" y="1017732"/>
            <a:ext cx="10781731" cy="567928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just">
              <a:lnSpc>
                <a:spcPct val="15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895" name="Google Shape;895;p81"/>
          <p:cNvSpPr/>
          <p:nvPr/>
        </p:nvSpPr>
        <p:spPr>
          <a:xfrm>
            <a:off x="11191167" y="0"/>
            <a:ext cx="259311" cy="551369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96" name="Google Shape;896;p81"/>
          <p:cNvSpPr/>
          <p:nvPr/>
        </p:nvSpPr>
        <p:spPr>
          <a:xfrm>
            <a:off x="11450472" y="0"/>
            <a:ext cx="741528" cy="5882183"/>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897" name="Google Shape;897;p81"/>
          <p:cNvPicPr preferRelativeResize="0"/>
          <p:nvPr/>
        </p:nvPicPr>
        <p:blipFill rotWithShape="1">
          <a:blip r:embed="rId3">
            <a:alphaModFix/>
          </a:blip>
          <a:srcRect b="0" l="0" r="0" t="0"/>
          <a:stretch/>
        </p:blipFill>
        <p:spPr>
          <a:xfrm>
            <a:off x="11191166" y="5915467"/>
            <a:ext cx="1000833" cy="915237"/>
          </a:xfrm>
          <a:prstGeom prst="rect">
            <a:avLst/>
          </a:prstGeom>
          <a:noFill/>
          <a:ln cap="flat" cmpd="sng" w="9525">
            <a:solidFill>
              <a:srgbClr val="860000"/>
            </a:solidFill>
            <a:prstDash val="solid"/>
            <a:round/>
            <a:headEnd len="sm" w="sm" type="none"/>
            <a:tailEnd len="sm" w="sm" type="none"/>
          </a:ln>
        </p:spPr>
      </p:pic>
      <p:pic>
        <p:nvPicPr>
          <p:cNvPr id="898" name="Google Shape;898;p81"/>
          <p:cNvPicPr preferRelativeResize="0"/>
          <p:nvPr/>
        </p:nvPicPr>
        <p:blipFill rotWithShape="1">
          <a:blip r:embed="rId4">
            <a:alphaModFix/>
          </a:blip>
          <a:srcRect b="0" l="0" r="0" t="0"/>
          <a:stretch/>
        </p:blipFill>
        <p:spPr>
          <a:xfrm>
            <a:off x="304800" y="1017732"/>
            <a:ext cx="10532918" cy="5740778"/>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82"/>
          <p:cNvSpPr txBox="1"/>
          <p:nvPr/>
        </p:nvSpPr>
        <p:spPr>
          <a:xfrm>
            <a:off x="163772" y="204716"/>
            <a:ext cx="11136574"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The CSS Box Model</a:t>
            </a:r>
            <a:endParaRPr b="1" i="0" sz="3600" u="none" cap="none" strike="noStrike">
              <a:solidFill>
                <a:srgbClr val="600000"/>
              </a:solidFill>
              <a:latin typeface="Times New Roman"/>
              <a:ea typeface="Times New Roman"/>
              <a:cs typeface="Times New Roman"/>
              <a:sym typeface="Times New Roman"/>
            </a:endParaRPr>
          </a:p>
        </p:txBody>
      </p:sp>
      <p:sp>
        <p:nvSpPr>
          <p:cNvPr id="904" name="Google Shape;904;p82"/>
          <p:cNvSpPr txBox="1"/>
          <p:nvPr/>
        </p:nvSpPr>
        <p:spPr>
          <a:xfrm>
            <a:off x="163772" y="1017733"/>
            <a:ext cx="11122927" cy="5073974"/>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just">
              <a:lnSpc>
                <a:spcPct val="250000"/>
              </a:lnSpc>
              <a:spcBef>
                <a:spcPts val="0"/>
              </a:spcBef>
              <a:spcAft>
                <a:spcPts val="0"/>
              </a:spcAft>
              <a:buClr>
                <a:srgbClr val="600000"/>
              </a:buClr>
              <a:buSzPts val="2800"/>
              <a:buFont typeface="Noto Sans Symbols"/>
              <a:buChar char="⮚"/>
            </a:pPr>
            <a:r>
              <a:rPr b="1" i="0" lang="en-US" sz="2800" u="none" cap="none" strike="noStrike">
                <a:solidFill>
                  <a:srgbClr val="600000"/>
                </a:solidFill>
                <a:latin typeface="Times New Roman"/>
                <a:ea typeface="Times New Roman"/>
                <a:cs typeface="Times New Roman"/>
                <a:sym typeface="Times New Roman"/>
              </a:rPr>
              <a:t>Content</a:t>
            </a:r>
            <a:r>
              <a:rPr b="0" i="0" lang="en-US" sz="2800" u="none" cap="none" strike="noStrike">
                <a:solidFill>
                  <a:srgbClr val="600000"/>
                </a:solidFill>
                <a:latin typeface="Times New Roman"/>
                <a:ea typeface="Times New Roman"/>
                <a:cs typeface="Times New Roman"/>
                <a:sym typeface="Times New Roman"/>
              </a:rPr>
              <a:t> </a:t>
            </a:r>
            <a:r>
              <a:rPr b="0" i="0" lang="en-US" sz="2800" u="none" cap="none" strike="noStrike">
                <a:solidFill>
                  <a:srgbClr val="003300"/>
                </a:solidFill>
                <a:latin typeface="Times New Roman"/>
                <a:ea typeface="Times New Roman"/>
                <a:cs typeface="Times New Roman"/>
                <a:sym typeface="Times New Roman"/>
              </a:rPr>
              <a:t>- The content of the box, where text and images appear.</a:t>
            </a:r>
            <a:endParaRPr b="0" i="0" sz="1400" u="none" cap="none" strike="noStrike">
              <a:solidFill>
                <a:srgbClr val="000000"/>
              </a:solidFill>
              <a:latin typeface="Arial"/>
              <a:ea typeface="Arial"/>
              <a:cs typeface="Arial"/>
              <a:sym typeface="Arial"/>
            </a:endParaRPr>
          </a:p>
          <a:p>
            <a:pPr indent="0" lvl="0" marL="0" marR="0" rtl="0" algn="just">
              <a:lnSpc>
                <a:spcPct val="250000"/>
              </a:lnSpc>
              <a:spcBef>
                <a:spcPts val="0"/>
              </a:spcBef>
              <a:spcAft>
                <a:spcPts val="0"/>
              </a:spcAft>
              <a:buClr>
                <a:srgbClr val="600000"/>
              </a:buClr>
              <a:buSzPts val="2800"/>
              <a:buFont typeface="Noto Sans Symbols"/>
              <a:buChar char="⮚"/>
            </a:pPr>
            <a:r>
              <a:rPr b="1" i="0" lang="en-US" sz="2800" u="none" cap="none" strike="noStrike">
                <a:solidFill>
                  <a:srgbClr val="600000"/>
                </a:solidFill>
                <a:latin typeface="Times New Roman"/>
                <a:ea typeface="Times New Roman"/>
                <a:cs typeface="Times New Roman"/>
                <a:sym typeface="Times New Roman"/>
              </a:rPr>
              <a:t>Padding</a:t>
            </a:r>
            <a:r>
              <a:rPr b="0" i="0" lang="en-US" sz="2800" u="none" cap="none" strike="noStrike">
                <a:solidFill>
                  <a:srgbClr val="003300"/>
                </a:solidFill>
                <a:latin typeface="Times New Roman"/>
                <a:ea typeface="Times New Roman"/>
                <a:cs typeface="Times New Roman"/>
                <a:sym typeface="Times New Roman"/>
              </a:rPr>
              <a:t> - Clears an area around the content. The padding is transparent.</a:t>
            </a:r>
            <a:endParaRPr b="0" i="0" sz="1400" u="none" cap="none" strike="noStrike">
              <a:solidFill>
                <a:srgbClr val="000000"/>
              </a:solidFill>
              <a:latin typeface="Arial"/>
              <a:ea typeface="Arial"/>
              <a:cs typeface="Arial"/>
              <a:sym typeface="Arial"/>
            </a:endParaRPr>
          </a:p>
          <a:p>
            <a:pPr indent="0" lvl="0" marL="0" marR="0" rtl="0" algn="just">
              <a:lnSpc>
                <a:spcPct val="250000"/>
              </a:lnSpc>
              <a:spcBef>
                <a:spcPts val="0"/>
              </a:spcBef>
              <a:spcAft>
                <a:spcPts val="0"/>
              </a:spcAft>
              <a:buClr>
                <a:srgbClr val="600000"/>
              </a:buClr>
              <a:buSzPts val="2800"/>
              <a:buFont typeface="Noto Sans Symbols"/>
              <a:buChar char="⮚"/>
            </a:pPr>
            <a:r>
              <a:rPr b="1" i="0" lang="en-US" sz="2800" u="none" cap="none" strike="noStrike">
                <a:solidFill>
                  <a:srgbClr val="600000"/>
                </a:solidFill>
                <a:latin typeface="Times New Roman"/>
                <a:ea typeface="Times New Roman"/>
                <a:cs typeface="Times New Roman"/>
                <a:sym typeface="Times New Roman"/>
              </a:rPr>
              <a:t>Border</a:t>
            </a:r>
            <a:r>
              <a:rPr b="0" i="0" lang="en-US" sz="2800" u="none" cap="none" strike="noStrike">
                <a:solidFill>
                  <a:srgbClr val="003300"/>
                </a:solidFill>
                <a:latin typeface="Times New Roman"/>
                <a:ea typeface="Times New Roman"/>
                <a:cs typeface="Times New Roman"/>
                <a:sym typeface="Times New Roman"/>
              </a:rPr>
              <a:t> - A border that goes around the padding and content.</a:t>
            </a:r>
            <a:endParaRPr b="0" i="0" sz="1400" u="none" cap="none" strike="noStrike">
              <a:solidFill>
                <a:srgbClr val="000000"/>
              </a:solidFill>
              <a:latin typeface="Arial"/>
              <a:ea typeface="Arial"/>
              <a:cs typeface="Arial"/>
              <a:sym typeface="Arial"/>
            </a:endParaRPr>
          </a:p>
          <a:p>
            <a:pPr indent="0" lvl="0" marL="0" marR="0" rtl="0" algn="just">
              <a:lnSpc>
                <a:spcPct val="250000"/>
              </a:lnSpc>
              <a:spcBef>
                <a:spcPts val="0"/>
              </a:spcBef>
              <a:spcAft>
                <a:spcPts val="0"/>
              </a:spcAft>
              <a:buClr>
                <a:srgbClr val="600000"/>
              </a:buClr>
              <a:buSzPts val="2800"/>
              <a:buFont typeface="Noto Sans Symbols"/>
              <a:buChar char="⮚"/>
            </a:pPr>
            <a:r>
              <a:rPr b="1" i="0" lang="en-US" sz="2800" u="none" cap="none" strike="noStrike">
                <a:solidFill>
                  <a:srgbClr val="600000"/>
                </a:solidFill>
                <a:latin typeface="Times New Roman"/>
                <a:ea typeface="Times New Roman"/>
                <a:cs typeface="Times New Roman"/>
                <a:sym typeface="Times New Roman"/>
              </a:rPr>
              <a:t>Margin</a:t>
            </a:r>
            <a:r>
              <a:rPr b="0" i="0" lang="en-US" sz="2800" u="none" cap="none" strike="noStrike">
                <a:solidFill>
                  <a:srgbClr val="600000"/>
                </a:solidFill>
                <a:latin typeface="Times New Roman"/>
                <a:ea typeface="Times New Roman"/>
                <a:cs typeface="Times New Roman"/>
                <a:sym typeface="Times New Roman"/>
              </a:rPr>
              <a:t> </a:t>
            </a:r>
            <a:r>
              <a:rPr b="0" i="0" lang="en-US" sz="2800" u="none" cap="none" strike="noStrike">
                <a:solidFill>
                  <a:srgbClr val="003300"/>
                </a:solidFill>
                <a:latin typeface="Times New Roman"/>
                <a:ea typeface="Times New Roman"/>
                <a:cs typeface="Times New Roman"/>
                <a:sym typeface="Times New Roman"/>
              </a:rPr>
              <a:t>- Clears an area outside the border. The margin is transparent.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905" name="Google Shape;905;p82"/>
          <p:cNvSpPr/>
          <p:nvPr/>
        </p:nvSpPr>
        <p:spPr>
          <a:xfrm>
            <a:off x="11477767" y="0"/>
            <a:ext cx="714233" cy="68580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906" name="Google Shape;906;p82"/>
          <p:cNvPicPr preferRelativeResize="0"/>
          <p:nvPr/>
        </p:nvPicPr>
        <p:blipFill rotWithShape="1">
          <a:blip r:embed="rId3">
            <a:alphaModFix/>
          </a:blip>
          <a:srcRect b="0" l="0" r="0" t="0"/>
          <a:stretch/>
        </p:blipFill>
        <p:spPr>
          <a:xfrm>
            <a:off x="163772" y="6209730"/>
            <a:ext cx="778199" cy="593679"/>
          </a:xfrm>
          <a:prstGeom prst="rect">
            <a:avLst/>
          </a:prstGeom>
          <a:noFill/>
          <a:ln cap="flat" cmpd="sng" w="9525">
            <a:solidFill>
              <a:srgbClr val="860000"/>
            </a:solidFill>
            <a:prstDash val="solid"/>
            <a:round/>
            <a:headEnd len="sm" w="sm" type="none"/>
            <a:tailEnd len="sm" w="sm" type="none"/>
          </a:ln>
        </p:spPr>
      </p:pic>
      <p:sp>
        <p:nvSpPr>
          <p:cNvPr id="907" name="Google Shape;907;p82"/>
          <p:cNvSpPr/>
          <p:nvPr/>
        </p:nvSpPr>
        <p:spPr>
          <a:xfrm>
            <a:off x="3346973" y="6209731"/>
            <a:ext cx="8144442" cy="648269"/>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08" name="Google Shape;908;p82"/>
          <p:cNvSpPr/>
          <p:nvPr/>
        </p:nvSpPr>
        <p:spPr>
          <a:xfrm>
            <a:off x="2646389" y="6209730"/>
            <a:ext cx="700584" cy="64827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83"/>
          <p:cNvSpPr txBox="1"/>
          <p:nvPr/>
        </p:nvSpPr>
        <p:spPr>
          <a:xfrm>
            <a:off x="163771" y="204716"/>
            <a:ext cx="11778019"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The CSS Box Model</a:t>
            </a:r>
            <a:endParaRPr b="1" i="0" sz="3600" u="none" cap="none" strike="noStrike">
              <a:solidFill>
                <a:srgbClr val="860000"/>
              </a:solidFill>
              <a:latin typeface="Marcellus"/>
              <a:ea typeface="Marcellus"/>
              <a:cs typeface="Marcellus"/>
              <a:sym typeface="Marcellus"/>
            </a:endParaRPr>
          </a:p>
        </p:txBody>
      </p:sp>
      <p:sp>
        <p:nvSpPr>
          <p:cNvPr id="914" name="Google Shape;914;p83"/>
          <p:cNvSpPr txBox="1"/>
          <p:nvPr/>
        </p:nvSpPr>
        <p:spPr>
          <a:xfrm>
            <a:off x="163772" y="979096"/>
            <a:ext cx="11764371" cy="5225185"/>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just">
              <a:lnSpc>
                <a:spcPct val="15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915" name="Google Shape;915;p83"/>
          <p:cNvPicPr preferRelativeResize="0"/>
          <p:nvPr/>
        </p:nvPicPr>
        <p:blipFill rotWithShape="1">
          <a:blip r:embed="rId3">
            <a:alphaModFix/>
          </a:blip>
          <a:srcRect b="0" l="0" r="0" t="0"/>
          <a:stretch/>
        </p:blipFill>
        <p:spPr>
          <a:xfrm>
            <a:off x="11305780" y="6242918"/>
            <a:ext cx="622363" cy="615082"/>
          </a:xfrm>
          <a:prstGeom prst="rect">
            <a:avLst/>
          </a:prstGeom>
          <a:noFill/>
          <a:ln cap="flat" cmpd="sng" w="9525">
            <a:solidFill>
              <a:srgbClr val="860000"/>
            </a:solidFill>
            <a:prstDash val="solid"/>
            <a:round/>
            <a:headEnd len="sm" w="sm" type="none"/>
            <a:tailEnd len="sm" w="sm" type="none"/>
          </a:ln>
        </p:spPr>
      </p:pic>
      <p:sp>
        <p:nvSpPr>
          <p:cNvPr id="916" name="Google Shape;916;p83"/>
          <p:cNvSpPr/>
          <p:nvPr/>
        </p:nvSpPr>
        <p:spPr>
          <a:xfrm>
            <a:off x="0" y="6553209"/>
            <a:ext cx="11305780" cy="304791"/>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7" name="Google Shape;917;p83"/>
          <p:cNvSpPr/>
          <p:nvPr/>
        </p:nvSpPr>
        <p:spPr>
          <a:xfrm>
            <a:off x="1" y="6336406"/>
            <a:ext cx="10683416" cy="216803"/>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918" name="Google Shape;918;p83"/>
          <p:cNvPicPr preferRelativeResize="0"/>
          <p:nvPr/>
        </p:nvPicPr>
        <p:blipFill rotWithShape="1">
          <a:blip r:embed="rId4">
            <a:alphaModFix/>
          </a:blip>
          <a:srcRect b="0" l="0" r="0" t="0"/>
          <a:stretch/>
        </p:blipFill>
        <p:spPr>
          <a:xfrm>
            <a:off x="304800" y="1077310"/>
            <a:ext cx="11374582" cy="5029200"/>
          </a:xfrm>
          <a:prstGeom prst="rect">
            <a:avLst/>
          </a:prstGeom>
          <a:noFill/>
          <a:ln>
            <a:noFill/>
          </a:ln>
        </p:spPr>
      </p:pic>
      <p:pic>
        <p:nvPicPr>
          <p:cNvPr id="919" name="Google Shape;919;p83"/>
          <p:cNvPicPr preferRelativeResize="0"/>
          <p:nvPr/>
        </p:nvPicPr>
        <p:blipFill rotWithShape="1">
          <a:blip r:embed="rId5">
            <a:alphaModFix/>
          </a:blip>
          <a:srcRect b="0" l="0" r="0" t="0"/>
          <a:stretch/>
        </p:blipFill>
        <p:spPr>
          <a:xfrm>
            <a:off x="5794661" y="2514600"/>
            <a:ext cx="4800600" cy="1219200"/>
          </a:xfrm>
          <a:prstGeom prst="rect">
            <a:avLst/>
          </a:prstGeom>
          <a:noFill/>
          <a:ln>
            <a:noFill/>
          </a:ln>
        </p:spPr>
      </p:pic>
      <p:pic>
        <p:nvPicPr>
          <p:cNvPr id="920" name="Google Shape;920;p83"/>
          <p:cNvPicPr preferRelativeResize="0"/>
          <p:nvPr/>
        </p:nvPicPr>
        <p:blipFill rotWithShape="1">
          <a:blip r:embed="rId6">
            <a:alphaModFix/>
          </a:blip>
          <a:srcRect b="0" l="0" r="0" t="0"/>
          <a:stretch/>
        </p:blipFill>
        <p:spPr>
          <a:xfrm>
            <a:off x="5756561" y="1587061"/>
            <a:ext cx="4953000" cy="811013"/>
          </a:xfrm>
          <a:prstGeom prst="rect">
            <a:avLst/>
          </a:prstGeom>
          <a:noFill/>
          <a:ln>
            <a:noFill/>
          </a:ln>
        </p:spPr>
      </p:pic>
      <p:pic>
        <p:nvPicPr>
          <p:cNvPr id="921" name="Google Shape;921;p83"/>
          <p:cNvPicPr preferRelativeResize="0"/>
          <p:nvPr/>
        </p:nvPicPr>
        <p:blipFill rotWithShape="1">
          <a:blip r:embed="rId7">
            <a:alphaModFix/>
          </a:blip>
          <a:srcRect b="0" l="0" r="0" t="0"/>
          <a:stretch/>
        </p:blipFill>
        <p:spPr>
          <a:xfrm>
            <a:off x="5794661" y="3733800"/>
            <a:ext cx="4876800" cy="1143000"/>
          </a:xfrm>
          <a:prstGeom prst="rect">
            <a:avLst/>
          </a:prstGeom>
          <a:noFill/>
          <a:ln>
            <a:noFill/>
          </a:ln>
        </p:spPr>
      </p:pic>
      <p:pic>
        <p:nvPicPr>
          <p:cNvPr id="922" name="Google Shape;922;p83"/>
          <p:cNvPicPr preferRelativeResize="0"/>
          <p:nvPr/>
        </p:nvPicPr>
        <p:blipFill rotWithShape="1">
          <a:blip r:embed="rId8">
            <a:alphaModFix/>
          </a:blip>
          <a:srcRect b="0" l="0" r="0" t="0"/>
          <a:stretch/>
        </p:blipFill>
        <p:spPr>
          <a:xfrm>
            <a:off x="5794661" y="4876800"/>
            <a:ext cx="4876800" cy="114300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84"/>
          <p:cNvSpPr txBox="1"/>
          <p:nvPr/>
        </p:nvSpPr>
        <p:spPr>
          <a:xfrm>
            <a:off x="68236" y="43974"/>
            <a:ext cx="11123505"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The CSS Box Model</a:t>
            </a:r>
            <a:endParaRPr b="1" i="0" sz="3600" u="none" cap="none" strike="noStrike">
              <a:solidFill>
                <a:srgbClr val="860000"/>
              </a:solidFill>
              <a:latin typeface="Marcellus"/>
              <a:ea typeface="Marcellus"/>
              <a:cs typeface="Marcellus"/>
              <a:sym typeface="Marcellus"/>
            </a:endParaRPr>
          </a:p>
        </p:txBody>
      </p:sp>
      <p:sp>
        <p:nvSpPr>
          <p:cNvPr id="928" name="Google Shape;928;p84"/>
          <p:cNvSpPr txBox="1"/>
          <p:nvPr/>
        </p:nvSpPr>
        <p:spPr>
          <a:xfrm>
            <a:off x="68236" y="811369"/>
            <a:ext cx="12012000" cy="5466600"/>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55000" lnSpcReduction="20000"/>
          </a:bodyPr>
          <a:lstStyle/>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&lt;!DOCTYPE 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div</a:t>
            </a:r>
            <a:endParaRPr b="0" i="0" sz="2800" u="none" cap="none" strike="noStrike">
              <a:solidFill>
                <a:srgbClr val="003300"/>
              </a:solidFill>
              <a:latin typeface="Times New Roman"/>
              <a:ea typeface="Times New Roman"/>
              <a:cs typeface="Times New Roman"/>
              <a:sym typeface="Times New Roman"/>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background-color: lightgrey;</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width: 300px;</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border: 25px solid green;</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padding: 25px;</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    margin: 25px;</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&lt;h2&gt;Demonstrating the Box Model&lt;/h2&gt;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&lt;p&gt;The CSS box model is essentially a box that wraps around every HTML element. It consists of: borders, padding, margins, and the actual content.&lt;/p&gt;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03300"/>
                </a:solidFill>
                <a:latin typeface="Times New Roman"/>
                <a:ea typeface="Times New Roman"/>
                <a:cs typeface="Times New Roman"/>
                <a:sym typeface="Times New Roman"/>
              </a:rPr>
              <a:t>&lt;div&gt;This text is the actual content of the box. We have added a 25px padding, 25px margin and a 25px green border.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laborum.&lt;/div&gt;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2800" u="none" cap="none" strike="noStrike">
              <a:solidFill>
                <a:srgbClr val="00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00"/>
              </a:buClr>
              <a:buSzPct val="100000"/>
              <a:buFont typeface="Times New Roman"/>
              <a:buNone/>
            </a:pPr>
            <a:r>
              <a:rPr b="0" i="0" lang="en-US" sz="2800" u="none" cap="none" strike="noStrike">
                <a:solidFill>
                  <a:srgbClr val="003300"/>
                </a:solidFill>
                <a:latin typeface="Times New Roman"/>
                <a:ea typeface="Times New Roman"/>
                <a:cs typeface="Times New Roman"/>
                <a:sym typeface="Times New Roman"/>
              </a:rPr>
              <a:t>&lt;/html&gt;</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929" name="Google Shape;929;p84"/>
          <p:cNvPicPr preferRelativeResize="0"/>
          <p:nvPr/>
        </p:nvPicPr>
        <p:blipFill rotWithShape="1">
          <a:blip r:embed="rId3">
            <a:alphaModFix/>
          </a:blip>
          <a:srcRect b="0" l="0" r="0" t="0"/>
          <a:stretch/>
        </p:blipFill>
        <p:spPr>
          <a:xfrm>
            <a:off x="11333408" y="68781"/>
            <a:ext cx="746975" cy="660699"/>
          </a:xfrm>
          <a:prstGeom prst="rect">
            <a:avLst/>
          </a:prstGeom>
          <a:noFill/>
          <a:ln cap="flat" cmpd="sng" w="9525">
            <a:solidFill>
              <a:srgbClr val="860000"/>
            </a:solidFill>
            <a:prstDash val="solid"/>
            <a:round/>
            <a:headEnd len="sm" w="sm" type="none"/>
            <a:tailEnd len="sm" w="sm" type="none"/>
          </a:ln>
        </p:spPr>
      </p:pic>
      <p:sp>
        <p:nvSpPr>
          <p:cNvPr id="930" name="Google Shape;930;p84"/>
          <p:cNvSpPr/>
          <p:nvPr/>
        </p:nvSpPr>
        <p:spPr>
          <a:xfrm>
            <a:off x="0" y="6564573"/>
            <a:ext cx="12192000" cy="293427"/>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1" name="Google Shape;931;p84"/>
          <p:cNvSpPr/>
          <p:nvPr/>
        </p:nvSpPr>
        <p:spPr>
          <a:xfrm>
            <a:off x="1" y="6359859"/>
            <a:ext cx="10276764" cy="19335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932" name="Google Shape;932;p84"/>
          <p:cNvPicPr preferRelativeResize="0"/>
          <p:nvPr/>
        </p:nvPicPr>
        <p:blipFill rotWithShape="1">
          <a:blip r:embed="rId4">
            <a:alphaModFix/>
          </a:blip>
          <a:srcRect b="0" l="0" r="0" t="0"/>
          <a:stretch/>
        </p:blipFill>
        <p:spPr>
          <a:xfrm>
            <a:off x="5433848" y="1061545"/>
            <a:ext cx="6346620" cy="2724372"/>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85"/>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a:buNone/>
            </a:pPr>
            <a:r>
              <a:rPr b="1" lang="en-US" sz="3600">
                <a:solidFill>
                  <a:srgbClr val="600000"/>
                </a:solidFill>
                <a:latin typeface="Times"/>
                <a:ea typeface="Times"/>
                <a:cs typeface="Times"/>
                <a:sym typeface="Times"/>
              </a:rPr>
              <a:t>CSS POSITIONING</a:t>
            </a:r>
            <a:endParaRPr b="1" sz="3600">
              <a:solidFill>
                <a:srgbClr val="600000"/>
              </a:solidFill>
              <a:latin typeface="Times"/>
              <a:ea typeface="Times"/>
              <a:cs typeface="Times"/>
              <a:sym typeface="Times"/>
            </a:endParaRPr>
          </a:p>
        </p:txBody>
      </p:sp>
      <p:pic>
        <p:nvPicPr>
          <p:cNvPr descr="C:\Users\GANGA\Desktop\download.jpg" id="938" name="Google Shape;938;p85"/>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939" name="Google Shape;939;p85"/>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0" name="Google Shape;940;p85"/>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1" name="Google Shape;941;p85"/>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just">
              <a:lnSpc>
                <a:spcPct val="20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a:ea typeface="Times"/>
                <a:cs typeface="Times"/>
                <a:sym typeface="Times"/>
              </a:rPr>
              <a:t>The CSS position property defines the position of an element where generally the top, right, bottom, and left properties will determine the position of the element. </a:t>
            </a:r>
            <a:endParaRPr b="0" i="0" sz="1400" u="none" cap="none" strike="noStrike">
              <a:solidFill>
                <a:srgbClr val="000000"/>
              </a:solidFill>
              <a:latin typeface="Arial"/>
              <a:ea typeface="Arial"/>
              <a:cs typeface="Arial"/>
              <a:sym typeface="Arial"/>
            </a:endParaRPr>
          </a:p>
          <a:p>
            <a:pPr indent="0" lvl="0" marL="0" marR="0" rtl="0" algn="just">
              <a:lnSpc>
                <a:spcPct val="20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a:ea typeface="Times"/>
                <a:cs typeface="Times"/>
                <a:sym typeface="Times"/>
              </a:rPr>
              <a:t>However, these properties will not work unless the position property is set first. They also work differently depending on the position value.</a:t>
            </a:r>
            <a:endParaRPr b="0" i="0" sz="1400" u="none" cap="none" strike="noStrike">
              <a:solidFill>
                <a:srgbClr val="000000"/>
              </a:solidFill>
              <a:latin typeface="Arial"/>
              <a:ea typeface="Arial"/>
              <a:cs typeface="Arial"/>
              <a:sym typeface="Arial"/>
            </a:endParaRPr>
          </a:p>
          <a:p>
            <a:pPr indent="0" lvl="0" marL="0" marR="0" rtl="0" algn="ctr">
              <a:lnSpc>
                <a:spcPct val="200000"/>
              </a:lnSpc>
              <a:spcBef>
                <a:spcPts val="0"/>
              </a:spcBef>
              <a:spcAft>
                <a:spcPts val="0"/>
              </a:spcAft>
              <a:buClr>
                <a:srgbClr val="000000"/>
              </a:buClr>
              <a:buSzPts val="4400"/>
              <a:buFont typeface="Arial"/>
              <a:buNone/>
            </a:pPr>
            <a:r>
              <a:rPr b="1" i="0" lang="en-US" sz="4400" u="none" cap="none" strike="noStrike">
                <a:solidFill>
                  <a:srgbClr val="600000"/>
                </a:solidFill>
                <a:latin typeface="Times"/>
                <a:ea typeface="Times"/>
                <a:cs typeface="Times"/>
                <a:sym typeface="Times"/>
              </a:rPr>
              <a:t>position: value;</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86"/>
          <p:cNvSpPr txBox="1"/>
          <p:nvPr/>
        </p:nvSpPr>
        <p:spPr>
          <a:xfrm>
            <a:off x="163772" y="204716"/>
            <a:ext cx="10781732"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a:ea typeface="Times"/>
                <a:cs typeface="Times"/>
                <a:sym typeface="Times"/>
              </a:rPr>
              <a:t>CSS POSITIONING</a:t>
            </a:r>
            <a:endParaRPr b="1" i="0" sz="3600" u="none" cap="none" strike="noStrike">
              <a:solidFill>
                <a:srgbClr val="860000"/>
              </a:solidFill>
              <a:latin typeface="Marcellus"/>
              <a:ea typeface="Marcellus"/>
              <a:cs typeface="Marcellus"/>
              <a:sym typeface="Marcellus"/>
            </a:endParaRPr>
          </a:p>
        </p:txBody>
      </p:sp>
      <p:sp>
        <p:nvSpPr>
          <p:cNvPr id="947" name="Google Shape;947;p86"/>
          <p:cNvSpPr txBox="1"/>
          <p:nvPr/>
        </p:nvSpPr>
        <p:spPr>
          <a:xfrm>
            <a:off x="163772" y="1017732"/>
            <a:ext cx="10781731" cy="567928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just">
              <a:lnSpc>
                <a:spcPct val="15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948" name="Google Shape;948;p86"/>
          <p:cNvSpPr/>
          <p:nvPr/>
        </p:nvSpPr>
        <p:spPr>
          <a:xfrm>
            <a:off x="11191167" y="0"/>
            <a:ext cx="259311" cy="551369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9" name="Google Shape;949;p86"/>
          <p:cNvSpPr/>
          <p:nvPr/>
        </p:nvSpPr>
        <p:spPr>
          <a:xfrm>
            <a:off x="11450472" y="0"/>
            <a:ext cx="741528" cy="5882183"/>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950" name="Google Shape;950;p86"/>
          <p:cNvPicPr preferRelativeResize="0"/>
          <p:nvPr/>
        </p:nvPicPr>
        <p:blipFill rotWithShape="1">
          <a:blip r:embed="rId3">
            <a:alphaModFix/>
          </a:blip>
          <a:srcRect b="0" l="0" r="0" t="0"/>
          <a:stretch/>
        </p:blipFill>
        <p:spPr>
          <a:xfrm>
            <a:off x="11191166" y="5915467"/>
            <a:ext cx="1000833" cy="915237"/>
          </a:xfrm>
          <a:prstGeom prst="rect">
            <a:avLst/>
          </a:prstGeom>
          <a:noFill/>
          <a:ln cap="flat" cmpd="sng" w="9525">
            <a:solidFill>
              <a:srgbClr val="860000"/>
            </a:solidFill>
            <a:prstDash val="solid"/>
            <a:round/>
            <a:headEnd len="sm" w="sm" type="none"/>
            <a:tailEnd len="sm" w="sm" type="none"/>
          </a:ln>
        </p:spPr>
      </p:pic>
      <p:pic>
        <p:nvPicPr>
          <p:cNvPr id="951" name="Google Shape;951;p86"/>
          <p:cNvPicPr preferRelativeResize="0"/>
          <p:nvPr/>
        </p:nvPicPr>
        <p:blipFill rotWithShape="1">
          <a:blip r:embed="rId4">
            <a:alphaModFix/>
          </a:blip>
          <a:srcRect b="0" l="0" r="0" t="0"/>
          <a:stretch/>
        </p:blipFill>
        <p:spPr>
          <a:xfrm>
            <a:off x="441565" y="1269223"/>
            <a:ext cx="10226143" cy="5158997"/>
          </a:xfrm>
          <a:prstGeom prst="rect">
            <a:avLst/>
          </a:prstGeom>
          <a:noFill/>
          <a:ln cap="flat" cmpd="sng" w="57150">
            <a:solidFill>
              <a:srgbClr val="071D01"/>
            </a:solidFill>
            <a:prstDash val="solid"/>
            <a:miter lim="8000"/>
            <a:headEnd len="sm" w="sm" type="none"/>
            <a:tailEnd len="sm" w="sm" type="none"/>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87"/>
          <p:cNvSpPr txBox="1"/>
          <p:nvPr/>
        </p:nvSpPr>
        <p:spPr>
          <a:xfrm>
            <a:off x="163772" y="204716"/>
            <a:ext cx="11136574"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a:ea typeface="Times"/>
                <a:cs typeface="Times"/>
                <a:sym typeface="Times"/>
              </a:rPr>
              <a:t>STATIC POSITION</a:t>
            </a:r>
            <a:endParaRPr b="1" i="0" sz="3600" u="none" cap="none" strike="noStrike">
              <a:solidFill>
                <a:srgbClr val="600000"/>
              </a:solidFill>
              <a:latin typeface="Times"/>
              <a:ea typeface="Times"/>
              <a:cs typeface="Times"/>
              <a:sym typeface="Times"/>
            </a:endParaRPr>
          </a:p>
        </p:txBody>
      </p:sp>
      <p:sp>
        <p:nvSpPr>
          <p:cNvPr id="957" name="Google Shape;957;p87"/>
          <p:cNvSpPr txBox="1"/>
          <p:nvPr/>
        </p:nvSpPr>
        <p:spPr>
          <a:xfrm>
            <a:off x="163772" y="1017733"/>
            <a:ext cx="11122927" cy="5073974"/>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lnSpcReduction="10000"/>
          </a:bodyPr>
          <a:lstStyle/>
          <a:p>
            <a:pPr indent="0" lvl="0" marL="0" marR="0" rtl="0" algn="ctr">
              <a:lnSpc>
                <a:spcPct val="200000"/>
              </a:lnSpc>
              <a:spcBef>
                <a:spcPts val="0"/>
              </a:spcBef>
              <a:spcAft>
                <a:spcPts val="0"/>
              </a:spcAft>
              <a:buClr>
                <a:srgbClr val="000000"/>
              </a:buClr>
              <a:buSzPts val="2800"/>
              <a:buFont typeface="Arial"/>
              <a:buNone/>
            </a:pPr>
            <a:r>
              <a:rPr b="1" i="0" lang="en-US" sz="2800" u="none" cap="none" strike="noStrike">
                <a:solidFill>
                  <a:srgbClr val="600000"/>
                </a:solidFill>
                <a:latin typeface="Times"/>
                <a:ea typeface="Times"/>
                <a:cs typeface="Times"/>
                <a:sym typeface="Times"/>
              </a:rPr>
              <a:t>position: static;</a:t>
            </a:r>
            <a:endParaRPr b="0" i="0" sz="1400" u="none" cap="none" strike="noStrike">
              <a:solidFill>
                <a:srgbClr val="000000"/>
              </a:solidFill>
              <a:latin typeface="Arial"/>
              <a:ea typeface="Arial"/>
              <a:cs typeface="Arial"/>
              <a:sym typeface="Arial"/>
            </a:endParaRPr>
          </a:p>
          <a:p>
            <a:pPr indent="0" lvl="0" marL="0" marR="0" rtl="0" algn="just">
              <a:lnSpc>
                <a:spcPct val="20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a:ea typeface="Times"/>
                <a:cs typeface="Times"/>
                <a:sym typeface="Times"/>
              </a:rPr>
              <a:t>HTML elements are positioned static by default.</a:t>
            </a:r>
            <a:endParaRPr b="0" i="0" sz="1400" u="none" cap="none" strike="noStrike">
              <a:solidFill>
                <a:srgbClr val="000000"/>
              </a:solidFill>
              <a:latin typeface="Arial"/>
              <a:ea typeface="Arial"/>
              <a:cs typeface="Arial"/>
              <a:sym typeface="Arial"/>
            </a:endParaRPr>
          </a:p>
          <a:p>
            <a:pPr indent="0" lvl="0" marL="0" marR="0" rtl="0" algn="just">
              <a:lnSpc>
                <a:spcPct val="20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a:ea typeface="Times"/>
                <a:cs typeface="Times"/>
                <a:sym typeface="Times"/>
              </a:rPr>
              <a:t>Static positioned elements are not affected by the top, bottom, left, and right properties.</a:t>
            </a:r>
            <a:endParaRPr b="0" i="0" sz="1400" u="none" cap="none" strike="noStrike">
              <a:solidFill>
                <a:srgbClr val="000000"/>
              </a:solidFill>
              <a:latin typeface="Arial"/>
              <a:ea typeface="Arial"/>
              <a:cs typeface="Arial"/>
              <a:sym typeface="Arial"/>
            </a:endParaRPr>
          </a:p>
          <a:p>
            <a:pPr indent="0" lvl="0" marL="0" marR="0" rtl="0" algn="just">
              <a:lnSpc>
                <a:spcPct val="20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a:ea typeface="Times"/>
                <a:cs typeface="Times"/>
                <a:sym typeface="Times"/>
              </a:rPr>
              <a:t>An element with position: static; is not positioned in any special way; it is always positioned according to the normal flow of the page.</a:t>
            </a:r>
            <a:endParaRPr b="0" i="0" sz="1400" u="none" cap="none" strike="noStrike">
              <a:solidFill>
                <a:srgbClr val="000000"/>
              </a:solidFill>
              <a:latin typeface="Arial"/>
              <a:ea typeface="Arial"/>
              <a:cs typeface="Arial"/>
              <a:sym typeface="Arial"/>
            </a:endParaRPr>
          </a:p>
        </p:txBody>
      </p:sp>
      <p:sp>
        <p:nvSpPr>
          <p:cNvPr id="958" name="Google Shape;958;p87"/>
          <p:cNvSpPr/>
          <p:nvPr/>
        </p:nvSpPr>
        <p:spPr>
          <a:xfrm>
            <a:off x="11477767" y="0"/>
            <a:ext cx="714233" cy="68580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959" name="Google Shape;959;p87"/>
          <p:cNvPicPr preferRelativeResize="0"/>
          <p:nvPr/>
        </p:nvPicPr>
        <p:blipFill rotWithShape="1">
          <a:blip r:embed="rId3">
            <a:alphaModFix/>
          </a:blip>
          <a:srcRect b="0" l="0" r="0" t="0"/>
          <a:stretch/>
        </p:blipFill>
        <p:spPr>
          <a:xfrm>
            <a:off x="163772" y="6209730"/>
            <a:ext cx="778199" cy="593679"/>
          </a:xfrm>
          <a:prstGeom prst="rect">
            <a:avLst/>
          </a:prstGeom>
          <a:noFill/>
          <a:ln cap="flat" cmpd="sng" w="9525">
            <a:solidFill>
              <a:srgbClr val="860000"/>
            </a:solidFill>
            <a:prstDash val="solid"/>
            <a:round/>
            <a:headEnd len="sm" w="sm" type="none"/>
            <a:tailEnd len="sm" w="sm" type="none"/>
          </a:ln>
        </p:spPr>
      </p:pic>
      <p:sp>
        <p:nvSpPr>
          <p:cNvPr id="960" name="Google Shape;960;p87"/>
          <p:cNvSpPr/>
          <p:nvPr/>
        </p:nvSpPr>
        <p:spPr>
          <a:xfrm>
            <a:off x="3346973" y="6209731"/>
            <a:ext cx="8144442" cy="648269"/>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61" name="Google Shape;961;p87"/>
          <p:cNvSpPr/>
          <p:nvPr/>
        </p:nvSpPr>
        <p:spPr>
          <a:xfrm>
            <a:off x="2646389" y="6209730"/>
            <a:ext cx="700584" cy="64827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88"/>
          <p:cNvSpPr txBox="1"/>
          <p:nvPr/>
        </p:nvSpPr>
        <p:spPr>
          <a:xfrm>
            <a:off x="163771" y="204716"/>
            <a:ext cx="11778019"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a:ea typeface="Times"/>
                <a:cs typeface="Times"/>
                <a:sym typeface="Times"/>
              </a:rPr>
              <a:t>STATIC POSITION</a:t>
            </a:r>
            <a:endParaRPr b="1" i="0" sz="3600" u="none" cap="none" strike="noStrike">
              <a:solidFill>
                <a:srgbClr val="600000"/>
              </a:solidFill>
              <a:latin typeface="Times"/>
              <a:ea typeface="Times"/>
              <a:cs typeface="Times"/>
              <a:sym typeface="Times"/>
            </a:endParaRPr>
          </a:p>
        </p:txBody>
      </p:sp>
      <p:sp>
        <p:nvSpPr>
          <p:cNvPr id="967" name="Google Shape;967;p88"/>
          <p:cNvSpPr txBox="1"/>
          <p:nvPr/>
        </p:nvSpPr>
        <p:spPr>
          <a:xfrm>
            <a:off x="163772" y="979096"/>
            <a:ext cx="11764371" cy="5225185"/>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70000" lnSpcReduction="20000"/>
          </a:bodyPr>
          <a:lstStyle/>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		&lt;style&gt;</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div.static </a:t>
            </a:r>
            <a:endParaRPr b="0" i="0" sz="2800" u="none" cap="none" strike="noStrike">
              <a:solidFill>
                <a:srgbClr val="071D01"/>
              </a:solidFill>
              <a:latin typeface="Times"/>
              <a:ea typeface="Times"/>
              <a:cs typeface="Times"/>
              <a:sym typeface="Times"/>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a:t>
            </a:r>
            <a:endParaRPr b="0" i="0" sz="2800" u="none" cap="none" strike="noStrike">
              <a:solidFill>
                <a:srgbClr val="071D01"/>
              </a:solidFill>
              <a:latin typeface="Times"/>
              <a:ea typeface="Times"/>
              <a:cs typeface="Times"/>
              <a:sym typeface="Times"/>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    </a:t>
            </a:r>
            <a:r>
              <a:rPr b="1" i="0" lang="en-US" sz="2800" u="none" cap="none" strike="noStrike">
                <a:solidFill>
                  <a:srgbClr val="071D01"/>
                </a:solidFill>
                <a:latin typeface="Times"/>
                <a:ea typeface="Times"/>
                <a:cs typeface="Times"/>
                <a:sym typeface="Times"/>
              </a:rPr>
              <a:t>position: static;</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    border: 3px solid #73AD21;</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		&lt;/style&gt;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2800" u="none" cap="none" strike="noStrike">
              <a:solidFill>
                <a:srgbClr val="071D01"/>
              </a:solidFill>
              <a:latin typeface="Times"/>
              <a:ea typeface="Times"/>
              <a:cs typeface="Times"/>
              <a:sym typeface="Times"/>
            </a:endParaRPr>
          </a:p>
          <a:p>
            <a:pPr indent="0" lvl="2" marL="9144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&lt;h2&gt;position: static;&lt;/h2&gt;</a:t>
            </a:r>
            <a:endParaRPr b="0" i="0" sz="1400" u="none" cap="none" strike="noStrike">
              <a:solidFill>
                <a:srgbClr val="000000"/>
              </a:solidFill>
              <a:latin typeface="Arial"/>
              <a:ea typeface="Arial"/>
              <a:cs typeface="Arial"/>
              <a:sym typeface="Arial"/>
            </a:endParaRPr>
          </a:p>
          <a:p>
            <a:pPr indent="0" lvl="2" marL="914400" marR="0" rtl="0" algn="l">
              <a:lnSpc>
                <a:spcPct val="100000"/>
              </a:lnSpc>
              <a:spcBef>
                <a:spcPts val="0"/>
              </a:spcBef>
              <a:spcAft>
                <a:spcPts val="0"/>
              </a:spcAft>
              <a:buClr>
                <a:srgbClr val="000000"/>
              </a:buClr>
              <a:buSzPct val="100000"/>
              <a:buFont typeface="Arial"/>
              <a:buNone/>
            </a:pPr>
            <a:r>
              <a:t/>
            </a:r>
            <a:endParaRPr b="0" i="0" sz="2800" u="none" cap="none" strike="noStrike">
              <a:solidFill>
                <a:srgbClr val="071D01"/>
              </a:solidFill>
              <a:latin typeface="Times"/>
              <a:ea typeface="Times"/>
              <a:cs typeface="Times"/>
              <a:sym typeface="Times"/>
            </a:endParaRPr>
          </a:p>
          <a:p>
            <a:pPr indent="0" lvl="2" marL="9144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&lt;p&gt;An element with position: static; is not positioned in any special way;&lt;/p&gt;</a:t>
            </a:r>
            <a:endParaRPr b="0" i="0" sz="1400" u="none" cap="none" strike="noStrike">
              <a:solidFill>
                <a:srgbClr val="000000"/>
              </a:solidFill>
              <a:latin typeface="Arial"/>
              <a:ea typeface="Arial"/>
              <a:cs typeface="Arial"/>
              <a:sym typeface="Arial"/>
            </a:endParaRPr>
          </a:p>
          <a:p>
            <a:pPr indent="0" lvl="2" marL="914400" marR="0" rtl="0" algn="l">
              <a:lnSpc>
                <a:spcPct val="100000"/>
              </a:lnSpc>
              <a:spcBef>
                <a:spcPts val="0"/>
              </a:spcBef>
              <a:spcAft>
                <a:spcPts val="0"/>
              </a:spcAft>
              <a:buClr>
                <a:srgbClr val="000000"/>
              </a:buClr>
              <a:buSzPct val="100000"/>
              <a:buFont typeface="Arial"/>
              <a:buNone/>
            </a:pPr>
            <a:r>
              <a:t/>
            </a:r>
            <a:endParaRPr b="0" i="0" sz="2800" u="none" cap="none" strike="noStrike">
              <a:solidFill>
                <a:srgbClr val="071D01"/>
              </a:solidFill>
              <a:latin typeface="Times"/>
              <a:ea typeface="Times"/>
              <a:cs typeface="Times"/>
              <a:sym typeface="Times"/>
            </a:endParaRPr>
          </a:p>
          <a:p>
            <a:pPr indent="0" lvl="2" marL="9144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&lt;div class="static"&gt;   This div element has position: static; &lt;/div&gt;</a:t>
            </a:r>
            <a:endParaRPr b="0" i="0" sz="1400" u="none" cap="none" strike="noStrike">
              <a:solidFill>
                <a:srgbClr val="000000"/>
              </a:solidFill>
              <a:latin typeface="Arial"/>
              <a:ea typeface="Arial"/>
              <a:cs typeface="Arial"/>
              <a:sym typeface="Arial"/>
            </a:endParaRPr>
          </a:p>
          <a:p>
            <a:pPr indent="0" lvl="2" marL="914400" marR="0" rtl="0" algn="l">
              <a:lnSpc>
                <a:spcPct val="100000"/>
              </a:lnSpc>
              <a:spcBef>
                <a:spcPts val="0"/>
              </a:spcBef>
              <a:spcAft>
                <a:spcPts val="0"/>
              </a:spcAft>
              <a:buClr>
                <a:srgbClr val="000000"/>
              </a:buClr>
              <a:buSzPct val="100000"/>
              <a:buFont typeface="Arial"/>
              <a:buNone/>
            </a:pPr>
            <a:r>
              <a:t/>
            </a:r>
            <a:endParaRPr b="0" i="0" sz="2800" u="none" cap="none" strike="noStrike">
              <a:solidFill>
                <a:srgbClr val="071D01"/>
              </a:solidFill>
              <a:latin typeface="Times"/>
              <a:ea typeface="Times"/>
              <a:cs typeface="Times"/>
              <a:sym typeface="Times"/>
            </a:endParaRPr>
          </a:p>
          <a:p>
            <a:pPr indent="0" lvl="2" marL="9144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chemeClr val="dk1"/>
                </a:solidFill>
                <a:latin typeface="Times"/>
                <a:ea typeface="Times"/>
                <a:cs typeface="Times"/>
                <a:sym typeface="Times"/>
              </a:rPr>
              <a:t>&lt;/html&gt;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968" name="Google Shape;968;p88"/>
          <p:cNvPicPr preferRelativeResize="0"/>
          <p:nvPr/>
        </p:nvPicPr>
        <p:blipFill rotWithShape="1">
          <a:blip r:embed="rId3">
            <a:alphaModFix/>
          </a:blip>
          <a:srcRect b="0" l="0" r="0" t="0"/>
          <a:stretch/>
        </p:blipFill>
        <p:spPr>
          <a:xfrm>
            <a:off x="11305780" y="6242918"/>
            <a:ext cx="622363" cy="615082"/>
          </a:xfrm>
          <a:prstGeom prst="rect">
            <a:avLst/>
          </a:prstGeom>
          <a:noFill/>
          <a:ln cap="flat" cmpd="sng" w="9525">
            <a:solidFill>
              <a:srgbClr val="860000"/>
            </a:solidFill>
            <a:prstDash val="solid"/>
            <a:round/>
            <a:headEnd len="sm" w="sm" type="none"/>
            <a:tailEnd len="sm" w="sm" type="none"/>
          </a:ln>
        </p:spPr>
      </p:pic>
      <p:sp>
        <p:nvSpPr>
          <p:cNvPr id="969" name="Google Shape;969;p88"/>
          <p:cNvSpPr/>
          <p:nvPr/>
        </p:nvSpPr>
        <p:spPr>
          <a:xfrm>
            <a:off x="0" y="6553209"/>
            <a:ext cx="11305780" cy="304791"/>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0" name="Google Shape;970;p88"/>
          <p:cNvSpPr/>
          <p:nvPr/>
        </p:nvSpPr>
        <p:spPr>
          <a:xfrm>
            <a:off x="1" y="6336406"/>
            <a:ext cx="10683416" cy="216803"/>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971" name="Google Shape;971;p88"/>
          <p:cNvPicPr preferRelativeResize="0"/>
          <p:nvPr/>
        </p:nvPicPr>
        <p:blipFill rotWithShape="1">
          <a:blip r:embed="rId4">
            <a:alphaModFix/>
          </a:blip>
          <a:srcRect b="0" l="0" r="0" t="0"/>
          <a:stretch/>
        </p:blipFill>
        <p:spPr>
          <a:xfrm>
            <a:off x="6439959" y="1932699"/>
            <a:ext cx="5124450" cy="2028825"/>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89"/>
          <p:cNvSpPr txBox="1"/>
          <p:nvPr/>
        </p:nvSpPr>
        <p:spPr>
          <a:xfrm>
            <a:off x="68236" y="43974"/>
            <a:ext cx="11123505"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chemeClr val="dk1"/>
                </a:solidFill>
                <a:latin typeface="Times"/>
                <a:ea typeface="Times"/>
                <a:cs typeface="Times"/>
                <a:sym typeface="Times"/>
              </a:rPr>
              <a:t>Relative Position</a:t>
            </a:r>
            <a:endParaRPr b="1" i="0" sz="3600" u="none" cap="none" strike="noStrike">
              <a:solidFill>
                <a:srgbClr val="860000"/>
              </a:solidFill>
              <a:latin typeface="Times"/>
              <a:ea typeface="Times"/>
              <a:cs typeface="Times"/>
              <a:sym typeface="Times"/>
            </a:endParaRPr>
          </a:p>
        </p:txBody>
      </p:sp>
      <p:sp>
        <p:nvSpPr>
          <p:cNvPr id="977" name="Google Shape;977;p89"/>
          <p:cNvSpPr txBox="1"/>
          <p:nvPr/>
        </p:nvSpPr>
        <p:spPr>
          <a:xfrm>
            <a:off x="68236" y="811369"/>
            <a:ext cx="12012147" cy="546660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250000"/>
              </a:lnSpc>
              <a:spcBef>
                <a:spcPts val="0"/>
              </a:spcBef>
              <a:spcAft>
                <a:spcPts val="0"/>
              </a:spcAft>
              <a:buClr>
                <a:srgbClr val="000000"/>
              </a:buClr>
              <a:buSzPts val="2800"/>
              <a:buFont typeface="Arial"/>
              <a:buNone/>
            </a:pPr>
            <a:r>
              <a:rPr b="1" i="0" lang="en-US" sz="2800" u="none" cap="none" strike="noStrike">
                <a:solidFill>
                  <a:srgbClr val="600000"/>
                </a:solidFill>
                <a:latin typeface="Times"/>
                <a:ea typeface="Times"/>
                <a:cs typeface="Times"/>
                <a:sym typeface="Times"/>
              </a:rPr>
              <a:t>position: relative;</a:t>
            </a:r>
            <a:endParaRPr b="0" i="0" sz="1400" u="none" cap="none" strike="noStrike">
              <a:solidFill>
                <a:srgbClr val="000000"/>
              </a:solidFill>
              <a:latin typeface="Arial"/>
              <a:ea typeface="Arial"/>
              <a:cs typeface="Arial"/>
              <a:sym typeface="Arial"/>
            </a:endParaRPr>
          </a:p>
          <a:p>
            <a:pPr indent="0" lvl="0" marL="0" marR="0" rtl="0" algn="just">
              <a:lnSpc>
                <a:spcPct val="25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a:ea typeface="Times"/>
                <a:cs typeface="Times"/>
                <a:sym typeface="Times"/>
              </a:rPr>
              <a:t>An element with </a:t>
            </a:r>
            <a:r>
              <a:rPr b="1" i="0" lang="en-US" sz="2800" u="none" cap="none" strike="noStrike">
                <a:solidFill>
                  <a:srgbClr val="071D01"/>
                </a:solidFill>
                <a:latin typeface="Times"/>
                <a:ea typeface="Times"/>
                <a:cs typeface="Times"/>
                <a:sym typeface="Times"/>
              </a:rPr>
              <a:t>position: relative;</a:t>
            </a:r>
            <a:r>
              <a:rPr b="0" i="0" lang="en-US" sz="2800" u="none" cap="none" strike="noStrike">
                <a:solidFill>
                  <a:srgbClr val="071D01"/>
                </a:solidFill>
                <a:latin typeface="Times"/>
                <a:ea typeface="Times"/>
                <a:cs typeface="Times"/>
                <a:sym typeface="Times"/>
              </a:rPr>
              <a:t> is positioned relative to its normal position.</a:t>
            </a:r>
            <a:endParaRPr b="0" i="0" sz="1400" u="none" cap="none" strike="noStrike">
              <a:solidFill>
                <a:srgbClr val="000000"/>
              </a:solidFill>
              <a:latin typeface="Arial"/>
              <a:ea typeface="Arial"/>
              <a:cs typeface="Arial"/>
              <a:sym typeface="Arial"/>
            </a:endParaRPr>
          </a:p>
          <a:p>
            <a:pPr indent="0" lvl="0" marL="0" marR="0" rtl="0" algn="just">
              <a:lnSpc>
                <a:spcPct val="25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a:ea typeface="Times"/>
                <a:cs typeface="Times"/>
                <a:sym typeface="Times"/>
              </a:rPr>
              <a:t>Setting the top, right, bottom, and left properties of a relatively-positioned element will cause it to be adjusted away from its normal position. </a:t>
            </a:r>
            <a:endParaRPr b="0" i="0" sz="2800" u="none" cap="none" strike="noStrike">
              <a:solidFill>
                <a:srgbClr val="071D01"/>
              </a:solidFill>
              <a:latin typeface="Times"/>
              <a:ea typeface="Times"/>
              <a:cs typeface="Times"/>
              <a:sym typeface="Times"/>
            </a:endParaRPr>
          </a:p>
          <a:p>
            <a:pPr indent="0" lvl="0" marL="0" marR="0" rtl="0" algn="just">
              <a:lnSpc>
                <a:spcPct val="25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a:ea typeface="Times"/>
                <a:cs typeface="Times"/>
                <a:sym typeface="Times"/>
              </a:rPr>
              <a:t>Other content will not be adjusted to fit into any gap left by the element.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978" name="Google Shape;978;p89"/>
          <p:cNvPicPr preferRelativeResize="0"/>
          <p:nvPr/>
        </p:nvPicPr>
        <p:blipFill rotWithShape="1">
          <a:blip r:embed="rId3">
            <a:alphaModFix/>
          </a:blip>
          <a:srcRect b="0" l="0" r="0" t="0"/>
          <a:stretch/>
        </p:blipFill>
        <p:spPr>
          <a:xfrm>
            <a:off x="11333408" y="68781"/>
            <a:ext cx="746975" cy="660699"/>
          </a:xfrm>
          <a:prstGeom prst="rect">
            <a:avLst/>
          </a:prstGeom>
          <a:noFill/>
          <a:ln cap="flat" cmpd="sng" w="9525">
            <a:solidFill>
              <a:srgbClr val="860000"/>
            </a:solidFill>
            <a:prstDash val="solid"/>
            <a:round/>
            <a:headEnd len="sm" w="sm" type="none"/>
            <a:tailEnd len="sm" w="sm" type="none"/>
          </a:ln>
        </p:spPr>
      </p:pic>
      <p:sp>
        <p:nvSpPr>
          <p:cNvPr id="979" name="Google Shape;979;p89"/>
          <p:cNvSpPr/>
          <p:nvPr/>
        </p:nvSpPr>
        <p:spPr>
          <a:xfrm>
            <a:off x="0" y="6564573"/>
            <a:ext cx="12192000" cy="293427"/>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80" name="Google Shape;980;p89"/>
          <p:cNvSpPr/>
          <p:nvPr/>
        </p:nvSpPr>
        <p:spPr>
          <a:xfrm>
            <a:off x="1" y="6359859"/>
            <a:ext cx="10276764" cy="19335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90"/>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a:buNone/>
            </a:pPr>
            <a:r>
              <a:rPr b="1" lang="en-US" sz="3600">
                <a:solidFill>
                  <a:srgbClr val="600000"/>
                </a:solidFill>
                <a:latin typeface="Times"/>
                <a:ea typeface="Times"/>
                <a:cs typeface="Times"/>
                <a:sym typeface="Times"/>
              </a:rPr>
              <a:t>FIXED POSITION</a:t>
            </a:r>
            <a:endParaRPr b="1" sz="3600">
              <a:solidFill>
                <a:srgbClr val="600000"/>
              </a:solidFill>
              <a:latin typeface="Times"/>
              <a:ea typeface="Times"/>
              <a:cs typeface="Times"/>
              <a:sym typeface="Times"/>
            </a:endParaRPr>
          </a:p>
        </p:txBody>
      </p:sp>
      <p:pic>
        <p:nvPicPr>
          <p:cNvPr descr="C:\Users\GANGA\Desktop\download.jpg" id="986" name="Google Shape;986;p90"/>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987" name="Google Shape;987;p90"/>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88" name="Google Shape;988;p90"/>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89" name="Google Shape;989;p90"/>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lnSpcReduction="10000"/>
          </a:bodyPr>
          <a:lstStyle/>
          <a:p>
            <a:pPr indent="0" lvl="0" marL="0" marR="0" rtl="0" algn="ctr">
              <a:lnSpc>
                <a:spcPct val="150000"/>
              </a:lnSpc>
              <a:spcBef>
                <a:spcPts val="0"/>
              </a:spcBef>
              <a:spcAft>
                <a:spcPts val="0"/>
              </a:spcAft>
              <a:buClr>
                <a:srgbClr val="000000"/>
              </a:buClr>
              <a:buSzPts val="2800"/>
              <a:buFont typeface="Arial"/>
              <a:buNone/>
            </a:pPr>
            <a:r>
              <a:rPr b="1" i="0" lang="en-US" sz="2800" u="none" cap="none" strike="noStrike">
                <a:solidFill>
                  <a:srgbClr val="600000"/>
                </a:solidFill>
                <a:latin typeface="Times"/>
                <a:ea typeface="Times"/>
                <a:cs typeface="Times"/>
                <a:sym typeface="Times"/>
              </a:rPr>
              <a:t>position: fixed;</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a:ea typeface="Times"/>
                <a:cs typeface="Times"/>
                <a:sym typeface="Times"/>
              </a:rPr>
              <a:t>An element with position: fixed; is positioned relative to the viewport, which means it always stays in the same place even if the page is scrolled. The top, right, bottom, and left properties are used to position the element.</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a:ea typeface="Times"/>
                <a:cs typeface="Times"/>
                <a:sym typeface="Times"/>
              </a:rPr>
              <a:t>A fixed element does not leave a gap in the page where it would normally have been located.</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91"/>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a:buNone/>
            </a:pPr>
            <a:r>
              <a:rPr b="1" lang="en-US" sz="3600">
                <a:solidFill>
                  <a:srgbClr val="600000"/>
                </a:solidFill>
                <a:latin typeface="Times"/>
                <a:ea typeface="Times"/>
                <a:cs typeface="Times"/>
                <a:sym typeface="Times"/>
              </a:rPr>
              <a:t>FIXED POSITION</a:t>
            </a:r>
            <a:endParaRPr b="1" sz="3600">
              <a:solidFill>
                <a:srgbClr val="860000"/>
              </a:solidFill>
              <a:latin typeface="Marcellus"/>
              <a:ea typeface="Marcellus"/>
              <a:cs typeface="Marcellus"/>
              <a:sym typeface="Marcellus"/>
            </a:endParaRPr>
          </a:p>
        </p:txBody>
      </p:sp>
      <p:pic>
        <p:nvPicPr>
          <p:cNvPr descr="C:\Users\GANGA\Desktop\download.jpg" id="995" name="Google Shape;995;p91"/>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996" name="Google Shape;996;p91"/>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97" name="Google Shape;997;p91"/>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98" name="Google Shape;998;p91"/>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70000" lnSpcReduction="20000"/>
          </a:bodyPr>
          <a:lstStyle/>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		&lt;style&gt;</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div.fixed </a:t>
            </a:r>
            <a:endParaRPr b="0" i="0" sz="2800" u="none" cap="none" strike="noStrike">
              <a:solidFill>
                <a:srgbClr val="071D01"/>
              </a:solidFill>
              <a:latin typeface="Times"/>
              <a:ea typeface="Times"/>
              <a:cs typeface="Times"/>
              <a:sym typeface="Times"/>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a:t>
            </a:r>
            <a:endParaRPr b="0" i="0" sz="2800" u="none" cap="none" strike="noStrike">
              <a:solidFill>
                <a:srgbClr val="071D01"/>
              </a:solidFill>
              <a:latin typeface="Times"/>
              <a:ea typeface="Times"/>
              <a:cs typeface="Times"/>
              <a:sym typeface="Times"/>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    position: fixed;</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    bottom: 0;</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    right: 0;</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    width: 300px;</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    border: 3px solid #73AD21;</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		&lt;/style&gt;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2800" u="none" cap="none" strike="noStrike">
              <a:solidFill>
                <a:srgbClr val="071D01"/>
              </a:solidFill>
              <a:latin typeface="Times"/>
              <a:ea typeface="Times"/>
              <a:cs typeface="Times"/>
              <a:sym typeface="Times"/>
            </a:endParaRPr>
          </a:p>
          <a:p>
            <a:pPr indent="0" lvl="1" marL="4572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&lt;h2&gt;position: fixed;&lt;/h2&gt;</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ct val="100000"/>
              <a:buFont typeface="Arial"/>
              <a:buNone/>
            </a:pPr>
            <a:r>
              <a:t/>
            </a:r>
            <a:endParaRPr b="0" i="0" sz="2800" u="none" cap="none" strike="noStrike">
              <a:solidFill>
                <a:srgbClr val="071D01"/>
              </a:solidFill>
              <a:latin typeface="Times"/>
              <a:ea typeface="Times"/>
              <a:cs typeface="Times"/>
              <a:sym typeface="Times"/>
            </a:endParaRPr>
          </a:p>
          <a:p>
            <a:pPr indent="0" lvl="1" marL="4572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&lt;p&gt;An element with position: fixed;&lt;/p&gt;</a:t>
            </a:r>
            <a:endParaRPr b="0" i="0" sz="2800" u="none" cap="none" strike="noStrike">
              <a:solidFill>
                <a:srgbClr val="071D01"/>
              </a:solidFill>
              <a:latin typeface="Times"/>
              <a:ea typeface="Times"/>
              <a:cs typeface="Times"/>
              <a:sym typeface="Times"/>
            </a:endParaRPr>
          </a:p>
          <a:p>
            <a:pPr indent="0" lvl="1" marL="4572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&lt;div class="fixed"&gt;</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This div element has position: fixed;</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&lt;/div&gt;</a:t>
            </a:r>
            <a:endParaRPr b="0" i="0" sz="2800" u="none" cap="none" strike="noStrike">
              <a:solidFill>
                <a:srgbClr val="071D01"/>
              </a:solidFill>
              <a:latin typeface="Times"/>
              <a:ea typeface="Times"/>
              <a:cs typeface="Times"/>
              <a:sym typeface="Times"/>
            </a:endParaRPr>
          </a:p>
          <a:p>
            <a:pPr indent="0" lvl="1" marL="45720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rPr b="0" i="0" lang="en-US" sz="2800" u="none" cap="none" strike="noStrike">
                <a:solidFill>
                  <a:srgbClr val="071D01"/>
                </a:solidFill>
                <a:latin typeface="Times"/>
                <a:ea typeface="Times"/>
                <a:cs typeface="Times"/>
                <a:sym typeface="Times"/>
              </a:rPr>
              <a:t>&lt;/html&gt;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id="999" name="Google Shape;999;p91"/>
          <p:cNvPicPr preferRelativeResize="0"/>
          <p:nvPr/>
        </p:nvPicPr>
        <p:blipFill rotWithShape="1">
          <a:blip r:embed="rId4">
            <a:alphaModFix/>
          </a:blip>
          <a:srcRect b="0" l="0" r="0" t="0"/>
          <a:stretch/>
        </p:blipFill>
        <p:spPr>
          <a:xfrm>
            <a:off x="7077404" y="2669146"/>
            <a:ext cx="3733800" cy="114300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92"/>
          <p:cNvSpPr txBox="1"/>
          <p:nvPr/>
        </p:nvSpPr>
        <p:spPr>
          <a:xfrm>
            <a:off x="163772" y="204716"/>
            <a:ext cx="10781732"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a:ea typeface="Times"/>
                <a:cs typeface="Times"/>
                <a:sym typeface="Times"/>
              </a:rPr>
              <a:t>ABSOLUTE POSITION</a:t>
            </a:r>
            <a:endParaRPr b="1" i="0" sz="3600" u="none" cap="none" strike="noStrike">
              <a:solidFill>
                <a:srgbClr val="600000"/>
              </a:solidFill>
              <a:latin typeface="Times"/>
              <a:ea typeface="Times"/>
              <a:cs typeface="Times"/>
              <a:sym typeface="Times"/>
            </a:endParaRPr>
          </a:p>
        </p:txBody>
      </p:sp>
      <p:sp>
        <p:nvSpPr>
          <p:cNvPr id="1005" name="Google Shape;1005;p92"/>
          <p:cNvSpPr txBox="1"/>
          <p:nvPr/>
        </p:nvSpPr>
        <p:spPr>
          <a:xfrm>
            <a:off x="163772" y="1017732"/>
            <a:ext cx="10781731" cy="567928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ctr">
              <a:lnSpc>
                <a:spcPct val="150000"/>
              </a:lnSpc>
              <a:spcBef>
                <a:spcPts val="0"/>
              </a:spcBef>
              <a:spcAft>
                <a:spcPts val="0"/>
              </a:spcAft>
              <a:buClr>
                <a:srgbClr val="000000"/>
              </a:buClr>
              <a:buSzPts val="2800"/>
              <a:buFont typeface="Arial"/>
              <a:buNone/>
            </a:pPr>
            <a:r>
              <a:rPr b="1" i="0" lang="en-US" sz="2800" u="none" cap="none" strike="noStrike">
                <a:solidFill>
                  <a:srgbClr val="071D01"/>
                </a:solidFill>
                <a:latin typeface="Times"/>
                <a:ea typeface="Times"/>
                <a:cs typeface="Times"/>
                <a:sym typeface="Times"/>
              </a:rPr>
              <a:t>position: absolute;</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a:ea typeface="Times"/>
                <a:cs typeface="Times"/>
                <a:sym typeface="Times"/>
              </a:rPr>
              <a:t>Elements with </a:t>
            </a:r>
            <a:r>
              <a:rPr b="1" i="0" lang="en-US" sz="2800" u="none" cap="none" strike="noStrike">
                <a:solidFill>
                  <a:srgbClr val="071D01"/>
                </a:solidFill>
                <a:latin typeface="Times"/>
                <a:ea typeface="Times"/>
                <a:cs typeface="Times"/>
                <a:sym typeface="Times"/>
              </a:rPr>
              <a:t>position: absolute;</a:t>
            </a:r>
            <a:r>
              <a:rPr b="0" i="0" lang="en-US" sz="2800" u="none" cap="none" strike="noStrike">
                <a:solidFill>
                  <a:srgbClr val="071D01"/>
                </a:solidFill>
                <a:latin typeface="Times"/>
                <a:ea typeface="Times"/>
                <a:cs typeface="Times"/>
                <a:sym typeface="Times"/>
              </a:rPr>
              <a:t> are positioned relative to their parent elements.</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a:ea typeface="Times"/>
                <a:cs typeface="Times"/>
                <a:sym typeface="Times"/>
              </a:rPr>
              <a:t>That means that the parent element has to have a position value other than </a:t>
            </a:r>
            <a:r>
              <a:rPr b="1" i="0" lang="en-US" sz="2800" u="none" cap="none" strike="noStrike">
                <a:solidFill>
                  <a:srgbClr val="071D01"/>
                </a:solidFill>
                <a:latin typeface="Times"/>
                <a:ea typeface="Times"/>
                <a:cs typeface="Times"/>
                <a:sym typeface="Times"/>
              </a:rPr>
              <a:t>position: static.</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a:ea typeface="Times"/>
                <a:cs typeface="Times"/>
                <a:sym typeface="Times"/>
              </a:rPr>
              <a:t>However; if an absolute positioned element has no positioned ancestors, it uses the document body, and moves along with page scrolling.</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006" name="Google Shape;1006;p92"/>
          <p:cNvSpPr/>
          <p:nvPr/>
        </p:nvSpPr>
        <p:spPr>
          <a:xfrm>
            <a:off x="11191167" y="0"/>
            <a:ext cx="259311" cy="551369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07" name="Google Shape;1007;p92"/>
          <p:cNvSpPr/>
          <p:nvPr/>
        </p:nvSpPr>
        <p:spPr>
          <a:xfrm>
            <a:off x="11450472" y="0"/>
            <a:ext cx="741528" cy="5882183"/>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1008" name="Google Shape;1008;p92"/>
          <p:cNvPicPr preferRelativeResize="0"/>
          <p:nvPr/>
        </p:nvPicPr>
        <p:blipFill rotWithShape="1">
          <a:blip r:embed="rId3">
            <a:alphaModFix/>
          </a:blip>
          <a:srcRect b="0" l="0" r="0" t="0"/>
          <a:stretch/>
        </p:blipFill>
        <p:spPr>
          <a:xfrm>
            <a:off x="11191166" y="5915467"/>
            <a:ext cx="1000833" cy="915237"/>
          </a:xfrm>
          <a:prstGeom prst="rect">
            <a:avLst/>
          </a:prstGeom>
          <a:noFill/>
          <a:ln cap="flat" cmpd="sng" w="9525">
            <a:solidFill>
              <a:srgbClr val="860000"/>
            </a:solidFill>
            <a:prstDash val="solid"/>
            <a:round/>
            <a:headEnd len="sm" w="sm" type="none"/>
            <a:tailEnd len="sm" w="sm" type="none"/>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93"/>
          <p:cNvSpPr txBox="1"/>
          <p:nvPr/>
        </p:nvSpPr>
        <p:spPr>
          <a:xfrm>
            <a:off x="163772" y="204716"/>
            <a:ext cx="11136574"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a:ea typeface="Times"/>
                <a:cs typeface="Times"/>
                <a:sym typeface="Times"/>
              </a:rPr>
              <a:t>ABSOLUTE POSITION</a:t>
            </a:r>
            <a:endParaRPr b="1" i="0" sz="3600" u="none" cap="none" strike="noStrike">
              <a:solidFill>
                <a:srgbClr val="600000"/>
              </a:solidFill>
              <a:latin typeface="Times"/>
              <a:ea typeface="Times"/>
              <a:cs typeface="Times"/>
              <a:sym typeface="Times"/>
            </a:endParaRPr>
          </a:p>
        </p:txBody>
      </p:sp>
      <p:sp>
        <p:nvSpPr>
          <p:cNvPr id="1014" name="Google Shape;1014;p93"/>
          <p:cNvSpPr txBox="1"/>
          <p:nvPr/>
        </p:nvSpPr>
        <p:spPr>
          <a:xfrm>
            <a:off x="163772" y="1017733"/>
            <a:ext cx="11122927" cy="5073974"/>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71D01"/>
                </a:solidFill>
                <a:latin typeface="Times New Roman"/>
                <a:ea typeface="Times New Roman"/>
                <a:cs typeface="Times New Roman"/>
                <a:sym typeface="Times New Roman"/>
              </a:rPr>
              <a:t>&lt;html&gt;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71D01"/>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71D01"/>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71D01"/>
                </a:solidFill>
                <a:latin typeface="Times New Roman"/>
                <a:ea typeface="Times New Roman"/>
                <a:cs typeface="Times New Roman"/>
                <a:sym typeface="Times New Roman"/>
              </a:rPr>
              <a:t>div.relative {    position: relative;    width: 400px;    height: 200px;    border: 3px solid #73AD21;} </a:t>
            </a:r>
            <a:endParaRPr b="1" i="0" sz="1600" u="none" cap="none" strike="noStrike">
              <a:solidFill>
                <a:srgbClr val="071D0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71D01"/>
                </a:solidFill>
                <a:latin typeface="Times New Roman"/>
                <a:ea typeface="Times New Roman"/>
                <a:cs typeface="Times New Roman"/>
                <a:sym typeface="Times New Roman"/>
              </a:rPr>
              <a:t>div.absolute {    position: absolute;    top: 80px;    right: 0;    width: 200px;    height: 100px;    border: 3px solid #73AD21;}</a:t>
            </a:r>
            <a:endParaRPr b="1" i="0" sz="1600" u="none" cap="none" strike="noStrike">
              <a:solidFill>
                <a:srgbClr val="071D0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71D01"/>
                </a:solidFill>
                <a:latin typeface="Times New Roman"/>
                <a:ea typeface="Times New Roman"/>
                <a:cs typeface="Times New Roman"/>
                <a:sym typeface="Times New Roman"/>
              </a:rPr>
              <a:t>		&lt;/style&gt;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71D01"/>
                </a:solidFill>
                <a:latin typeface="Times New Roman"/>
                <a:ea typeface="Times New Roman"/>
                <a:cs typeface="Times New Roman"/>
                <a:sym typeface="Times New Roman"/>
              </a:rPr>
              <a:t>	&lt;/head&gt;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71D01"/>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71D01"/>
                </a:solidFill>
                <a:latin typeface="Times New Roman"/>
                <a:ea typeface="Times New Roman"/>
                <a:cs typeface="Times New Roman"/>
                <a:sym typeface="Times New Roman"/>
              </a:rPr>
              <a:t>	&lt;h2&gt;position: absolute;&lt;/h2&gt;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71D01"/>
                </a:solidFill>
                <a:latin typeface="Times New Roman"/>
                <a:ea typeface="Times New Roman"/>
                <a:cs typeface="Times New Roman"/>
                <a:sym typeface="Times New Roman"/>
              </a:rPr>
              <a:t>	&lt;p&gt;An element with position: absolute; is positioned relative to the nearest positioned ancestor.&lt;/p&gt;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71D01"/>
                </a:solidFill>
                <a:latin typeface="Times New Roman"/>
                <a:ea typeface="Times New Roman"/>
                <a:cs typeface="Times New Roman"/>
                <a:sym typeface="Times New Roman"/>
              </a:rPr>
              <a:t>	&lt;div class="relative"&gt;This div element has position: relative;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71D01"/>
                </a:solidFill>
                <a:latin typeface="Times New Roman"/>
                <a:ea typeface="Times New Roman"/>
                <a:cs typeface="Times New Roman"/>
                <a:sym typeface="Times New Roman"/>
              </a:rPr>
              <a:t> 	 &lt;div class="absolute"&gt;This div element has position: absolute;&lt;/div&gt;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71D01"/>
                </a:solidFill>
                <a:latin typeface="Times New Roman"/>
                <a:ea typeface="Times New Roman"/>
                <a:cs typeface="Times New Roman"/>
                <a:sym typeface="Times New Roman"/>
              </a:rPr>
              <a:t>	&lt;/div&gt;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71D01"/>
                </a:solidFill>
                <a:latin typeface="Times New Roman"/>
                <a:ea typeface="Times New Roman"/>
                <a:cs typeface="Times New Roman"/>
                <a:sym typeface="Times New Roman"/>
              </a:rPr>
              <a:t>	&lt;/body&gt;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71D01"/>
                </a:solidFill>
                <a:latin typeface="Times New Roman"/>
                <a:ea typeface="Times New Roman"/>
                <a:cs typeface="Times New Roman"/>
                <a:sym typeface="Times New Roman"/>
              </a:rPr>
              <a:t>&lt;/html&gt;</a:t>
            </a:r>
            <a:endParaRPr b="0" i="0" sz="2000" u="none" cap="none" strike="noStrike">
              <a:solidFill>
                <a:srgbClr val="071D01"/>
              </a:solidFill>
              <a:latin typeface="Times New Roman"/>
              <a:ea typeface="Times New Roman"/>
              <a:cs typeface="Times New Roman"/>
              <a:sym typeface="Times New Roman"/>
            </a:endParaRPr>
          </a:p>
        </p:txBody>
      </p:sp>
      <p:sp>
        <p:nvSpPr>
          <p:cNvPr id="1015" name="Google Shape;1015;p93"/>
          <p:cNvSpPr/>
          <p:nvPr/>
        </p:nvSpPr>
        <p:spPr>
          <a:xfrm>
            <a:off x="11477767" y="0"/>
            <a:ext cx="714233" cy="68580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1016" name="Google Shape;1016;p93"/>
          <p:cNvPicPr preferRelativeResize="0"/>
          <p:nvPr/>
        </p:nvPicPr>
        <p:blipFill rotWithShape="1">
          <a:blip r:embed="rId3">
            <a:alphaModFix/>
          </a:blip>
          <a:srcRect b="0" l="0" r="0" t="0"/>
          <a:stretch/>
        </p:blipFill>
        <p:spPr>
          <a:xfrm>
            <a:off x="163772" y="6209730"/>
            <a:ext cx="778199" cy="593679"/>
          </a:xfrm>
          <a:prstGeom prst="rect">
            <a:avLst/>
          </a:prstGeom>
          <a:noFill/>
          <a:ln cap="flat" cmpd="sng" w="9525">
            <a:solidFill>
              <a:srgbClr val="860000"/>
            </a:solidFill>
            <a:prstDash val="solid"/>
            <a:round/>
            <a:headEnd len="sm" w="sm" type="none"/>
            <a:tailEnd len="sm" w="sm" type="none"/>
          </a:ln>
        </p:spPr>
      </p:pic>
      <p:sp>
        <p:nvSpPr>
          <p:cNvPr id="1017" name="Google Shape;1017;p93"/>
          <p:cNvSpPr/>
          <p:nvPr/>
        </p:nvSpPr>
        <p:spPr>
          <a:xfrm>
            <a:off x="3346973" y="6209731"/>
            <a:ext cx="8144442" cy="648269"/>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18" name="Google Shape;1018;p93"/>
          <p:cNvSpPr/>
          <p:nvPr/>
        </p:nvSpPr>
        <p:spPr>
          <a:xfrm>
            <a:off x="2646389" y="6209730"/>
            <a:ext cx="700584" cy="64827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019" name="Google Shape;1019;p93"/>
          <p:cNvPicPr preferRelativeResize="0"/>
          <p:nvPr/>
        </p:nvPicPr>
        <p:blipFill rotWithShape="1">
          <a:blip r:embed="rId4">
            <a:alphaModFix/>
          </a:blip>
          <a:srcRect b="0" l="0" r="0" t="0"/>
          <a:stretch/>
        </p:blipFill>
        <p:spPr>
          <a:xfrm>
            <a:off x="8700661" y="4198958"/>
            <a:ext cx="4604024" cy="2444617"/>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94"/>
          <p:cNvSpPr txBox="1"/>
          <p:nvPr/>
        </p:nvSpPr>
        <p:spPr>
          <a:xfrm>
            <a:off x="163771" y="204716"/>
            <a:ext cx="11778019"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CSS Layout - Float and Clear</a:t>
            </a:r>
            <a:endParaRPr b="1" i="0" sz="3600" u="none" cap="none" strike="noStrike">
              <a:solidFill>
                <a:srgbClr val="600000"/>
              </a:solidFill>
              <a:latin typeface="Times New Roman"/>
              <a:ea typeface="Times New Roman"/>
              <a:cs typeface="Times New Roman"/>
              <a:sym typeface="Times New Roman"/>
            </a:endParaRPr>
          </a:p>
        </p:txBody>
      </p:sp>
      <p:sp>
        <p:nvSpPr>
          <p:cNvPr id="1025" name="Google Shape;1025;p94"/>
          <p:cNvSpPr txBox="1"/>
          <p:nvPr/>
        </p:nvSpPr>
        <p:spPr>
          <a:xfrm>
            <a:off x="163772" y="979096"/>
            <a:ext cx="11764371" cy="5225185"/>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457200" lvl="0" marL="457200" marR="0" rtl="0" algn="just">
              <a:lnSpc>
                <a:spcPct val="30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New Roman"/>
                <a:ea typeface="Times New Roman"/>
                <a:cs typeface="Times New Roman"/>
                <a:sym typeface="Times New Roman"/>
              </a:rPr>
              <a:t>The float property specifies whether or not an element should float.</a:t>
            </a:r>
            <a:endParaRPr b="0" i="0" sz="1400" u="none" cap="none" strike="noStrike">
              <a:solidFill>
                <a:srgbClr val="000000"/>
              </a:solidFill>
              <a:latin typeface="Arial"/>
              <a:ea typeface="Arial"/>
              <a:cs typeface="Arial"/>
              <a:sym typeface="Arial"/>
            </a:endParaRPr>
          </a:p>
          <a:p>
            <a:pPr indent="-457200" lvl="0" marL="457200" marR="0" rtl="0" algn="just">
              <a:lnSpc>
                <a:spcPct val="30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New Roman"/>
                <a:ea typeface="Times New Roman"/>
                <a:cs typeface="Times New Roman"/>
                <a:sym typeface="Times New Roman"/>
              </a:rPr>
              <a:t>The clear property is used to control the behavior of floating elements.</a:t>
            </a:r>
            <a:endParaRPr b="0" i="0" sz="1400" u="none" cap="none" strike="noStrike">
              <a:solidFill>
                <a:srgbClr val="000000"/>
              </a:solidFill>
              <a:latin typeface="Arial"/>
              <a:ea typeface="Arial"/>
              <a:cs typeface="Arial"/>
              <a:sym typeface="Arial"/>
            </a:endParaRPr>
          </a:p>
          <a:p>
            <a:pPr indent="-457200" lvl="0" marL="457200" marR="0" rtl="0" algn="just">
              <a:lnSpc>
                <a:spcPct val="30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New Roman"/>
                <a:ea typeface="Times New Roman"/>
                <a:cs typeface="Times New Roman"/>
                <a:sym typeface="Times New Roman"/>
              </a:rPr>
              <a:t>The float property can be used to wrap text around images.</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1026" name="Google Shape;1026;p94"/>
          <p:cNvPicPr preferRelativeResize="0"/>
          <p:nvPr/>
        </p:nvPicPr>
        <p:blipFill rotWithShape="1">
          <a:blip r:embed="rId3">
            <a:alphaModFix/>
          </a:blip>
          <a:srcRect b="0" l="0" r="0" t="0"/>
          <a:stretch/>
        </p:blipFill>
        <p:spPr>
          <a:xfrm>
            <a:off x="11305780" y="6242918"/>
            <a:ext cx="622363" cy="615082"/>
          </a:xfrm>
          <a:prstGeom prst="rect">
            <a:avLst/>
          </a:prstGeom>
          <a:noFill/>
          <a:ln cap="flat" cmpd="sng" w="9525">
            <a:solidFill>
              <a:srgbClr val="860000"/>
            </a:solidFill>
            <a:prstDash val="solid"/>
            <a:round/>
            <a:headEnd len="sm" w="sm" type="none"/>
            <a:tailEnd len="sm" w="sm" type="none"/>
          </a:ln>
        </p:spPr>
      </p:pic>
      <p:sp>
        <p:nvSpPr>
          <p:cNvPr id="1027" name="Google Shape;1027;p94"/>
          <p:cNvSpPr/>
          <p:nvPr/>
        </p:nvSpPr>
        <p:spPr>
          <a:xfrm>
            <a:off x="0" y="6553209"/>
            <a:ext cx="11305780" cy="304791"/>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28" name="Google Shape;1028;p94"/>
          <p:cNvSpPr/>
          <p:nvPr/>
        </p:nvSpPr>
        <p:spPr>
          <a:xfrm>
            <a:off x="1" y="6336406"/>
            <a:ext cx="10683416" cy="216803"/>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95"/>
          <p:cNvSpPr txBox="1"/>
          <p:nvPr/>
        </p:nvSpPr>
        <p:spPr>
          <a:xfrm>
            <a:off x="68236" y="43974"/>
            <a:ext cx="11123505"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CSS Layout - Float and Clear</a:t>
            </a:r>
            <a:endParaRPr b="1" i="0" sz="3600" u="none" cap="none" strike="noStrike">
              <a:solidFill>
                <a:srgbClr val="600000"/>
              </a:solidFill>
              <a:latin typeface="Times New Roman"/>
              <a:ea typeface="Times New Roman"/>
              <a:cs typeface="Times New Roman"/>
              <a:sym typeface="Times New Roman"/>
            </a:endParaRPr>
          </a:p>
        </p:txBody>
      </p:sp>
      <p:sp>
        <p:nvSpPr>
          <p:cNvPr id="1034" name="Google Shape;1034;p95"/>
          <p:cNvSpPr txBox="1"/>
          <p:nvPr/>
        </p:nvSpPr>
        <p:spPr>
          <a:xfrm>
            <a:off x="68236" y="811369"/>
            <a:ext cx="12012147" cy="546660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just">
              <a:lnSpc>
                <a:spcPct val="15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1035" name="Google Shape;1035;p95"/>
          <p:cNvPicPr preferRelativeResize="0"/>
          <p:nvPr/>
        </p:nvPicPr>
        <p:blipFill rotWithShape="1">
          <a:blip r:embed="rId3">
            <a:alphaModFix/>
          </a:blip>
          <a:srcRect b="0" l="0" r="0" t="0"/>
          <a:stretch/>
        </p:blipFill>
        <p:spPr>
          <a:xfrm>
            <a:off x="11333408" y="68781"/>
            <a:ext cx="746975" cy="660699"/>
          </a:xfrm>
          <a:prstGeom prst="rect">
            <a:avLst/>
          </a:prstGeom>
          <a:noFill/>
          <a:ln cap="flat" cmpd="sng" w="9525">
            <a:solidFill>
              <a:srgbClr val="860000"/>
            </a:solidFill>
            <a:prstDash val="solid"/>
            <a:round/>
            <a:headEnd len="sm" w="sm" type="none"/>
            <a:tailEnd len="sm" w="sm" type="none"/>
          </a:ln>
        </p:spPr>
      </p:pic>
      <p:sp>
        <p:nvSpPr>
          <p:cNvPr id="1036" name="Google Shape;1036;p95"/>
          <p:cNvSpPr/>
          <p:nvPr/>
        </p:nvSpPr>
        <p:spPr>
          <a:xfrm>
            <a:off x="0" y="6564573"/>
            <a:ext cx="12192000" cy="293427"/>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37" name="Google Shape;1037;p95"/>
          <p:cNvSpPr/>
          <p:nvPr/>
        </p:nvSpPr>
        <p:spPr>
          <a:xfrm>
            <a:off x="1" y="6359859"/>
            <a:ext cx="10276764" cy="19335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038" name="Google Shape;1038;p95"/>
          <p:cNvPicPr preferRelativeResize="0"/>
          <p:nvPr/>
        </p:nvPicPr>
        <p:blipFill rotWithShape="1">
          <a:blip r:embed="rId4">
            <a:alphaModFix/>
          </a:blip>
          <a:srcRect b="0" l="0" r="0" t="0"/>
          <a:stretch/>
        </p:blipFill>
        <p:spPr>
          <a:xfrm>
            <a:off x="1723698" y="1735137"/>
            <a:ext cx="9468044" cy="3772283"/>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96"/>
          <p:cNvSpPr txBox="1"/>
          <p:nvPr>
            <p:ph type="title"/>
          </p:nvPr>
        </p:nvSpPr>
        <p:spPr>
          <a:xfrm>
            <a:off x="818866" y="204716"/>
            <a:ext cx="11133650"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600000"/>
              </a:buClr>
              <a:buSzPts val="3600"/>
              <a:buFont typeface="Times New Roman"/>
              <a:buNone/>
            </a:pPr>
            <a:r>
              <a:rPr b="1" lang="en-US" sz="3600">
                <a:solidFill>
                  <a:srgbClr val="600000"/>
                </a:solidFill>
                <a:latin typeface="Times New Roman"/>
                <a:ea typeface="Times New Roman"/>
                <a:cs typeface="Times New Roman"/>
                <a:sym typeface="Times New Roman"/>
              </a:rPr>
              <a:t>CSS Layout - Float and Clear</a:t>
            </a:r>
            <a:endParaRPr b="1" sz="3600">
              <a:solidFill>
                <a:srgbClr val="860000"/>
              </a:solidFill>
              <a:latin typeface="Marcellus"/>
              <a:ea typeface="Marcellus"/>
              <a:cs typeface="Marcellus"/>
              <a:sym typeface="Marcellus"/>
            </a:endParaRPr>
          </a:p>
        </p:txBody>
      </p:sp>
      <p:pic>
        <p:nvPicPr>
          <p:cNvPr descr="C:\Users\GANGA\Desktop\download.jpg" id="1044" name="Google Shape;1044;p96"/>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1045" name="Google Shape;1045;p96"/>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46" name="Google Shape;1046;p96"/>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47" name="Google Shape;1047;p96"/>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457200" lvl="0" marL="457200" marR="0" rtl="0" algn="just">
              <a:lnSpc>
                <a:spcPct val="25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New Roman"/>
                <a:ea typeface="Times New Roman"/>
                <a:cs typeface="Times New Roman"/>
                <a:sym typeface="Times New Roman"/>
              </a:rPr>
              <a:t>The clear property is used to control the behavior of floating elements.</a:t>
            </a:r>
            <a:endParaRPr b="0" i="0" sz="1400" u="none" cap="none" strike="noStrike">
              <a:solidFill>
                <a:srgbClr val="000000"/>
              </a:solidFill>
              <a:latin typeface="Arial"/>
              <a:ea typeface="Arial"/>
              <a:cs typeface="Arial"/>
              <a:sym typeface="Arial"/>
            </a:endParaRPr>
          </a:p>
          <a:p>
            <a:pPr indent="-457200" lvl="0" marL="457200" marR="0" rtl="0" algn="just">
              <a:lnSpc>
                <a:spcPct val="25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New Roman"/>
                <a:ea typeface="Times New Roman"/>
                <a:cs typeface="Times New Roman"/>
                <a:sym typeface="Times New Roman"/>
              </a:rPr>
              <a:t>Elements after a floating element will flow around it. To avoid this, use the clear property.</a:t>
            </a:r>
            <a:endParaRPr b="0" i="0" sz="1400" u="none" cap="none" strike="noStrike">
              <a:solidFill>
                <a:srgbClr val="000000"/>
              </a:solidFill>
              <a:latin typeface="Arial"/>
              <a:ea typeface="Arial"/>
              <a:cs typeface="Arial"/>
              <a:sym typeface="Arial"/>
            </a:endParaRPr>
          </a:p>
          <a:p>
            <a:pPr indent="-457200" lvl="0" marL="457200" marR="0" rtl="0" algn="just">
              <a:lnSpc>
                <a:spcPct val="25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New Roman"/>
                <a:ea typeface="Times New Roman"/>
                <a:cs typeface="Times New Roman"/>
                <a:sym typeface="Times New Roman"/>
              </a:rPr>
              <a:t>The clear property specifies on which sides of an element floating elements are not allowed to float.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97"/>
          <p:cNvSpPr txBox="1"/>
          <p:nvPr>
            <p:ph type="title"/>
          </p:nvPr>
        </p:nvSpPr>
        <p:spPr>
          <a:xfrm>
            <a:off x="818866" y="204716"/>
            <a:ext cx="11133600" cy="660600"/>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860000"/>
              </a:buClr>
              <a:buSzPts val="3600"/>
              <a:buFont typeface="Times New Roman"/>
              <a:buNone/>
            </a:pPr>
            <a:r>
              <a:rPr b="1" lang="en-US" sz="3600">
                <a:solidFill>
                  <a:srgbClr val="860000"/>
                </a:solidFill>
                <a:latin typeface="Times New Roman"/>
                <a:ea typeface="Times New Roman"/>
                <a:cs typeface="Times New Roman"/>
                <a:sym typeface="Times New Roman"/>
              </a:rPr>
              <a:t>CSS Grid Layout</a:t>
            </a:r>
            <a:endParaRPr b="1" sz="3600">
              <a:solidFill>
                <a:srgbClr val="860000"/>
              </a:solidFill>
              <a:latin typeface="Times New Roman"/>
              <a:ea typeface="Times New Roman"/>
              <a:cs typeface="Times New Roman"/>
              <a:sym typeface="Times New Roman"/>
            </a:endParaRPr>
          </a:p>
        </p:txBody>
      </p:sp>
      <p:pic>
        <p:nvPicPr>
          <p:cNvPr descr="C:\Users\GANGA\Desktop\download.jpg" id="1053" name="Google Shape;1053;p97"/>
          <p:cNvPicPr preferRelativeResize="0"/>
          <p:nvPr/>
        </p:nvPicPr>
        <p:blipFill rotWithShape="1">
          <a:blip r:embed="rId3">
            <a:alphaModFix/>
          </a:blip>
          <a:srcRect b="0" l="0" r="0" t="0"/>
          <a:stretch/>
        </p:blipFill>
        <p:spPr>
          <a:xfrm>
            <a:off x="0" y="6194738"/>
            <a:ext cx="586853" cy="663262"/>
          </a:xfrm>
          <a:prstGeom prst="rect">
            <a:avLst/>
          </a:prstGeom>
          <a:noFill/>
          <a:ln cap="flat" cmpd="sng" w="9525">
            <a:solidFill>
              <a:srgbClr val="860000"/>
            </a:solidFill>
            <a:prstDash val="solid"/>
            <a:round/>
            <a:headEnd len="sm" w="sm" type="none"/>
            <a:tailEnd len="sm" w="sm" type="none"/>
          </a:ln>
        </p:spPr>
      </p:pic>
      <p:sp>
        <p:nvSpPr>
          <p:cNvPr id="1054" name="Google Shape;1054;p97"/>
          <p:cNvSpPr/>
          <p:nvPr/>
        </p:nvSpPr>
        <p:spPr>
          <a:xfrm>
            <a:off x="0" y="0"/>
            <a:ext cx="587829" cy="6194738"/>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55" name="Google Shape;1055;p97"/>
          <p:cNvSpPr/>
          <p:nvPr/>
        </p:nvSpPr>
        <p:spPr>
          <a:xfrm>
            <a:off x="586853" y="0"/>
            <a:ext cx="183266" cy="542108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56" name="Google Shape;1056;p97"/>
          <p:cNvSpPr txBox="1"/>
          <p:nvPr/>
        </p:nvSpPr>
        <p:spPr>
          <a:xfrm>
            <a:off x="818866" y="914400"/>
            <a:ext cx="11136573" cy="5795493"/>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457200" lvl="0" marL="457200" marR="0" rtl="0" algn="just">
              <a:lnSpc>
                <a:spcPct val="20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New Roman"/>
                <a:ea typeface="Times New Roman"/>
                <a:cs typeface="Times New Roman"/>
                <a:sym typeface="Times New Roman"/>
              </a:rPr>
              <a:t>The CSS Grid Layout Module offers a grid-based layout system, with rows and columns, making it easier to design web pages without having to use floats and positioning.</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860000"/>
              </a:buClr>
              <a:buSzPts val="2800"/>
              <a:buFont typeface="Noto Sans Symbols"/>
              <a:buChar char="⮚"/>
            </a:pPr>
            <a:r>
              <a:rPr b="1" i="0" lang="en-US" sz="2800" u="none" cap="none" strike="noStrike">
                <a:solidFill>
                  <a:srgbClr val="860000"/>
                </a:solidFill>
                <a:latin typeface="Times New Roman"/>
                <a:ea typeface="Times New Roman"/>
                <a:cs typeface="Times New Roman"/>
                <a:sym typeface="Times New Roman"/>
              </a:rPr>
              <a:t>Display property is set to grid or inline-grid.</a:t>
            </a:r>
            <a:endParaRPr b="0" i="0" sz="1400" u="none" cap="none" strike="noStrike">
              <a:solidFill>
                <a:srgbClr val="000000"/>
              </a:solidFill>
              <a:latin typeface="Arial"/>
              <a:ea typeface="Arial"/>
              <a:cs typeface="Arial"/>
              <a:sym typeface="Arial"/>
            </a:endParaRPr>
          </a:p>
          <a:p>
            <a:pPr indent="-457200" lvl="0" marL="457200" marR="0" rtl="0" algn="just">
              <a:lnSpc>
                <a:spcPct val="200000"/>
              </a:lnSpc>
              <a:spcBef>
                <a:spcPts val="0"/>
              </a:spcBef>
              <a:spcAft>
                <a:spcPts val="0"/>
              </a:spcAft>
              <a:buClr>
                <a:srgbClr val="071D01"/>
              </a:buClr>
              <a:buSzPts val="2800"/>
              <a:buFont typeface="Noto Sans Symbols"/>
              <a:buChar char="⮚"/>
            </a:pPr>
            <a:r>
              <a:rPr b="0" i="0" lang="en-US" sz="2800" u="none" cap="none" strike="noStrike">
                <a:solidFill>
                  <a:srgbClr val="071D01"/>
                </a:solidFill>
                <a:latin typeface="Times New Roman"/>
                <a:ea typeface="Times New Roman"/>
                <a:cs typeface="Times New Roman"/>
                <a:sym typeface="Times New Roman"/>
              </a:rPr>
              <a:t>The </a:t>
            </a:r>
            <a:r>
              <a:rPr b="1" i="0" lang="en-US" sz="2800" u="none" cap="none" strike="noStrike">
                <a:solidFill>
                  <a:srgbClr val="860000"/>
                </a:solidFill>
                <a:latin typeface="Times New Roman"/>
                <a:ea typeface="Times New Roman"/>
                <a:cs typeface="Times New Roman"/>
                <a:sym typeface="Times New Roman"/>
              </a:rPr>
              <a:t>gap property </a:t>
            </a:r>
            <a:r>
              <a:rPr b="0" i="0" lang="en-US" sz="2800" u="none" cap="none" strike="noStrike">
                <a:solidFill>
                  <a:srgbClr val="071D01"/>
                </a:solidFill>
                <a:latin typeface="Times New Roman"/>
                <a:ea typeface="Times New Roman"/>
                <a:cs typeface="Times New Roman"/>
                <a:sym typeface="Times New Roman"/>
              </a:rPr>
              <a:t>is a shorthand property for the </a:t>
            </a:r>
            <a:r>
              <a:rPr b="1" i="0" lang="en-US" sz="2800" u="none" cap="none" strike="noStrike">
                <a:solidFill>
                  <a:srgbClr val="860000"/>
                </a:solidFill>
                <a:latin typeface="Times New Roman"/>
                <a:ea typeface="Times New Roman"/>
                <a:cs typeface="Times New Roman"/>
                <a:sym typeface="Times New Roman"/>
              </a:rPr>
              <a:t>row-gap and the column-gap</a:t>
            </a:r>
            <a:r>
              <a:rPr b="0" i="0" lang="en-US" sz="2800" u="none" cap="none" strike="noStrike">
                <a:solidFill>
                  <a:srgbClr val="071D01"/>
                </a:solidFill>
                <a:latin typeface="Times New Roman"/>
                <a:ea typeface="Times New Roman"/>
                <a:cs typeface="Times New Roman"/>
                <a:sym typeface="Times New Roman"/>
              </a:rPr>
              <a:t> properties.</a:t>
            </a:r>
            <a:endParaRPr b="0" i="0" sz="2800" u="none" cap="none" strike="noStrike">
              <a:solidFill>
                <a:srgbClr val="071D01"/>
              </a:solidFill>
              <a:latin typeface="Times New Roman"/>
              <a:ea typeface="Times New Roman"/>
              <a:cs typeface="Times New Roman"/>
              <a:sym typeface="Times New Roman"/>
            </a:endParaRPr>
          </a:p>
          <a:p>
            <a:pPr indent="-228600" lvl="0" marL="228600" marR="0" rtl="0" algn="just">
              <a:lnSpc>
                <a:spcPct val="150000"/>
              </a:lnSpc>
              <a:spcBef>
                <a:spcPts val="100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98"/>
          <p:cNvSpPr txBox="1"/>
          <p:nvPr/>
        </p:nvSpPr>
        <p:spPr>
          <a:xfrm>
            <a:off x="163772" y="204716"/>
            <a:ext cx="10781732"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860000"/>
                </a:solidFill>
                <a:latin typeface="Times New Roman"/>
                <a:ea typeface="Times New Roman"/>
                <a:cs typeface="Times New Roman"/>
                <a:sym typeface="Times New Roman"/>
              </a:rPr>
              <a:t>CSS Grid Layout</a:t>
            </a:r>
            <a:endParaRPr b="1" i="0" sz="3600" u="none" cap="none" strike="noStrike">
              <a:solidFill>
                <a:srgbClr val="860000"/>
              </a:solidFill>
              <a:latin typeface="Marcellus"/>
              <a:ea typeface="Marcellus"/>
              <a:cs typeface="Marcellus"/>
              <a:sym typeface="Marcellus"/>
            </a:endParaRPr>
          </a:p>
        </p:txBody>
      </p:sp>
      <p:sp>
        <p:nvSpPr>
          <p:cNvPr id="1062" name="Google Shape;1062;p98"/>
          <p:cNvSpPr txBox="1"/>
          <p:nvPr/>
        </p:nvSpPr>
        <p:spPr>
          <a:xfrm>
            <a:off x="163772" y="1017732"/>
            <a:ext cx="10781731" cy="5679281"/>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just">
              <a:lnSpc>
                <a:spcPct val="15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063" name="Google Shape;1063;p98"/>
          <p:cNvSpPr/>
          <p:nvPr/>
        </p:nvSpPr>
        <p:spPr>
          <a:xfrm>
            <a:off x="11191167" y="0"/>
            <a:ext cx="259311" cy="5513696"/>
          </a:xfrm>
          <a:prstGeom prst="rect">
            <a:avLst/>
          </a:prstGeom>
          <a:solidFill>
            <a:srgbClr val="8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4" name="Google Shape;1064;p98"/>
          <p:cNvSpPr/>
          <p:nvPr/>
        </p:nvSpPr>
        <p:spPr>
          <a:xfrm>
            <a:off x="11450472" y="0"/>
            <a:ext cx="741528" cy="5882183"/>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1065" name="Google Shape;1065;p98"/>
          <p:cNvPicPr preferRelativeResize="0"/>
          <p:nvPr/>
        </p:nvPicPr>
        <p:blipFill rotWithShape="1">
          <a:blip r:embed="rId3">
            <a:alphaModFix/>
          </a:blip>
          <a:srcRect b="0" l="0" r="0" t="0"/>
          <a:stretch/>
        </p:blipFill>
        <p:spPr>
          <a:xfrm>
            <a:off x="11191166" y="5915467"/>
            <a:ext cx="1000833" cy="915237"/>
          </a:xfrm>
          <a:prstGeom prst="rect">
            <a:avLst/>
          </a:prstGeom>
          <a:noFill/>
          <a:ln cap="flat" cmpd="sng" w="9525">
            <a:solidFill>
              <a:srgbClr val="860000"/>
            </a:solidFill>
            <a:prstDash val="solid"/>
            <a:round/>
            <a:headEnd len="sm" w="sm" type="none"/>
            <a:tailEnd len="sm" w="sm" type="none"/>
          </a:ln>
        </p:spPr>
      </p:pic>
      <p:pic>
        <p:nvPicPr>
          <p:cNvPr id="1066" name="Google Shape;1066;p98"/>
          <p:cNvPicPr preferRelativeResize="0"/>
          <p:nvPr/>
        </p:nvPicPr>
        <p:blipFill rotWithShape="1">
          <a:blip r:embed="rId4">
            <a:alphaModFix/>
          </a:blip>
          <a:srcRect b="0" l="0" r="0" t="0"/>
          <a:stretch/>
        </p:blipFill>
        <p:spPr>
          <a:xfrm>
            <a:off x="312738" y="1017732"/>
            <a:ext cx="10482262" cy="2752725"/>
          </a:xfrm>
          <a:prstGeom prst="rect">
            <a:avLst/>
          </a:prstGeom>
          <a:noFill/>
          <a:ln>
            <a:noFill/>
          </a:ln>
        </p:spPr>
      </p:pic>
      <p:pic>
        <p:nvPicPr>
          <p:cNvPr id="1067" name="Google Shape;1067;p98"/>
          <p:cNvPicPr preferRelativeResize="0"/>
          <p:nvPr/>
        </p:nvPicPr>
        <p:blipFill rotWithShape="1">
          <a:blip r:embed="rId5">
            <a:alphaModFix/>
          </a:blip>
          <a:srcRect b="0" l="0" r="0" t="0"/>
          <a:stretch/>
        </p:blipFill>
        <p:spPr>
          <a:xfrm>
            <a:off x="2362200" y="3770457"/>
            <a:ext cx="5016500" cy="2629991"/>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99"/>
          <p:cNvSpPr txBox="1"/>
          <p:nvPr/>
        </p:nvSpPr>
        <p:spPr>
          <a:xfrm>
            <a:off x="163772" y="204716"/>
            <a:ext cx="11136574"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860000"/>
                </a:solidFill>
                <a:latin typeface="Times New Roman"/>
                <a:ea typeface="Times New Roman"/>
                <a:cs typeface="Times New Roman"/>
                <a:sym typeface="Times New Roman"/>
              </a:rPr>
              <a:t>CSS Grid Layout</a:t>
            </a:r>
            <a:endParaRPr b="1" i="0" sz="3600" u="none" cap="none" strike="noStrike">
              <a:solidFill>
                <a:srgbClr val="860000"/>
              </a:solidFill>
              <a:latin typeface="Marcellus"/>
              <a:ea typeface="Marcellus"/>
              <a:cs typeface="Marcellus"/>
              <a:sym typeface="Marcellus"/>
            </a:endParaRPr>
          </a:p>
        </p:txBody>
      </p:sp>
      <p:sp>
        <p:nvSpPr>
          <p:cNvPr id="1073" name="Google Shape;1073;p99"/>
          <p:cNvSpPr txBox="1"/>
          <p:nvPr/>
        </p:nvSpPr>
        <p:spPr>
          <a:xfrm>
            <a:off x="214572" y="1017733"/>
            <a:ext cx="11122927" cy="5073974"/>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228600" lvl="0" marL="228600" marR="0" rtl="0" algn="just">
              <a:lnSpc>
                <a:spcPct val="15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1074" name="Google Shape;1074;p99"/>
          <p:cNvSpPr/>
          <p:nvPr/>
        </p:nvSpPr>
        <p:spPr>
          <a:xfrm>
            <a:off x="11477767" y="0"/>
            <a:ext cx="714233" cy="68580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Users\GANGA\Desktop\download.jpg" id="1075" name="Google Shape;1075;p99"/>
          <p:cNvPicPr preferRelativeResize="0"/>
          <p:nvPr/>
        </p:nvPicPr>
        <p:blipFill rotWithShape="1">
          <a:blip r:embed="rId3">
            <a:alphaModFix/>
          </a:blip>
          <a:srcRect b="0" l="0" r="0" t="0"/>
          <a:stretch/>
        </p:blipFill>
        <p:spPr>
          <a:xfrm>
            <a:off x="163772" y="6209730"/>
            <a:ext cx="778199" cy="593679"/>
          </a:xfrm>
          <a:prstGeom prst="rect">
            <a:avLst/>
          </a:prstGeom>
          <a:noFill/>
          <a:ln cap="flat" cmpd="sng" w="9525">
            <a:solidFill>
              <a:srgbClr val="860000"/>
            </a:solidFill>
            <a:prstDash val="solid"/>
            <a:round/>
            <a:headEnd len="sm" w="sm" type="none"/>
            <a:tailEnd len="sm" w="sm" type="none"/>
          </a:ln>
        </p:spPr>
      </p:pic>
      <p:sp>
        <p:nvSpPr>
          <p:cNvPr id="1076" name="Google Shape;1076;p99"/>
          <p:cNvSpPr/>
          <p:nvPr/>
        </p:nvSpPr>
        <p:spPr>
          <a:xfrm>
            <a:off x="3478801" y="6244006"/>
            <a:ext cx="8144400" cy="648300"/>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7" name="Google Shape;1077;p99"/>
          <p:cNvSpPr/>
          <p:nvPr/>
        </p:nvSpPr>
        <p:spPr>
          <a:xfrm>
            <a:off x="2646389" y="6209730"/>
            <a:ext cx="700584" cy="64827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8" name="Google Shape;1078;p99"/>
          <p:cNvSpPr/>
          <p:nvPr/>
        </p:nvSpPr>
        <p:spPr>
          <a:xfrm>
            <a:off x="804425" y="1096275"/>
            <a:ext cx="4267200" cy="4533900"/>
          </a:xfrm>
          <a:prstGeom prst="rect">
            <a:avLst/>
          </a:prstGeom>
          <a:noFill/>
          <a:ln cap="flat" cmpd="sng" w="38100">
            <a:solidFill>
              <a:srgbClr val="071D0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200000"/>
              </a:lnSpc>
              <a:spcBef>
                <a:spcPts val="0"/>
              </a:spcBef>
              <a:spcAft>
                <a:spcPts val="0"/>
              </a:spcAft>
              <a:buClr>
                <a:srgbClr val="000000"/>
              </a:buClr>
              <a:buSzPts val="1800"/>
              <a:buFont typeface="Arial"/>
              <a:buNone/>
            </a:pPr>
            <a:r>
              <a:rPr b="1" i="0" lang="en-US" sz="1800" u="none" cap="none" strike="noStrike">
                <a:solidFill>
                  <a:srgbClr val="071D01"/>
                </a:solidFill>
                <a:latin typeface="Times New Roman"/>
                <a:ea typeface="Times New Roman"/>
                <a:cs typeface="Times New Roman"/>
                <a:sym typeface="Times New Roman"/>
              </a:rPr>
              <a:t>.grid-container </a:t>
            </a:r>
            <a:endParaRPr b="1" i="0" sz="1800" u="none" cap="none" strike="noStrike">
              <a:solidFill>
                <a:srgbClr val="071D01"/>
              </a:solidFill>
              <a:latin typeface="Times New Roman"/>
              <a:ea typeface="Times New Roman"/>
              <a:cs typeface="Times New Roman"/>
              <a:sym typeface="Times New Roman"/>
            </a:endParaRPr>
          </a:p>
          <a:p>
            <a:pPr indent="0" lvl="0" marL="0" marR="0" rtl="0" algn="l">
              <a:lnSpc>
                <a:spcPct val="200000"/>
              </a:lnSpc>
              <a:spcBef>
                <a:spcPts val="0"/>
              </a:spcBef>
              <a:spcAft>
                <a:spcPts val="0"/>
              </a:spcAft>
              <a:buClr>
                <a:srgbClr val="000000"/>
              </a:buClr>
              <a:buSzPts val="1800"/>
              <a:buFont typeface="Arial"/>
              <a:buNone/>
            </a:pPr>
            <a:r>
              <a:rPr b="1" i="0" lang="en-US" sz="1800" u="none" cap="none" strike="noStrike">
                <a:solidFill>
                  <a:srgbClr val="071D01"/>
                </a:solidFill>
                <a:latin typeface="Times New Roman"/>
                <a:ea typeface="Times New Roman"/>
                <a:cs typeface="Times New Roman"/>
                <a:sym typeface="Times New Roman"/>
              </a:rPr>
              <a:t>{</a:t>
            </a:r>
            <a:endParaRPr b="1" i="0" sz="1800" u="none" cap="none" strike="noStrike">
              <a:solidFill>
                <a:srgbClr val="071D01"/>
              </a:solidFill>
              <a:latin typeface="Times New Roman"/>
              <a:ea typeface="Times New Roman"/>
              <a:cs typeface="Times New Roman"/>
              <a:sym typeface="Times New Roman"/>
            </a:endParaRPr>
          </a:p>
          <a:p>
            <a:pPr indent="0" lvl="0" marL="0" marR="0" rtl="0" algn="l">
              <a:lnSpc>
                <a:spcPct val="200000"/>
              </a:lnSpc>
              <a:spcBef>
                <a:spcPts val="0"/>
              </a:spcBef>
              <a:spcAft>
                <a:spcPts val="0"/>
              </a:spcAft>
              <a:buClr>
                <a:srgbClr val="000000"/>
              </a:buClr>
              <a:buSzPts val="1800"/>
              <a:buFont typeface="Arial"/>
              <a:buNone/>
            </a:pPr>
            <a:r>
              <a:rPr b="1" i="0" lang="en-US" sz="1800" u="none" cap="none" strike="noStrike">
                <a:solidFill>
                  <a:srgbClr val="071D01"/>
                </a:solidFill>
                <a:latin typeface="Times New Roman"/>
                <a:ea typeface="Times New Roman"/>
                <a:cs typeface="Times New Roman"/>
                <a:sym typeface="Times New Roman"/>
              </a:rPr>
              <a:t>  display: inline-grid;</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1" i="0" lang="en-US" sz="1800" u="none" cap="none" strike="noStrike">
                <a:solidFill>
                  <a:srgbClr val="071D01"/>
                </a:solidFill>
                <a:latin typeface="Times New Roman"/>
                <a:ea typeface="Times New Roman"/>
                <a:cs typeface="Times New Roman"/>
                <a:sym typeface="Times New Roman"/>
              </a:rPr>
              <a:t>  grid-template-columns: auto auto auto;</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1" i="0" lang="en-US" sz="1800" u="none" cap="none" strike="noStrike">
                <a:solidFill>
                  <a:srgbClr val="071D01"/>
                </a:solidFill>
                <a:latin typeface="Times New Roman"/>
                <a:ea typeface="Times New Roman"/>
                <a:cs typeface="Times New Roman"/>
                <a:sym typeface="Times New Roman"/>
              </a:rPr>
              <a:t>  background-color: #2196F3;</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1" i="0" lang="en-US" sz="1800" u="none" cap="none" strike="noStrike">
                <a:solidFill>
                  <a:srgbClr val="071D01"/>
                </a:solidFill>
                <a:latin typeface="Times New Roman"/>
                <a:ea typeface="Times New Roman"/>
                <a:cs typeface="Times New Roman"/>
                <a:sym typeface="Times New Roman"/>
              </a:rPr>
              <a:t>  padding: 10px;</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1" i="0" lang="en-US" sz="1800" u="none" cap="none" strike="noStrike">
                <a:solidFill>
                  <a:srgbClr val="071D0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1079" name="Google Shape;1079;p99"/>
          <p:cNvSpPr/>
          <p:nvPr/>
        </p:nvSpPr>
        <p:spPr>
          <a:xfrm>
            <a:off x="6172200" y="1181100"/>
            <a:ext cx="4267200" cy="4533900"/>
          </a:xfrm>
          <a:prstGeom prst="rect">
            <a:avLst/>
          </a:prstGeom>
          <a:noFill/>
          <a:ln cap="flat" cmpd="sng" w="38100">
            <a:solidFill>
              <a:srgbClr val="071D0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lnSpc>
                <a:spcPct val="200000"/>
              </a:lnSpc>
              <a:spcBef>
                <a:spcPts val="0"/>
              </a:spcBef>
              <a:spcAft>
                <a:spcPts val="0"/>
              </a:spcAft>
              <a:buClr>
                <a:srgbClr val="000000"/>
              </a:buClr>
              <a:buSzPts val="1800"/>
              <a:buFont typeface="Arial"/>
              <a:buNone/>
            </a:pPr>
            <a:r>
              <a:rPr b="1" i="0" lang="en-US" sz="1800" u="none" cap="none" strike="noStrike">
                <a:solidFill>
                  <a:srgbClr val="071D01"/>
                </a:solidFill>
                <a:latin typeface="Times New Roman"/>
                <a:ea typeface="Times New Roman"/>
                <a:cs typeface="Times New Roman"/>
                <a:sym typeface="Times New Roman"/>
              </a:rPr>
              <a:t>.grid-item </a:t>
            </a:r>
            <a:endParaRPr b="1" i="0" sz="1800" u="none" cap="none" strike="noStrike">
              <a:solidFill>
                <a:srgbClr val="071D01"/>
              </a:solidFill>
              <a:latin typeface="Times New Roman"/>
              <a:ea typeface="Times New Roman"/>
              <a:cs typeface="Times New Roman"/>
              <a:sym typeface="Times New Roman"/>
            </a:endParaRPr>
          </a:p>
          <a:p>
            <a:pPr indent="0" lvl="0" marL="0" marR="0" rtl="0" algn="l">
              <a:lnSpc>
                <a:spcPct val="200000"/>
              </a:lnSpc>
              <a:spcBef>
                <a:spcPts val="0"/>
              </a:spcBef>
              <a:spcAft>
                <a:spcPts val="0"/>
              </a:spcAft>
              <a:buClr>
                <a:srgbClr val="000000"/>
              </a:buClr>
              <a:buSzPts val="1800"/>
              <a:buFont typeface="Arial"/>
              <a:buNone/>
            </a:pPr>
            <a:r>
              <a:rPr b="1" i="0" lang="en-US" sz="1800" u="none" cap="none" strike="noStrike">
                <a:solidFill>
                  <a:srgbClr val="071D01"/>
                </a:solidFill>
                <a:latin typeface="Times New Roman"/>
                <a:ea typeface="Times New Roman"/>
                <a:cs typeface="Times New Roman"/>
                <a:sym typeface="Times New Roman"/>
              </a:rPr>
              <a:t>{</a:t>
            </a:r>
            <a:endParaRPr b="1" i="0" sz="1800" u="none" cap="none" strike="noStrike">
              <a:solidFill>
                <a:srgbClr val="071D01"/>
              </a:solidFill>
              <a:latin typeface="Times New Roman"/>
              <a:ea typeface="Times New Roman"/>
              <a:cs typeface="Times New Roman"/>
              <a:sym typeface="Times New Roman"/>
            </a:endParaRPr>
          </a:p>
          <a:p>
            <a:pPr indent="0" lvl="0" marL="0" marR="0" rtl="0" algn="l">
              <a:lnSpc>
                <a:spcPct val="200000"/>
              </a:lnSpc>
              <a:spcBef>
                <a:spcPts val="0"/>
              </a:spcBef>
              <a:spcAft>
                <a:spcPts val="0"/>
              </a:spcAft>
              <a:buClr>
                <a:srgbClr val="000000"/>
              </a:buClr>
              <a:buSzPts val="1800"/>
              <a:buFont typeface="Arial"/>
              <a:buNone/>
            </a:pPr>
            <a:r>
              <a:rPr b="1" i="0" lang="en-US" sz="1800" u="none" cap="none" strike="noStrike">
                <a:solidFill>
                  <a:srgbClr val="071D01"/>
                </a:solidFill>
                <a:latin typeface="Times New Roman"/>
                <a:ea typeface="Times New Roman"/>
                <a:cs typeface="Times New Roman"/>
                <a:sym typeface="Times New Roman"/>
              </a:rPr>
              <a:t>  background-color: rgb(255, 255, 255);</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1" i="0" lang="en-US" sz="1800" u="none" cap="none" strike="noStrike">
                <a:solidFill>
                  <a:srgbClr val="071D01"/>
                </a:solidFill>
                <a:latin typeface="Times New Roman"/>
                <a:ea typeface="Times New Roman"/>
                <a:cs typeface="Times New Roman"/>
                <a:sym typeface="Times New Roman"/>
              </a:rPr>
              <a:t>  border: 1px solid rgb(0, 0, 0);</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1" i="0" lang="en-US" sz="1800" u="none" cap="none" strike="noStrike">
                <a:solidFill>
                  <a:srgbClr val="071D01"/>
                </a:solidFill>
                <a:latin typeface="Times New Roman"/>
                <a:ea typeface="Times New Roman"/>
                <a:cs typeface="Times New Roman"/>
                <a:sym typeface="Times New Roman"/>
              </a:rPr>
              <a:t>  padding: 20px;</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1" i="0" lang="en-US" sz="1800" u="none" cap="none" strike="noStrike">
                <a:solidFill>
                  <a:srgbClr val="071D01"/>
                </a:solidFill>
                <a:latin typeface="Times New Roman"/>
                <a:ea typeface="Times New Roman"/>
                <a:cs typeface="Times New Roman"/>
                <a:sym typeface="Times New Roman"/>
              </a:rPr>
              <a:t>  font-size: 30px;</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1" i="0" lang="en-US" sz="1800" u="none" cap="none" strike="noStrike">
                <a:solidFill>
                  <a:srgbClr val="071D01"/>
                </a:solidFill>
                <a:latin typeface="Times New Roman"/>
                <a:ea typeface="Times New Roman"/>
                <a:cs typeface="Times New Roman"/>
                <a:sym typeface="Times New Roman"/>
              </a:rPr>
              <a:t>  text-align: center;</a:t>
            </a:r>
            <a:endParaRPr b="0" i="0" sz="1400" u="none" cap="none" strike="noStrike">
              <a:solidFill>
                <a:srgbClr val="000000"/>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1800"/>
              <a:buFont typeface="Arial"/>
              <a:buNone/>
            </a:pPr>
            <a:r>
              <a:rPr b="1" i="0" lang="en-US" sz="1800" u="none" cap="none" strike="noStrike">
                <a:solidFill>
                  <a:srgbClr val="071D0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100"/>
          <p:cNvSpPr txBox="1"/>
          <p:nvPr/>
        </p:nvSpPr>
        <p:spPr>
          <a:xfrm>
            <a:off x="163771" y="204716"/>
            <a:ext cx="11778019"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860000"/>
                </a:solidFill>
                <a:latin typeface="Times New Roman"/>
                <a:ea typeface="Times New Roman"/>
                <a:cs typeface="Times New Roman"/>
                <a:sym typeface="Times New Roman"/>
              </a:rPr>
              <a:t>CSS Grid Layout</a:t>
            </a:r>
            <a:endParaRPr b="1" i="0" sz="3600" u="none" cap="none" strike="noStrike">
              <a:solidFill>
                <a:srgbClr val="860000"/>
              </a:solidFill>
              <a:latin typeface="Marcellus"/>
              <a:ea typeface="Marcellus"/>
              <a:cs typeface="Marcellus"/>
              <a:sym typeface="Marcellus"/>
            </a:endParaRPr>
          </a:p>
        </p:txBody>
      </p:sp>
      <p:sp>
        <p:nvSpPr>
          <p:cNvPr id="1085" name="Google Shape;1085;p100"/>
          <p:cNvSpPr txBox="1"/>
          <p:nvPr/>
        </p:nvSpPr>
        <p:spPr>
          <a:xfrm>
            <a:off x="163772" y="1131496"/>
            <a:ext cx="11764500" cy="5225100"/>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fontScale="55000" lnSpcReduction="20000"/>
          </a:bodyPr>
          <a:lstStyle/>
          <a:p>
            <a:pPr indent="-228600" lvl="0" marL="228600" marR="0" rtl="0" algn="just">
              <a:lnSpc>
                <a:spcPct val="150000"/>
              </a:lnSpc>
              <a:spcBef>
                <a:spcPts val="0"/>
              </a:spcBef>
              <a:spcAft>
                <a:spcPts val="0"/>
              </a:spcAft>
              <a:buClr>
                <a:srgbClr val="000000"/>
              </a:buClr>
              <a:buSzPct val="100000"/>
              <a:buFont typeface="Arial"/>
              <a:buNone/>
            </a:pPr>
            <a:r>
              <a:rPr b="1" i="0" lang="en-US" sz="2800" u="none" cap="none" strike="noStrike">
                <a:solidFill>
                  <a:srgbClr val="071D01"/>
                </a:solidFill>
                <a:latin typeface="Times New Roman"/>
                <a:ea typeface="Times New Roman"/>
                <a:cs typeface="Times New Roman"/>
                <a:sym typeface="Times New Roman"/>
              </a:rPr>
              <a:t>&lt;div class="grid-container"&gt;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rPr b="1" i="0" lang="en-US" sz="2800" u="none" cap="none" strike="noStrike">
                <a:solidFill>
                  <a:srgbClr val="071D01"/>
                </a:solidFill>
                <a:latin typeface="Times New Roman"/>
                <a:ea typeface="Times New Roman"/>
                <a:cs typeface="Times New Roman"/>
                <a:sym typeface="Times New Roman"/>
              </a:rPr>
              <a:t>  &lt;div class="grid-item"&gt;1&lt;/div&gt;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rPr b="1" i="0" lang="en-US" sz="2800" u="none" cap="none" strike="noStrike">
                <a:solidFill>
                  <a:srgbClr val="071D01"/>
                </a:solidFill>
                <a:latin typeface="Times New Roman"/>
                <a:ea typeface="Times New Roman"/>
                <a:cs typeface="Times New Roman"/>
                <a:sym typeface="Times New Roman"/>
              </a:rPr>
              <a:t>  &lt;div class="grid-item"&gt;2&lt;/div&gt;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rPr b="1" i="0" lang="en-US" sz="2800" u="none" cap="none" strike="noStrike">
                <a:solidFill>
                  <a:srgbClr val="071D01"/>
                </a:solidFill>
                <a:latin typeface="Times New Roman"/>
                <a:ea typeface="Times New Roman"/>
                <a:cs typeface="Times New Roman"/>
                <a:sym typeface="Times New Roman"/>
              </a:rPr>
              <a:t>  &lt;div class="grid-item"&gt;3&lt;/div&gt;  </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rPr b="1" i="0" lang="en-US" sz="2800" u="none" cap="none" strike="noStrike">
                <a:solidFill>
                  <a:srgbClr val="071D01"/>
                </a:solidFill>
                <a:latin typeface="Times New Roman"/>
                <a:ea typeface="Times New Roman"/>
                <a:cs typeface="Times New Roman"/>
                <a:sym typeface="Times New Roman"/>
              </a:rPr>
              <a:t>  &lt;div class="grid-item"&gt;4&lt;/div&gt;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rPr b="1" i="0" lang="en-US" sz="2800" u="none" cap="none" strike="noStrike">
                <a:solidFill>
                  <a:srgbClr val="071D01"/>
                </a:solidFill>
                <a:latin typeface="Times New Roman"/>
                <a:ea typeface="Times New Roman"/>
                <a:cs typeface="Times New Roman"/>
                <a:sym typeface="Times New Roman"/>
              </a:rPr>
              <a:t>  &lt;div class="grid-item"&gt;5&lt;/div&gt;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rPr b="1" i="0" lang="en-US" sz="2800" u="none" cap="none" strike="noStrike">
                <a:solidFill>
                  <a:srgbClr val="071D01"/>
                </a:solidFill>
                <a:latin typeface="Times New Roman"/>
                <a:ea typeface="Times New Roman"/>
                <a:cs typeface="Times New Roman"/>
                <a:sym typeface="Times New Roman"/>
              </a:rPr>
              <a:t>  &lt;div class="grid-item"&gt;6&lt;/div&gt;  </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rPr b="1" i="0" lang="en-US" sz="2800" u="none" cap="none" strike="noStrike">
                <a:solidFill>
                  <a:srgbClr val="071D01"/>
                </a:solidFill>
                <a:latin typeface="Times New Roman"/>
                <a:ea typeface="Times New Roman"/>
                <a:cs typeface="Times New Roman"/>
                <a:sym typeface="Times New Roman"/>
              </a:rPr>
              <a:t>  &lt;div class="grid-item"&gt;7&lt;/div&gt;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rPr b="1" i="0" lang="en-US" sz="2800" u="none" cap="none" strike="noStrike">
                <a:solidFill>
                  <a:srgbClr val="071D01"/>
                </a:solidFill>
                <a:latin typeface="Times New Roman"/>
                <a:ea typeface="Times New Roman"/>
                <a:cs typeface="Times New Roman"/>
                <a:sym typeface="Times New Roman"/>
              </a:rPr>
              <a:t>  &lt;div class="grid-item"&gt;8&lt;/div&gt;</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rPr b="1" i="0" lang="en-US" sz="2800" u="none" cap="none" strike="noStrike">
                <a:solidFill>
                  <a:srgbClr val="071D01"/>
                </a:solidFill>
                <a:latin typeface="Times New Roman"/>
                <a:ea typeface="Times New Roman"/>
                <a:cs typeface="Times New Roman"/>
                <a:sym typeface="Times New Roman"/>
              </a:rPr>
              <a:t>  &lt;div class="grid-item"&gt;9&lt;/div&gt;  </a:t>
            </a:r>
            <a:endParaRPr b="0" i="0" sz="1400" u="none" cap="none" strike="noStrike">
              <a:solidFill>
                <a:srgbClr val="000000"/>
              </a:solidFill>
              <a:latin typeface="Arial"/>
              <a:ea typeface="Arial"/>
              <a:cs typeface="Arial"/>
              <a:sym typeface="Arial"/>
            </a:endParaRPr>
          </a:p>
          <a:p>
            <a:pPr indent="-228600" lvl="0" marL="228600" marR="0" rtl="0" algn="just">
              <a:lnSpc>
                <a:spcPct val="150000"/>
              </a:lnSpc>
              <a:spcBef>
                <a:spcPts val="1000"/>
              </a:spcBef>
              <a:spcAft>
                <a:spcPts val="0"/>
              </a:spcAft>
              <a:buClr>
                <a:srgbClr val="000000"/>
              </a:buClr>
              <a:buSzPct val="100000"/>
              <a:buFont typeface="Arial"/>
              <a:buNone/>
            </a:pPr>
            <a:r>
              <a:rPr b="1" i="0" lang="en-US" sz="2800" u="none" cap="none" strike="noStrike">
                <a:solidFill>
                  <a:srgbClr val="071D01"/>
                </a:solidFill>
                <a:latin typeface="Times New Roman"/>
                <a:ea typeface="Times New Roman"/>
                <a:cs typeface="Times New Roman"/>
                <a:sym typeface="Times New Roman"/>
              </a:rPr>
              <a:t>&lt;/div&gt;</a:t>
            </a:r>
            <a:endParaRPr b="1" i="0" sz="2800" u="none" cap="none" strike="noStrike">
              <a:solidFill>
                <a:srgbClr val="071D01"/>
              </a:solidFill>
              <a:latin typeface="Times New Roman"/>
              <a:ea typeface="Times New Roman"/>
              <a:cs typeface="Times New Roman"/>
              <a:sym typeface="Times New Roman"/>
            </a:endParaRPr>
          </a:p>
        </p:txBody>
      </p:sp>
      <p:pic>
        <p:nvPicPr>
          <p:cNvPr descr="C:\Users\GANGA\Desktop\download.jpg" id="1086" name="Google Shape;1086;p100"/>
          <p:cNvPicPr preferRelativeResize="0"/>
          <p:nvPr/>
        </p:nvPicPr>
        <p:blipFill rotWithShape="1">
          <a:blip r:embed="rId3">
            <a:alphaModFix/>
          </a:blip>
          <a:srcRect b="0" l="0" r="0" t="0"/>
          <a:stretch/>
        </p:blipFill>
        <p:spPr>
          <a:xfrm>
            <a:off x="11305780" y="6242918"/>
            <a:ext cx="622363" cy="615082"/>
          </a:xfrm>
          <a:prstGeom prst="rect">
            <a:avLst/>
          </a:prstGeom>
          <a:noFill/>
          <a:ln cap="flat" cmpd="sng" w="9525">
            <a:solidFill>
              <a:srgbClr val="860000"/>
            </a:solidFill>
            <a:prstDash val="solid"/>
            <a:round/>
            <a:headEnd len="sm" w="sm" type="none"/>
            <a:tailEnd len="sm" w="sm" type="none"/>
          </a:ln>
        </p:spPr>
      </p:pic>
      <p:sp>
        <p:nvSpPr>
          <p:cNvPr id="1087" name="Google Shape;1087;p100"/>
          <p:cNvSpPr/>
          <p:nvPr/>
        </p:nvSpPr>
        <p:spPr>
          <a:xfrm>
            <a:off x="0" y="6553209"/>
            <a:ext cx="11305780" cy="304791"/>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88" name="Google Shape;1088;p100"/>
          <p:cNvSpPr/>
          <p:nvPr/>
        </p:nvSpPr>
        <p:spPr>
          <a:xfrm>
            <a:off x="1" y="6336406"/>
            <a:ext cx="10683416" cy="216803"/>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089" name="Google Shape;1089;p100"/>
          <p:cNvPicPr preferRelativeResize="0"/>
          <p:nvPr/>
        </p:nvPicPr>
        <p:blipFill rotWithShape="1">
          <a:blip r:embed="rId4">
            <a:alphaModFix/>
          </a:blip>
          <a:srcRect b="0" l="0" r="0" t="0"/>
          <a:stretch/>
        </p:blipFill>
        <p:spPr>
          <a:xfrm>
            <a:off x="4814690" y="1068388"/>
            <a:ext cx="4850010" cy="4572472"/>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101"/>
          <p:cNvSpPr txBox="1"/>
          <p:nvPr/>
        </p:nvSpPr>
        <p:spPr>
          <a:xfrm>
            <a:off x="68236" y="43974"/>
            <a:ext cx="11123505" cy="660699"/>
          </a:xfrm>
          <a:prstGeom prst="rect">
            <a:avLst/>
          </a:prstGeom>
          <a:noFill/>
          <a:ln cap="flat" cmpd="sng" w="25400">
            <a:solidFill>
              <a:srgbClr val="860000"/>
            </a:solidFill>
            <a:prstDash val="solid"/>
            <a:round/>
            <a:headEnd len="sm" w="sm" type="none"/>
            <a:tailEnd len="sm" w="sm" type="none"/>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rgbClr val="000000"/>
              </a:buClr>
              <a:buSzPct val="100000"/>
              <a:buFont typeface="Arial"/>
              <a:buNone/>
            </a:pPr>
            <a:r>
              <a:rPr b="1" i="0" lang="en-US" sz="3600" u="none" cap="none" strike="noStrike">
                <a:solidFill>
                  <a:srgbClr val="600000"/>
                </a:solidFill>
                <a:latin typeface="Times New Roman"/>
                <a:ea typeface="Times New Roman"/>
                <a:cs typeface="Times New Roman"/>
                <a:sym typeface="Times New Roman"/>
              </a:rPr>
              <a:t>CSS Based CHESS Board &amp; VIBGYOR</a:t>
            </a:r>
            <a:endParaRPr b="1" i="0" sz="3600" u="none" cap="none" strike="noStrike">
              <a:solidFill>
                <a:srgbClr val="860000"/>
              </a:solidFill>
              <a:latin typeface="Marcellus"/>
              <a:ea typeface="Marcellus"/>
              <a:cs typeface="Marcellus"/>
              <a:sym typeface="Marcellus"/>
            </a:endParaRPr>
          </a:p>
        </p:txBody>
      </p:sp>
      <p:sp>
        <p:nvSpPr>
          <p:cNvPr id="1095" name="Google Shape;1095;p101"/>
          <p:cNvSpPr txBox="1"/>
          <p:nvPr/>
        </p:nvSpPr>
        <p:spPr>
          <a:xfrm>
            <a:off x="68236" y="658969"/>
            <a:ext cx="12012000" cy="5466600"/>
          </a:xfrm>
          <a:prstGeom prst="rect">
            <a:avLst/>
          </a:prstGeom>
          <a:noFill/>
          <a:ln cap="flat" cmpd="sng" w="25400">
            <a:solidFill>
              <a:srgbClr val="860000"/>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descr="C:\Users\GANGA\Desktop\download.jpg" id="1096" name="Google Shape;1096;p101"/>
          <p:cNvPicPr preferRelativeResize="0"/>
          <p:nvPr/>
        </p:nvPicPr>
        <p:blipFill rotWithShape="1">
          <a:blip r:embed="rId3">
            <a:alphaModFix/>
          </a:blip>
          <a:srcRect b="0" l="0" r="0" t="0"/>
          <a:stretch/>
        </p:blipFill>
        <p:spPr>
          <a:xfrm>
            <a:off x="11333408" y="68781"/>
            <a:ext cx="746975" cy="660699"/>
          </a:xfrm>
          <a:prstGeom prst="rect">
            <a:avLst/>
          </a:prstGeom>
          <a:noFill/>
          <a:ln cap="flat" cmpd="sng" w="9525">
            <a:solidFill>
              <a:srgbClr val="860000"/>
            </a:solidFill>
            <a:prstDash val="solid"/>
            <a:round/>
            <a:headEnd len="sm" w="sm" type="none"/>
            <a:tailEnd len="sm" w="sm" type="none"/>
          </a:ln>
        </p:spPr>
      </p:pic>
      <p:sp>
        <p:nvSpPr>
          <p:cNvPr id="1097" name="Google Shape;1097;p101"/>
          <p:cNvSpPr/>
          <p:nvPr/>
        </p:nvSpPr>
        <p:spPr>
          <a:xfrm>
            <a:off x="0" y="6564573"/>
            <a:ext cx="12192000" cy="293427"/>
          </a:xfrm>
          <a:prstGeom prst="rect">
            <a:avLst/>
          </a:prstGeom>
          <a:solidFill>
            <a:srgbClr val="071D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98" name="Google Shape;1098;p101"/>
          <p:cNvSpPr/>
          <p:nvPr/>
        </p:nvSpPr>
        <p:spPr>
          <a:xfrm>
            <a:off x="1" y="6359859"/>
            <a:ext cx="10276764" cy="193350"/>
          </a:xfrm>
          <a:prstGeom prst="rect">
            <a:avLst/>
          </a:prstGeom>
          <a:solidFill>
            <a:srgbClr val="860000"/>
          </a:solidFill>
          <a:ln cap="flat" cmpd="sng" w="12700">
            <a:solidFill>
              <a:srgbClr val="86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099" name="Google Shape;1099;p101"/>
          <p:cNvPicPr preferRelativeResize="0"/>
          <p:nvPr/>
        </p:nvPicPr>
        <p:blipFill rotWithShape="1">
          <a:blip r:embed="rId4">
            <a:alphaModFix/>
          </a:blip>
          <a:srcRect b="0" l="0" r="0" t="0"/>
          <a:stretch/>
        </p:blipFill>
        <p:spPr>
          <a:xfrm>
            <a:off x="437732" y="1304913"/>
            <a:ext cx="4229100" cy="4248150"/>
          </a:xfrm>
          <a:prstGeom prst="rect">
            <a:avLst/>
          </a:prstGeom>
          <a:noFill/>
          <a:ln>
            <a:noFill/>
          </a:ln>
        </p:spPr>
      </p:pic>
      <p:pic>
        <p:nvPicPr>
          <p:cNvPr id="1100" name="Google Shape;1100;p101"/>
          <p:cNvPicPr preferRelativeResize="0"/>
          <p:nvPr/>
        </p:nvPicPr>
        <p:blipFill rotWithShape="1">
          <a:blip r:embed="rId5">
            <a:alphaModFix/>
          </a:blip>
          <a:srcRect b="0" l="0" r="0" t="0"/>
          <a:stretch/>
        </p:blipFill>
        <p:spPr>
          <a:xfrm>
            <a:off x="4738255" y="1402773"/>
            <a:ext cx="7013863" cy="4163615"/>
          </a:xfrm>
          <a:prstGeom prst="rect">
            <a:avLst/>
          </a:prstGeom>
          <a:noFill/>
          <a:ln>
            <a:noFill/>
          </a:ln>
        </p:spPr>
      </p:pic>
      <p:sp>
        <p:nvSpPr>
          <p:cNvPr id="1101" name="Google Shape;1101;p101"/>
          <p:cNvSpPr txBox="1"/>
          <p:nvPr/>
        </p:nvSpPr>
        <p:spPr>
          <a:xfrm>
            <a:off x="1246475" y="272275"/>
            <a:ext cx="1371600" cy="45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sng" cap="none" strike="noStrike">
                <a:solidFill>
                  <a:schemeClr val="hlink"/>
                </a:solidFill>
                <a:latin typeface="Arial"/>
                <a:ea typeface="Arial"/>
                <a:cs typeface="Arial"/>
                <a:sym typeface="Arial"/>
                <a:hlinkClick r:id="rId6"/>
              </a:rPr>
              <a:t>https://docs.google.com/presentation/d/1shvgm6WNHKDxSu6zxGrOaCt-4k70OuBa/edit#slide=id.p2</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2020-04-30T07:52:47Z</dcterms:created>
  <dc:creator>Aditi  Rajani</dc:creator>
</cp:coreProperties>
</file>