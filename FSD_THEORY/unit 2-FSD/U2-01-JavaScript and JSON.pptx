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y="6858000" cx="12192000"/>
  <p:notesSz cx="6858000" cy="9144000"/>
  <p:embeddedFontLst>
    <p:embeddedFont>
      <p:font typeface="Marcellus"/>
      <p:regular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83" roundtripDataSignature="AMtx7mhhqDmsnw1S9qmVNv0ShCvPJx4L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52BCB4-A0A4-4332-B7D7-89321C8C50D4}">
  <a:tblStyle styleId="{A352BCB4-A0A4-4332-B7D7-89321C8C50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FEB"/>
          </a:solidFill>
        </a:fill>
      </a:tcStyle>
    </a:wholeTbl>
    <a:band1H>
      <a:tcTxStyle b="off" i="off"/>
      <a:tcStyle>
        <a:fill>
          <a:solidFill>
            <a:srgbClr val="CBDD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DD5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04DDD17-1BE3-46BE-B0B6-3BBA9919948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customschemas.google.com/relationships/presentationmetadata" Target="meta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font" Target="fonts/Marcellus-regular.fntdata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7" name="Google Shape;617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6" name="Google Shape;62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4" name="Google Shape;67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4" name="Google Shape;684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4" name="Google Shape;69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4" name="Google Shape;71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4" name="Google Shape;734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5" name="Google Shape;75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5" name="Google Shape;785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4" name="Google Shape;804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about:blank" TargetMode="External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3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Relationship Id="rId4" Type="http://schemas.openxmlformats.org/officeDocument/2006/relationships/image" Target="../media/image3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Relationship Id="rId4" Type="http://schemas.openxmlformats.org/officeDocument/2006/relationships/image" Target="../media/image3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Relationship Id="rId4" Type="http://schemas.openxmlformats.org/officeDocument/2006/relationships/image" Target="../media/image3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Relationship Id="rId4" Type="http://schemas.openxmlformats.org/officeDocument/2006/relationships/image" Target="../media/image4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GANGA\Desktop\download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55391" y="-10"/>
            <a:ext cx="11136600" cy="65811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–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(JS)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8293" y="4297891"/>
            <a:ext cx="1735428" cy="1735428"/>
          </a:xfrm>
          <a:prstGeom prst="rect">
            <a:avLst/>
          </a:prstGeom>
          <a:noFill/>
          <a:ln cap="flat" cmpd="sng" w="63500">
            <a:solidFill>
              <a:srgbClr val="6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Marcellus"/>
              <a:buNone/>
            </a:pPr>
            <a:r>
              <a:rPr b="1" lang="en-US" sz="3600">
                <a:solidFill>
                  <a:srgbClr val="860000"/>
                </a:solidFill>
                <a:latin typeface="Marcellus"/>
                <a:ea typeface="Marcellus"/>
                <a:cs typeface="Marcellus"/>
                <a:sym typeface="Marcellus"/>
              </a:rPr>
              <a:t>JavaScript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32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shortened to JS</a:t>
            </a: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lightweight, 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interpreted, 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ctr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language.</a:t>
            </a:r>
            <a:endParaRPr b="1" i="0" sz="32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JavaScript, which was originally developed at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Netscape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Brendan Eich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was initially named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Mocha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soon after was renamed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LiveScript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late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1995 LiveScript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became a joint venture of Netscape and Sun Microsystems, and its name again was changed, this time to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standard for JavaScript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developed in the late 1990s by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European Computer Manufacturers Association (ECMA)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ECMA-262.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ECMA-262 standard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now in version 12.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 Vs. JScript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is a scripting language whose trademark is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Oracle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also a scripting language but owned by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need to handle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browser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compatibility by writing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JScript: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only support Microsoft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Explorer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4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Single-line Comment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It is single line comment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document.write("Hello Javascript");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Multi-line Comment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It is multi line comment. It will not be displayed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document.write("Javascript multiline comment");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5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JavaScript?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one of the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languages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all web developers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learn: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1.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define the content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2.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specify the layout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3.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program the behavior of web pages.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type is a basic type of data that can be used in a program. 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there is no need to specify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variable 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 is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dynamically used by JavaScript Engine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3839" y="3118230"/>
            <a:ext cx="8453501" cy="291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" name="Google Shape;154;p8"/>
          <p:cNvGraphicFramePr/>
          <p:nvPr/>
        </p:nvGraphicFramePr>
        <p:xfrm>
          <a:off x="1249250" y="1029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3348500"/>
                <a:gridCol w="3348500"/>
                <a:gridCol w="3348500"/>
              </a:tblGrid>
              <a:tr h="56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Types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68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String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Represents Textual Data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'hello', "hello world!" etc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Integer or a Floating-Point Number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 3.234, 3e-2 etc.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71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True or False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and false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undefined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Data type whose variable is not initialized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a;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5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Denotes a Null Value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a = null;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  <a:tr h="8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Key-Value Pairs of Data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228600" marL="22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student = { };</a:t>
                      </a:r>
                      <a:endParaRPr sz="1400" u="none" cap="none" strike="noStrike"/>
                    </a:p>
                  </a:txBody>
                  <a:tcPr marT="114300" marB="114300" marR="228600" marL="2286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length = 16;                  				 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lastName = "Johnson";  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 {firstName:"John", lastName:"Doe"};    		 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dataChecked = true;	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//Boolean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name;		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//undefined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 = null;	</a:t>
            </a: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 = { firstName: 'John', lastName: 'Doe' };	 </a:t>
            </a:r>
            <a:r>
              <a:rPr b="1" i="0" lang="en-US" sz="22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4966" y="56868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63772" y="1017733"/>
            <a:ext cx="11122800" cy="50739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evaluates expressions from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to right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sequences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produce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16 + "Volvo";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16Volvo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16 + 4 + "Volvo";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20Volvo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 x = "Volvo" + 16 + 4;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Volvo164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number1 = 3/0;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+Infinity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number2 = -3/0;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-Infinity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 rot="-5400000">
            <a:off x="5022461" y="1677996"/>
            <a:ext cx="2571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 rot="-5400000">
            <a:off x="4975961" y="2440025"/>
            <a:ext cx="3501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 rot="-5400000">
            <a:off x="5128351" y="3235362"/>
            <a:ext cx="3237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 rot="-5400000">
            <a:off x="4982136" y="3913823"/>
            <a:ext cx="3378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 rot="-5400000">
            <a:off x="5015433" y="4566049"/>
            <a:ext cx="271200" cy="2642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60000"/>
          </a:solidFill>
          <a:ln cap="flat" cmpd="sng" w="12700">
            <a:solidFill>
              <a:srgbClr val="0033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Data Types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the type of a variable, you can use the </a:t>
            </a: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operator.</a:t>
            </a:r>
            <a:endParaRPr b="1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11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36" y="1478526"/>
            <a:ext cx="11168063" cy="448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68236" y="43974"/>
            <a:ext cx="111234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programming, type conversion is the process of converting data of one type to another. For example: converting String data to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types of type conversion in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- automatic type conversion.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Conversion - manual type conversion.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12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389600" y="6324675"/>
            <a:ext cx="11368200" cy="19320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1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automatically converts one data type to another (to the right type). This is known as implicit conversion.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to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972" y="3097369"/>
            <a:ext cx="8529978" cy="343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Conversion to Number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1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155" y="1090612"/>
            <a:ext cx="10786033" cy="5419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Non-numeric String Results to NaN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26" name="Google Shape;2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24" y="1176336"/>
            <a:ext cx="10321957" cy="528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Boolean Conversion to Number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16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751" y="1068695"/>
            <a:ext cx="10917212" cy="491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Conversion to Number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45" name="Google Shape;2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1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6" y="1214343"/>
            <a:ext cx="10948594" cy="455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Undefined used with Number, Boolean or Null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1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11" y="991275"/>
            <a:ext cx="11679456" cy="513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>
            <p:ph type="title"/>
          </p:nvPr>
        </p:nvSpPr>
        <p:spPr>
          <a:xfrm>
            <a:off x="742666" y="357116"/>
            <a:ext cx="111336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Explicit Conversion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5" name="Google Shape;265;p1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155" y="981754"/>
            <a:ext cx="6642657" cy="543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0537" y="1620993"/>
            <a:ext cx="3590475" cy="3608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to String/Boolean  Explicitly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275" name="Google Shape;2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2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682" y="1085849"/>
            <a:ext cx="4568893" cy="54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 rotWithShape="1">
          <a:blip r:embed="rId5">
            <a:alphaModFix/>
          </a:blip>
          <a:srcRect b="1409" l="0" r="0" t="-1410"/>
          <a:stretch/>
        </p:blipFill>
        <p:spPr>
          <a:xfrm>
            <a:off x="6130403" y="1009649"/>
            <a:ext cx="4807993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Type Conversion Table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800" y="1314892"/>
            <a:ext cx="9895844" cy="4971608"/>
          </a:xfrm>
          <a:prstGeom prst="rect">
            <a:avLst/>
          </a:prstGeom>
          <a:noFill/>
          <a:ln cap="flat" cmpd="sng" w="3810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HTML element,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HTML output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document.write()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alert box,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window.alert()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browser console, using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console.log().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298" name="Google Shape;2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9" name="Google Shape;299;p22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/>
        </p:nvSpPr>
        <p:spPr>
          <a:xfrm>
            <a:off x="150121" y="279741"/>
            <a:ext cx="117780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&lt;h2&gt;My First Web Page&lt;/h2&gt;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document.getElementById("demo").innerHTML = 5 + 6;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07" name="Google Shape;3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23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5262" y="1718896"/>
            <a:ext cx="4819284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-160364" y="811369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&lt;h2&gt;My First Web Page&lt;/h2&gt;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document.write(5 + 6);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24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8769" y="3866052"/>
            <a:ext cx="518160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2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&lt;h1&gt;My First Web Page&lt;/h1&gt;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&lt;p&gt;My first paragraph.&lt;/p&gt;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window.alert(5 + 6);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" name="Google Shape;3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6805" y="3611075"/>
            <a:ext cx="47529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Display Possibilities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336" name="Google Shape;3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7" name="Google Shape;337;p2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&lt;body&gt;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console.log(5 + 6);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7275" y="3159002"/>
            <a:ext cx="5172075" cy="20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7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of window object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49" name="Google Shape;3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350" name="Google Shape;350;p27"/>
          <p:cNvGraphicFramePr/>
          <p:nvPr/>
        </p:nvGraphicFramePr>
        <p:xfrm>
          <a:off x="396765" y="1104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{E04DDD17-1BE3-46BE-B0B6-3BBA99199488}</a:tableStyleId>
              </a:tblPr>
              <a:tblGrid>
                <a:gridCol w="1757850"/>
                <a:gridCol w="8544900"/>
              </a:tblGrid>
              <a:tr h="53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400" u="none" cap="none" strike="noStrike"/>
                    </a:p>
                  </a:txBody>
                  <a:tcPr marT="92000" marB="92000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92000" marB="92000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1D01"/>
                    </a:solidFill>
                  </a:tcPr>
                </a:tc>
              </a:tr>
              <a:tr h="89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alert()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the alert box containing message with ok button.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0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confirm()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the confirm dialog box containing message with ok and cancel button.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Displays a dialog box to get input from the user.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Opens the new window.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Closes the current window.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14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setTimeout()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action after specified time like calling function, evaluating expressions etc.</a:t>
                      </a:r>
                      <a:endParaRPr sz="1400" u="none" cap="none" strike="noStrike"/>
                    </a:p>
                  </a:txBody>
                  <a:tcPr marT="61325" marB="61325" marR="61325" marL="6132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</a:t>
            </a:r>
            <a:endParaRPr b="0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8"/>
          <p:cNvSpPr txBox="1"/>
          <p:nvPr/>
        </p:nvSpPr>
        <p:spPr>
          <a:xfrm>
            <a:off x="163775" y="1017725"/>
            <a:ext cx="11122800" cy="50739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code assigns a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value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to a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named car: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 = "Fiat";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are variables too. But objects can contain many values.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113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are containers for </a:t>
            </a: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values </a:t>
            </a: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properties or methods.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 = {type:"Fiat", model:"500", color:"white"};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var person = {firstName:"John", lastName:"Doe", age:50}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7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9" name="Google Shape;359;p28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Arrays</a:t>
            </a:r>
            <a:endParaRPr b="0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special variable, which can hold more than one value at a time.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arrays are used to store multiple values in a single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an Array</a:t>
            </a:r>
            <a:endParaRPr b="0" i="0" sz="24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array_name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= [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item1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item2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...];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var </a:t>
            </a:r>
            <a:r>
              <a:rPr b="1" i="1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array_name</a:t>
            </a: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 new Array(“item1”, ”item2”, ”item3");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cars = ["Saab", "Volvo", "BMW"];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 cars = new Array("Saab", "Volvo", "BMW");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indexes start with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 is the first element. [1] is the second element.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68" name="Google Shape;3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9" name="Google Shape;369;p2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0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a format for storing and transporting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often used when data is sent from a server to a web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stands for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Object Notation.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lightweight data interchange format.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language independent.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"self-describing" and easy to understand.</a:t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78" name="Google Shape;3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9" name="Google Shape;379;p3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578" y="3732457"/>
            <a:ext cx="9900744" cy="211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1333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way to represent objects 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two structures: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Collections of name-value pairs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Arrays of values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333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reason to use JSON instead of XML is to eliminate the complexity of parsing. </a:t>
            </a:r>
            <a:endParaRPr b="0" i="0" sz="2800" u="none" cap="none" strike="noStrike">
              <a:solidFill>
                <a:srgbClr val="14510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333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easy for people to read and write, and it is easy for machines to parse and generate.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333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is a way to represent JavaScript objects as strings.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389" name="Google Shape;3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0" name="Google Shape;390;p3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397" name="Google Shape;3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8" name="Google Shape;398;p3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 function is a block of JavaScript code, that can be executed when "called" for.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a function can be called when an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occurs, like when the user clicks a button.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Developers can use these events to execute JavaScript coded responses, which cause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buttons to close windows, messages to be displayed to users, data to be validated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virtually any other type of response imaginable.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SYNTAX RULES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in name/value pairs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separated by commas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Curly braces hold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brackets hold arrays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"employees":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[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{"firstName":"John", "lastName":"Doe"}, 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{"firstName":"Anna", "lastName":"Smith"},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		{"firstName":"Peter", "lastName":"Jones"}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]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07" name="Google Shape;4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8" name="Google Shape;408;p32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/>
          <p:nvPr>
            <p:ph type="title"/>
          </p:nvPr>
        </p:nvSpPr>
        <p:spPr>
          <a:xfrm>
            <a:off x="818866" y="204716"/>
            <a:ext cx="11133600" cy="660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JSON.stringify()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15" name="Google Shape;4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6" name="Google Shape;416;p3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&lt;h2&gt;Create JSON string from a JavaScript object.&lt;/h2&gt;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var obj = { name: "John", age: 30, city: "New York"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myJSON = JSON.stringify(obj);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document.getElementById("demo").innerHTML = myJSON;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7951" y="5029200"/>
            <a:ext cx="52006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Parse the data From SERVER</a:t>
            </a:r>
            <a:endParaRPr b="1" sz="36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25" name="Google Shape;4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3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&lt;h2&gt;Create Object from JSON String&lt;/h2&gt;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txt = '{"name":"John", "age":30, "city":"New York"}'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var obj = </a:t>
            </a:r>
            <a:r>
              <a:rPr b="1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JSON.parse(txt);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6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document.getElementById("demo").innerHTML = obj.name + ", " + obj.age;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9" name="Google Shape;4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5" y="5267324"/>
            <a:ext cx="39243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 Data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&lt;h2&gt;Store and retreive data from local storage.&lt;/h2&gt;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var myObj, myJSON, text, obj;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//Storing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myObj = { "name":"John", "age":31, "city":"New York"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myJSON = JSON.stringify(myObj);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localStorage.setItem("testJSON", myJSON);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//Retrieving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text = localStorage.getItem("testJSON");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obj = JSON.parse(text);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document.getElementById("demo").innerHTML = obj.name;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38" name="Google Shape;43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9" name="Google Shape;43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6846" y="5439508"/>
            <a:ext cx="41148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between JSON and XML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47" name="Google Shape;4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8" name="Google Shape;448;p3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0" name="Google Shape;450;p37"/>
          <p:cNvGraphicFramePr/>
          <p:nvPr/>
        </p:nvGraphicFramePr>
        <p:xfrm>
          <a:off x="533400" y="983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{E04DDD17-1BE3-46BE-B0B6-3BBA99199488}</a:tableStyleId>
              </a:tblPr>
              <a:tblGrid>
                <a:gridCol w="5152700"/>
                <a:gridCol w="5318225"/>
              </a:tblGrid>
              <a:tr h="76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00"/>
                    </a:solidFill>
                  </a:tcPr>
                </a:tc>
              </a:tr>
              <a:tr h="106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stands for </a:t>
                      </a: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Object Notation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stands for </a:t>
                      </a: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eXtensible Markup Language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data-oriented.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document-oriented.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doesn't use end tag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have end tag.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is shorter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larger than JSON.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is quicker to read and write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is not.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JSON can use arrays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71D0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XML do not have an array.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i="0" sz="3600" u="none" cap="none" strike="noStrike">
              <a:solidFill>
                <a:srgbClr val="6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99922" y="966657"/>
            <a:ext cx="10781700" cy="56793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 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function myFunction()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{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 document.getElementById("demo").innerHTML = "Paragraph changed.";</a:t>
            </a:r>
            <a:b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			 }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&lt;h1&gt;A Web Page&lt;/h1&gt;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 id="demo"&gt;A Paragraph&lt;/p&gt;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 type="button" onclick="myFunction()"&gt;Try it&lt;/button&gt;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59" name="Google Shape;4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0" name="Google Shape;46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000" y="4941935"/>
            <a:ext cx="6196500" cy="1528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9500" y="1717700"/>
            <a:ext cx="4644001" cy="15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Functions and Events</a:t>
            </a:r>
            <a:endParaRPr b="1" i="0" sz="3600" u="none" cap="none" strike="noStrike">
              <a:solidFill>
                <a:srgbClr val="6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67" name="Google Shape;467;p40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change in the state of an object is known as an 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Mouse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Window/Document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469" name="Google Shape;4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0" name="Google Shape;470;p40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Mouse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478" name="Google Shape;4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9" name="Google Shape;479;p4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1" name="Google Shape;481;p41"/>
          <p:cNvGraphicFramePr/>
          <p:nvPr/>
        </p:nvGraphicFramePr>
        <p:xfrm>
          <a:off x="380999" y="9579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2786750"/>
                <a:gridCol w="2721425"/>
                <a:gridCol w="5595250"/>
              </a:tblGrid>
              <a:tr h="48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click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onclick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mouse click on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mouseover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onmouseover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cursor of the mouse comes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mouseout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onmouseout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cursor of the mouse leaves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mousedown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onmousedown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button is pressed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8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onmouseup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button is released over the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mousemove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onmousemove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mouse movement takes place.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Keyboard/Form events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87" name="Google Shape;4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8" name="Google Shape;488;p4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1" name="Google Shape;491;p42"/>
          <p:cNvGraphicFramePr/>
          <p:nvPr/>
        </p:nvGraphicFramePr>
        <p:xfrm>
          <a:off x="1055914" y="10559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2636475"/>
                <a:gridCol w="2574675"/>
                <a:gridCol w="5293550"/>
              </a:tblGrid>
              <a:tr h="48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76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Keydown &amp; Keyup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onkeydown &amp; onkeyup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press and then release the key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  <p:graphicFrame>
        <p:nvGraphicFramePr>
          <p:cNvPr id="492" name="Google Shape;492;p42"/>
          <p:cNvGraphicFramePr/>
          <p:nvPr/>
        </p:nvGraphicFramePr>
        <p:xfrm>
          <a:off x="1012387" y="26211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2362175"/>
                <a:gridCol w="2198925"/>
                <a:gridCol w="5954500"/>
              </a:tblGrid>
              <a:tr h="4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629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onfocus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focuses on an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submit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onsubmit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submits the form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blur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onblur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focus is away from a form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749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onchange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user modifies or changes the value of a form element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Window/Document Events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498" name="Google Shape;4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9" name="Google Shape;499;p4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2" name="Google Shape;502;p43"/>
          <p:cNvGraphicFramePr/>
          <p:nvPr/>
        </p:nvGraphicFramePr>
        <p:xfrm>
          <a:off x="1066819" y="11297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2188400"/>
                <a:gridCol w="1871100"/>
                <a:gridCol w="6510525"/>
              </a:tblGrid>
              <a:tr h="74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Performed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Handler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114300" marB="114300" marR="114300" marL="114300">
                    <a:solidFill>
                      <a:srgbClr val="145103"/>
                    </a:solidFill>
                  </a:tcPr>
                </a:tc>
              </a:tr>
              <a:tr h="934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1800" u="none" cap="none" strike="noStrike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browser finishes the loading of the page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onunload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visitor leaves the current webpage, the browser unloads it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resize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onresize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visitor resizes the window of the browser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  <a:tr h="111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1800" u="none" cap="none" strike="noStrike">
                        <a:solidFill>
                          <a:srgbClr val="6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6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When the browser finishes the loading of the page</a:t>
                      </a:r>
                      <a:endParaRPr sz="1400" u="none" cap="none" strike="noStrike"/>
                    </a:p>
                  </a:txBody>
                  <a:tcPr marT="76200" marB="7620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Events and Objects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12" name="Google Shape;512;p44"/>
          <p:cNvGraphicFramePr/>
          <p:nvPr/>
        </p:nvGraphicFramePr>
        <p:xfrm>
          <a:off x="391885" y="1136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{E04DDD17-1BE3-46BE-B0B6-3BBA99199488}</a:tableStyleId>
              </a:tblPr>
              <a:tblGrid>
                <a:gridCol w="3583225"/>
                <a:gridCol w="6507850"/>
              </a:tblGrid>
              <a:tr h="79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sz="1400" u="none" cap="none" strike="noStrike"/>
                    </a:p>
                  </a:txBody>
                  <a:tcPr marT="114300" marB="1143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1D01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onLoad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Body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onUnload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Body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onMouseOver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Link, Button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onMouseOut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Link, Button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7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onSubmit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4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onClick</a:t>
                      </a:r>
                      <a:endParaRPr b="1"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Button, Checkbox, Submit, Reset, Link</a:t>
                      </a:r>
                      <a:endParaRPr sz="1400" u="none" cap="none" strike="noStrike"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Click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&lt;head&gt;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 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language="Javascript" type="text/Javascript"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clickevent()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	 document.write(“CBIT");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} 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//--</a:t>
            </a: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&lt;form&gt;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type="button" onclick="clickevent()" value="Who's this?"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/&gt;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&lt;/form&gt;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4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20" name="Google Shape;5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1" name="Google Shape;521;p4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500" y="3024200"/>
            <a:ext cx="5696999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Mouse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&lt;h1&gt;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&lt;/h1&gt;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language="Javascript" type="text/Javascript"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mouseoverevent()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		  alert(“CBIT");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 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 onmouseover="mouseoverevent()"&gt; Keep cursor over me&lt;/p&gt;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30" name="Google Shape;53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1" name="Google Shape;531;p4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000" y="3058875"/>
            <a:ext cx="54676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Focus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Enter something here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 type="text" id="input1" onfocus="focusevent()"/&gt;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	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 focusevent()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		  document.getElementById("input1").style.background=" CBIT";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	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40" name="Google Shape;5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1" name="Google Shape;541;p4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000" y="4671000"/>
            <a:ext cx="6817499" cy="16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8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Keydown Event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549" name="Google Shape;5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0" name="Google Shape;550;p4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Enter something here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&lt;/h2&gt;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 type="text" id="input1" onkeydown="keydownevent()"/&gt;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function keydownevent()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{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document.getElementById("input1");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alert("Pressed a key");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	}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//--&gt;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&lt;/script&gt;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3" name="Google Shape;55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000" y="3658500"/>
            <a:ext cx="7249500" cy="29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Load Event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0" name="Google Shape;560;p4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Events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&lt;/br&gt;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onload="window.alert('Page successfully loaded');"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&lt;!--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document.write("The page is loaded successfully");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//--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3" name="Google Shape;5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1000" y="2727000"/>
            <a:ext cx="6345001" cy="28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3063" y="5338300"/>
            <a:ext cx="87534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4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strings are for storing and manipulating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&lt;h2&gt;JavaScript Strings&lt;/h2&gt;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&lt;p id="demo"&gt;&lt;/p&gt;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let text = "John Doe";  </a:t>
            </a:r>
            <a:r>
              <a:rPr b="1" i="0" lang="en-US" sz="4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String written inside quotes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document.getElementById("demo").innerHTML = text;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73" name="Google Shape;5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4" name="Google Shape;57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497" y="2075450"/>
            <a:ext cx="6765974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5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582" name="Google Shape;5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3" name="Google Shape;583;p5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5" name="Google Shape;585;p51"/>
          <p:cNvGraphicFramePr/>
          <p:nvPr/>
        </p:nvGraphicFramePr>
        <p:xfrm>
          <a:off x="367862" y="1153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{A352BCB4-A0A4-4332-B7D7-89321C8C50D4}</a:tableStyleId>
              </a:tblPr>
              <a:tblGrid>
                <a:gridCol w="3875000"/>
                <a:gridCol w="6761475"/>
              </a:tblGrid>
              <a:tr h="32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400" u="none" cap="none" strike="noStrike"/>
                    </a:p>
                  </a:txBody>
                  <a:tcPr marT="70925" marB="70925" marR="141850" marL="141850" anchor="ctr"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70925" marB="70925" marR="141850" marL="141850" anchor="ctr">
                    <a:solidFill>
                      <a:srgbClr val="051D17"/>
                    </a:solidFill>
                  </a:tcPr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charAt(index)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character at the specified index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concat()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joins two or more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replace()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replaces a string with another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split()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converts the string to an array of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substr(start, length)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substring(start,end)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slice(start, end)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a part of a string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toLowerCase()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passed string in lower case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toUpperCase()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returns the passed string in upper case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trim()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removes whitespace from the strings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includes()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searches for a string and returns a boolean value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search()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searches for a string and returns a position of a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0925" marB="70925" marR="141850" marL="1418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 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text1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'hello';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text2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'world';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text3 =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     JavaScript    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console.log(text1.concat(' ', text2)); 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"hello world"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console.log(text1.toUpperCase()); 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console.log(text3.trim());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JavaScript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console.log(text1.split());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["hello"]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console.log(text1.slice(1, 3)); 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"el"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console.log(text3.search("Script")); 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console.log(text1.charAt("2"));   		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console.log(text1.substr(0,3));     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//hel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console.log(text1.substring(0,4)); 		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//hell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592" name="Google Shape;5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3" name="Google Shape;593;p5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5" name="Google Shape;5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975" y="942975"/>
            <a:ext cx="48835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3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Date and Time</a:t>
            </a:r>
            <a:endParaRPr b="1" i="0" sz="36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53"/>
          <p:cNvSpPr txBox="1"/>
          <p:nvPr/>
        </p:nvSpPr>
        <p:spPr>
          <a:xfrm>
            <a:off x="68236" y="582769"/>
            <a:ext cx="12012000" cy="54666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1D17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and time are represented by the Date object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51D17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Date object provides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and time information 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also provides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methods</a:t>
            </a: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Date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Date(milliseconds)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Date(Date string)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Date(year, month, day, hours, minutes, seconds, milliseconds)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02" name="Google Shape;60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3" name="Google Shape;603;p53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3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 Date and Time</a:t>
            </a:r>
            <a:endParaRPr b="1" sz="36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10" name="Google Shape;61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1" name="Google Shape;611;p5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4"/>
          <p:cNvSpPr txBox="1"/>
          <p:nvPr/>
        </p:nvSpPr>
        <p:spPr>
          <a:xfrm>
            <a:off x="817391" y="8654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timeNow = new Date();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console.log(timeNow); 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shows current date and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time1 = new Date(0);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console.log(time1);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Thu Jan 01 1970 05:30:00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time2 = new Date(100000000000)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console.log(time2);     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Sat Mar 03 1973 15:16:40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date1 = new Date("2020-07-01");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console.log(date1);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Wed Jul 01 2020 05:45:00 GMT+0545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date2 = new Date("2020-07-01T12:00:00Z");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console.log(date2);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Wed Jul 01 2020 17:45:00 GMT+0545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time3 = new Date(2020, 1, 20, 4, 12, 11,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console.log(time3); 						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Thu Feb 20 2020 04:12:11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" name="Google Shape;6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1700" y="1553325"/>
            <a:ext cx="5486399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200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20" name="Google Shape;62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1" name="Google Shape;621;p5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JavaScript is widely used in Web Development and some of the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mechanisms supported by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certain features or mechanisms which makes a Language Object-Oriented like: 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5" marL="2800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29" name="Google Shape;629;p5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arrays we can store a group of individual objects and it is not possible to store key-value pairs.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we want to represent a group of key-value pairs then we should go for Objects.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Array: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group of individual objects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Object: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group of key-value pairs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objects store information in the form of key-value pairs.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Object is an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a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5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32" name="Google Shape;6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38" name="Google Shape;638;p5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empty object: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 var nums={}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OR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nums=new Object()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1st Way: 							2nd Way: </a:t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nums["fno"]=100 				nums.fno=100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nums["sno"]=200 				nums.sno=200</a:t>
            </a:r>
            <a:r>
              <a:rPr b="1" i="0" lang="en-US" sz="2800" u="none" cap="none" strike="noStrike">
                <a:solidFill>
                  <a:srgbClr val="071D0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variableName={ key1:value1,key2:value2,...}; </a:t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college={ name:‘CBIT', year: 1979, Dept:‘IT' }; </a:t>
            </a:r>
            <a:endParaRPr b="0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40" name="Google Shape;6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5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8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48" name="Google Shape;648;p58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var College=[“CBIT",“MGIT",“VCE",“VNRVJIET"];            var college={ name:‘CBIT', year: 1979, Dept:‘IT' }; </a:t>
            </a:r>
            <a:endParaRPr b="0" i="0" sz="1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649" name="Google Shape;6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0" name="Google Shape;650;p58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662" y="204725"/>
            <a:ext cx="11284486" cy="4318000"/>
          </a:xfrm>
          <a:prstGeom prst="rect">
            <a:avLst/>
          </a:prstGeom>
          <a:noFill/>
          <a:ln cap="flat" cmpd="sng" w="47625">
            <a:solidFill>
              <a:srgbClr val="051D1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9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58" name="Google Shape;658;p59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//Defining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 = 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first_name:'CBIT',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last_name: 'MGIT',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</a:t>
            </a: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 getFunction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(`The name of the person is${person.first_name} ${person.last_name}`)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	},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//object within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		phone_number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{</a:t>
            </a:r>
            <a:endParaRPr b="0" i="0" sz="20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	 mobile:'12345',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		 landline:'6789'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		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console.log(person.getFunction());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console.log(person.phone_number.landline);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GANGA\Desktop\download.jpg" id="659" name="Google Shape;6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0" name="Google Shape;660;p59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9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813" y="3579925"/>
            <a:ext cx="53625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0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68" name="Google Shape;66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9" name="Google Shape;669;p6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Classes–: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are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blueprint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an Object.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JavaScript classes, introduced in ECMAScript 2015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Class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class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add a method named constructor():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ClassName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constructor() { ...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1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677" name="Google Shape;67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8" name="Google Shape;678;p6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Defining class using es6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Vehicle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 maker, engine)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this.maker = maker;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this.engine = engine;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getDetails()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(`The name of the bike is ${this.name}.`)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</a:t>
            </a:r>
            <a:r>
              <a:rPr b="1" i="0" lang="en-US" sz="29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Making object with the help of the constructor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bike1 = new Vehicle('CBIT', 'Suzuki', '1340cc');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let bike2 = new Vehicle('MGIT', 'Kawasaki', '998cc');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console.log(bike1.name);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console.log(bike2.maker);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console.log(bike1.getDetails());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1" name="Google Shape;68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1975" y="1338725"/>
            <a:ext cx="4991100" cy="51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2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Encapsulation: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process of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wrapping properties and functions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within a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unit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known as encapsulation. 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this.id = 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add_Address(add)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this.add = add;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getDetails()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console.log(`Name is ${this.name},Address is: ${this.add}`);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person1 = new person('CBIT',45);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person1.add_Address('Hyderabad');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person1.getDetails();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2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90" name="Google Shape;69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1" name="Google Shape;6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800" y="1717125"/>
            <a:ext cx="5431551" cy="2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3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697" name="Google Shape;697;p63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marR="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It is a concept in which some properties and methods of an Object are being used by another Object.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most of the OOP languages where 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inherit classes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JavaScript 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inherit Objects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certain features (property and methods) of one object can be reused by other Objects.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63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699" name="Google Shape;69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0" name="Google Shape;700;p63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3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4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 (OOP) in JS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07" name="Google Shape;707;p64"/>
          <p:cNvSpPr txBox="1"/>
          <p:nvPr/>
        </p:nvSpPr>
        <p:spPr>
          <a:xfrm>
            <a:off x="427622" y="988321"/>
            <a:ext cx="11764500" cy="52251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//Inheritance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this.name =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  //method to return the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toString(){       return (`Name of person: ${this.name}`); }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student extends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constructor(name,id)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//super keyword for calling the above class constructor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super(name);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this.id = 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toString()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return (`${super.toString()},Student ID: ${this.id}`);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student1 = new student('Abhilan',22);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console.log(student1.toString());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08" name="Google Shape;7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9" name="Google Shape;709;p64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" name="Google Shape;71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6613" y="2523438"/>
            <a:ext cx="51911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65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 acts as interface between JavaScript and HTML, CSS. 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will construct DOM.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HTML tags will be stored as JavaScript objects.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18" name="Google Shape;71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9" name="Google Shape;719;p65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65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1" name="Google Shape;72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784" y="3072063"/>
            <a:ext cx="11595461" cy="2310428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5"/>
          <p:cNvSpPr/>
          <p:nvPr/>
        </p:nvSpPr>
        <p:spPr>
          <a:xfrm>
            <a:off x="2249216" y="4206257"/>
            <a:ext cx="315311" cy="31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7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28" name="Google Shape;72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9" name="Google Shape;729;p67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7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7"/>
          <p:cNvSpPr txBox="1"/>
          <p:nvPr/>
        </p:nvSpPr>
        <p:spPr>
          <a:xfrm>
            <a:off x="817404" y="8654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Document to the console: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Just type on JavaScript console: document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Then we will get total HTML Page/Document.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Display DOM Objects on the Console: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console.dir(document)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Observe that Root element of DOM is document.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 Attributes: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document.URL :This is original URL of the website.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document.body :It returns everything inside body.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document.head  :It returns head of the page.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document.links  :It returns list of all links of the page.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6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37" name="Google Shape;73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8" name="Google Shape;738;p66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6"/>
          <p:cNvSpPr txBox="1"/>
          <p:nvPr/>
        </p:nvSpPr>
        <p:spPr>
          <a:xfrm>
            <a:off x="818866" y="838200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https://software.hixie.ch/utilities/js/live-dom-viewer/</a:t>
            </a:r>
            <a:endParaRPr b="1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1" name="Google Shape;74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682" y="1763780"/>
            <a:ext cx="4257675" cy="454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3394" y="1551927"/>
            <a:ext cx="5829667" cy="494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Object Model (DOM)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48" name="Google Shape;748;p68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grab HTML Elements from the DOM?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element with the specified id.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document.getElementsByClassName()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list of all elements belongs to the specified class.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document.getElementsByTagName()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list of all elements with the specified tag.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document.querySelector()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the first object matching CSS style selector.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document.querySelectorAll() </a:t>
            </a:r>
            <a:endParaRPr b="0" i="0" sz="2800" u="none" cap="none" strike="noStrik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Returns all objects Matches the CSS Style Selector. 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8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751" name="Google Shape;75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2" name="Google Shape;7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163" y="2105713"/>
            <a:ext cx="8124825" cy="57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9"/>
          <p:cNvSpPr txBox="1"/>
          <p:nvPr/>
        </p:nvSpPr>
        <p:spPr>
          <a:xfrm>
            <a:off x="163775" y="512820"/>
            <a:ext cx="11136600" cy="3525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6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a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ular 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pression (RegEx) is an object that describes a sequence of characters used for defining a search pattern.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/^a...s$/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pattern is: any five letter string starting with a and ending with 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RegEx</a:t>
            </a:r>
            <a:endParaRPr b="1" i="0" sz="28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regular expression literal: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cost regularExp = /abc/;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RegExp() constructor function: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reguarExp = new RegExp('abc');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6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760" name="Google Shape;76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1" name="Google Shape;761;p6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9"/>
          <p:cNvSpPr/>
          <p:nvPr/>
        </p:nvSpPr>
        <p:spPr>
          <a:xfrm>
            <a:off x="6421582" y="3429000"/>
            <a:ext cx="4123811" cy="523220"/>
          </a:xfrm>
          <a:prstGeom prst="rect">
            <a:avLst/>
          </a:prstGeom>
          <a:noFill/>
          <a:ln cap="flat" cmpd="sng" w="50800">
            <a:solidFill>
              <a:srgbClr val="071D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https://regex101.com/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0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70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String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JavaScript, regular expressions are often used with the two string methods: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search() and replace().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search() method uses an expression to search for a match, and returns the position of the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 search method returns the position in the String object at which the pattern matched.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match, search returns –1.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position of the first character in the string is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replace() method returns a modified string where the pattern is replaced.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70" name="Google Shape;7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1" name="Google Shape;771;p70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7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700" y="5039731"/>
            <a:ext cx="12192001" cy="334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1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71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str = "Rabbits are furry";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position = str.search(/bits/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(position &gt;=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'bits' appears in position</a:t>
            </a: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position,"&lt;br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document.write("'bits' does not appear in str &lt;br /&gt;");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sng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'bits' appears in position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GANGA\Desktop\download.jpg" id="780" name="Google Shape;78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1" name="Google Shape;781;p71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71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cap="flat" cmpd="sng" w="12700">
            <a:solidFill>
              <a:srgbClr val="86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2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88" name="Google Shape;78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9" name="Google Shape;789;p7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7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817404" y="199625"/>
            <a:ext cx="11136600" cy="5795400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&lt;h2&gt;JavaScript String Methods&lt;/h2&gt;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&lt;p&gt;Replace "Microsoft" with “Google" in the paragraph below:&lt;/p&gt;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onclick="myFunction()"&gt;Try it&lt;/button&gt;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id="demo"&gt;Please visit Microsoft!&lt;/p&gt;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text = document.getElementById("demo").innerHTML;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document.getElementById("demo").innerHTML = 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text.replace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("Microsoft",“Google");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4" marL="20574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&lt;/html&gt;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3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797" name="Google Shape;79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8" name="Google Shape;798;p7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7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1" name="Google Shape;801;p73"/>
          <p:cNvGraphicFramePr/>
          <p:nvPr/>
        </p:nvGraphicFramePr>
        <p:xfrm>
          <a:off x="990600" y="10879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{A352BCB4-A0A4-4332-B7D7-89321C8C50D4}</a:tableStyleId>
              </a:tblPr>
              <a:tblGrid>
                <a:gridCol w="2008125"/>
                <a:gridCol w="8710675"/>
              </a:tblGrid>
              <a:tr h="36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	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51D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	Description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51D17"/>
                    </a:solidFill>
                  </a:tcPr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exec()	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Executes a search for a match in a string and returns an array of information. It returns null on a mismatch.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Tests for a match in a string and returns true or false.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an array containing all the matches. It returns null on a mismatch.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matchAll()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 an iterator containing all of the matches.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Tests for a match in a string and returns the index of the match. It returns -1 if the search fails.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91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Searches for a match in a string and replaces the matched substring with a replacement substring.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3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 a string into an array of substrings.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4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807" name="Google Shape;80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8" name="Google Shape;808;p7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string = 'Find me';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pattern = /me/;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search if the pattern is in string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result1 = string.search(pattern);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console.log(result1); //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replace the character with another 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string1 = 'Find me';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string1.replace(pattern, 'found you'); // Find found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splitting strings into array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regex1 = /[\s,]+/;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result2 = 'Hello world! '.split(regex1);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console.log(result2); // ['Hello', 'world!', '']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searching the phone number pattern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regex2 = /(\d{3})\D(\d{3})-(\d{4})/g;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result3 = regex2.exec('My phone number is: 555 123-4567.');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console.log(result3); // ["555 123-4567", "555", "123", "4567"]</a:t>
            </a:r>
            <a:endParaRPr b="1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"/>
          <p:cNvSpPr txBox="1"/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sz="360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C:\Users\GANGA\Desktop\download.jpg" id="816" name="Google Shape;81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7" name="Google Shape;817;p7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7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7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400" u="none" cap="none" strike="noStrik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MetaCharacters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characters that are interpreted in a special way by a RegEx engine.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-Square brackets specify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characters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wish to match.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 period matches any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character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(except newline '\n').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^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Caret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caret symbol ^ is used to check if a string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 with a certain character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Dollar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dollar symbol $ is used to check if a string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ends with a certain character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star symbol *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or more occurrences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pattern left to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-The plus symbol +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occurrences 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pattern left to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Mark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-The question mark symbol ? matches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or one occurrence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Alternation-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Vertical bar | is used for alternation (</a:t>
            </a:r>
            <a:r>
              <a:rPr b="1" i="0" lang="en-US" sz="2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operator</a:t>
            </a:r>
            <a:r>
              <a:rPr b="0" i="0" lang="en-US" sz="2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0" i="0" sz="2800" u="none" cap="none" strike="noStrik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Regular Expressions</a:t>
            </a:r>
            <a:endParaRPr b="1" i="0" sz="3600" u="none" cap="none" strike="noStrik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cap="flat" cmpd="sng" w="25400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7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GANGA\Desktop\download.jpg" id="828" name="Google Shape;8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cap="flat" cmpd="sng" w="9525">
            <a:solidFill>
              <a:srgbClr val="86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9" name="Google Shape;829;p7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1215054"/>
            <a:ext cx="10113900" cy="3466800"/>
          </a:xfrm>
          <a:prstGeom prst="rect">
            <a:avLst/>
          </a:prstGeom>
          <a:noFill/>
          <a:ln cap="flat" cmpd="sng" w="31750">
            <a:solidFill>
              <a:srgbClr val="051D17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30" name="Google Shape;830;p76"/>
          <p:cNvSpPr/>
          <p:nvPr/>
        </p:nvSpPr>
        <p:spPr>
          <a:xfrm>
            <a:off x="616526" y="4681854"/>
            <a:ext cx="9992591" cy="1669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/\d\.\d\d/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a digit, followed by a period, // followed by two digits.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/\D\d\D/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Matches a single digit.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/\w\w\w/ </a:t>
            </a:r>
            <a:r>
              <a:rPr b="0" i="0" lang="en-US" sz="1800" u="none" cap="none" strike="noStrik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 u="none" cap="none" strike="noStrik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Matches three adjacent word characters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2020-04-30T07:52:47Z</dcterms:created>
  <dc:creator>Aditi  Rajani</dc:creator>
</cp:coreProperties>
</file>